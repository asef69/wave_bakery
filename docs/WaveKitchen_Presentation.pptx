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9449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Kazi Asef Kabir:
Assalamu alaikum. I am Kazi Asef Kabir, and with Tajrian Shams Sneha I built WaveKitchen: a cooking game in which every kitchen action is a real signal-processing operation that you can see, hear and get scored 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Kazi Asef Kabir:
In WaveKitchen every ingredient is a discrete-time signal, every station is a system that transforms it, and the finished dish is the output of the whole chain. The player's goal is to make that output match a hidden reference signal.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Kazi Asef Kabir:
A run has eight stations in order: generate, wash, mix, season, marinate, cook, then the Precision Oven and the delivery cart. The reference dish is the same chain applied to clean ingredients with the recipe's ideal parameters, so a perfect player can reproduce it exactly.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Kazi Asef Kabir:
Generation synthesizes each ingredient from its equation, for example square and triangle waves, whose Fourier series contain only odd harmonics, and samples it at 401 points over one normalized second. Washing is frequency-domain filtering: we compute the FFT, multiply it by a raised-cosine low-pass mask, and take the inverse FFT. Mixing is superposition: the ingredient signals are added and scaled by one over root 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Kazi Asef Kabir:
Seasoning is amplitude scaling and time scaling, A times x of alpha t, computed by resampling with linear interpolation. Marinating is a time shift; the server delays by fractional samples using the shift theorem, a linear phase in the FFT. Cooking is convolution: the dish is convolved with the appliance's 96-tap impulse response using the circular convolution sum. Now Tajrian will explain the finishing stations.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Tajrian Shams Sneha:
Thank you. Cooking leaves a burnt overtone between two harmonics. In the Precision Oven we find f max as the frequency holding 95 percent of the energy, and the player must sample at the Nyquist rate, two f max, or the dish aliases. A radix-2 Cooley-Tukey FFT gives the spectrum; the equaliser applies band gains, a Gaussian low-pass and a notch with 98 percent rejection; and an inverse FFT with periodic-sinc interpolation rebuilds the dish.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Tajrian Shams Sneha:
The delivery cart adds a road vibration. The cart is an IIR filter designed on the z-plane: its poles and zeros are expanded into coefficients and the difference equation runs to steady state. A notch puts zeros on the unit circle at the road frequency and poles at radius 0.85, and every pole must stay inside the circle for BIBO stability. A slow sensor aliases the frequency, so a notch aimed there misses.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Tajrian Shams Sneha:
The browser runs every station instantly, but it sends only the player's settings. The FastAPI server regenerates the ingredients from a seed, rebuilds the dish with NumPy and SciPy, and scores it, so scores cannot be faked. It runs on Vercel with a Supabase PostgreSQL database.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Tajrian Shams Sneha:
The server compares the served dish with the reference using signal-to-noise ratio in decibels, the peak of the normalized cross-correlation, and the cosine similarity of the decibel spectra, weighted 40, 35 and 25 percent. Washing quality scales that score, then a tolerance curve, the difficulty multiplier and a time bonus are applied.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Tajrian Shams Sneha:
Perfect play matches the reference on every recipe; a perfect finish scores 93 to 98 on the server, and leaving the notch off drops it to 17 to 36. The project has 295 automated tests and is live at wavekitchen dot vercel dot app. Thank you; we welcome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5.png"/><Relationship Id="rId7"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s1-wave-teal" descr="Teal waveform"/>
          <p:cNvPicPr>
            <a:picLocks noChangeAspect="1"/>
          </p:cNvPicPr>
          <p:nvPr/>
        </p:nvPicPr>
        <p:blipFill>
          <a:blip r:embed="rId4"/>
          <a:stretch>
            <a:fillRect/>
          </a:stretch>
        </p:blipFill>
        <p:spPr>
          <a:xfrm>
            <a:off x="0" y="4699000"/>
            <a:ext cx="12192000" cy="1905000"/>
          </a:xfrm>
          <a:prstGeom prst="rect">
            <a:avLst/>
          </a:prstGeom>
        </p:spPr>
      </p:pic>
      <p:pic>
        <p:nvPicPr>
          <p:cNvPr id="3" name="s1-wave-orange" descr="Orange waveform"/>
          <p:cNvPicPr>
            <a:picLocks noChangeAspect="1"/>
          </p:cNvPicPr>
          <p:nvPr/>
        </p:nvPicPr>
        <p:blipFill>
          <a:blip r:embed="rId5"/>
          <a:stretch>
            <a:fillRect/>
          </a:stretch>
        </p:blipFill>
        <p:spPr>
          <a:xfrm>
            <a:off x="0" y="4699000"/>
            <a:ext cx="12192000" cy="1905000"/>
          </a:xfrm>
          <a:prstGeom prst="rect">
            <a:avLst/>
          </a:prstGeom>
        </p:spPr>
      </p:pic>
      <p:sp>
        <p:nvSpPr>
          <p:cNvPr id="4" name="s1-eyebrow"/>
          <p:cNvSpPr txBox="1"/>
          <p:nvPr/>
        </p:nvSpPr>
        <p:spPr>
          <a:xfrm>
            <a:off x="812800" y="1117600"/>
            <a:ext cx="7620000" cy="215900"/>
          </a:xfrm>
          <a:prstGeom prst="rect">
            <a:avLst/>
          </a:prstGeom>
          <a:noFill/>
          <a:ln/>
        </p:spPr>
        <p:txBody>
          <a:bodyPr wrap="square" lIns="0" tIns="0" rIns="0" bIns="0" rtlCol="0" anchor="ctr"/>
          <a:lstStyle/>
          <a:p>
            <a:pPr marL="0" indent="0">
              <a:buNone/>
            </a:pPr>
            <a:r>
              <a:rPr lang="en-US" sz="1200" b="1" kern="0" spc="300" dirty="0">
                <a:solidFill>
                  <a:srgbClr val="3FB6A8"/>
                </a:solidFill>
                <a:latin typeface="Calibri" pitchFamily="34" charset="0"/>
                <a:ea typeface="Calibri" pitchFamily="34" charset="-122"/>
                <a:cs typeface="Calibri" pitchFamily="34" charset="-120"/>
              </a:rPr>
              <a:t>CSE 220 · SIGNALS AND LINEAR SYSTEMS · PROJECT</a:t>
            </a:r>
            <a:endParaRPr lang="en-US" sz="1200" dirty="0"/>
          </a:p>
        </p:txBody>
      </p:sp>
      <p:sp>
        <p:nvSpPr>
          <p:cNvPr id="5" name="s1-title"/>
          <p:cNvSpPr txBox="1"/>
          <p:nvPr/>
        </p:nvSpPr>
        <p:spPr>
          <a:xfrm>
            <a:off x="812800" y="1358900"/>
            <a:ext cx="7937500" cy="1079500"/>
          </a:xfrm>
          <a:prstGeom prst="rect">
            <a:avLst/>
          </a:prstGeom>
          <a:noFill/>
          <a:ln/>
        </p:spPr>
        <p:txBody>
          <a:bodyPr wrap="square" lIns="0" tIns="0" rIns="0" bIns="0" rtlCol="0" anchor="ctr"/>
          <a:lstStyle/>
          <a:p>
            <a:pPr marL="0" indent="0">
              <a:buNone/>
            </a:pPr>
            <a:r>
              <a:rPr lang="en-US" sz="6800" b="1" dirty="0">
                <a:solidFill>
                  <a:srgbClr val="F6F1E7"/>
                </a:solidFill>
                <a:latin typeface="Arial" pitchFamily="34" charset="0"/>
                <a:ea typeface="Arial" pitchFamily="34" charset="-122"/>
                <a:cs typeface="Arial" pitchFamily="34" charset="-120"/>
              </a:rPr>
              <a:t>WaveKitchen</a:t>
            </a:r>
            <a:endParaRPr lang="en-US" sz="6800" dirty="0"/>
          </a:p>
        </p:txBody>
      </p:sp>
      <p:sp>
        <p:nvSpPr>
          <p:cNvPr id="6" name="s1-sub"/>
          <p:cNvSpPr txBox="1"/>
          <p:nvPr/>
        </p:nvSpPr>
        <p:spPr>
          <a:xfrm>
            <a:off x="812800" y="2489200"/>
            <a:ext cx="7302500" cy="825500"/>
          </a:xfrm>
          <a:prstGeom prst="rect">
            <a:avLst/>
          </a:prstGeom>
          <a:noFill/>
          <a:ln/>
        </p:spPr>
        <p:txBody>
          <a:bodyPr wrap="square" lIns="0" tIns="0" rIns="0" bIns="0" rtlCol="0" anchor="ctr"/>
          <a:lstStyle/>
          <a:p>
            <a:pPr marL="0" indent="0">
              <a:buNone/>
            </a:pPr>
            <a:r>
              <a:rPr lang="en-US" sz="2200" dirty="0">
                <a:solidFill>
                  <a:srgbClr val="C9CED6"/>
                </a:solidFill>
                <a:latin typeface="Calibri" pitchFamily="34" charset="0"/>
                <a:ea typeface="Calibri" pitchFamily="34" charset="-122"/>
                <a:cs typeface="Calibri" pitchFamily="34" charset="-120"/>
              </a:rPr>
              <a:t>A cooking game where every kitchen action is a signal-processing operation</a:t>
            </a:r>
            <a:endParaRPr lang="en-US" sz="2200" dirty="0"/>
          </a:p>
        </p:txBody>
      </p:sp>
      <p:sp>
        <p:nvSpPr>
          <p:cNvPr id="7" name="s1-stations"/>
          <p:cNvSpPr txBox="1"/>
          <p:nvPr/>
        </p:nvSpPr>
        <p:spPr>
          <a:xfrm>
            <a:off x="812800" y="3467100"/>
            <a:ext cx="7937500" cy="279400"/>
          </a:xfrm>
          <a:prstGeom prst="rect">
            <a:avLst/>
          </a:prstGeom>
          <a:noFill/>
          <a:ln/>
        </p:spPr>
        <p:txBody>
          <a:bodyPr wrap="square" lIns="0" tIns="0" rIns="0" bIns="0" rtlCol="0" anchor="ctr"/>
          <a:lstStyle/>
          <a:p>
            <a:pPr marL="0" indent="0">
              <a:buNone/>
            </a:pPr>
            <a:r>
              <a:rPr lang="en-US" sz="1300" dirty="0">
                <a:solidFill>
                  <a:srgbClr val="7FE0D3"/>
                </a:solidFill>
                <a:latin typeface="Consolas" pitchFamily="34" charset="0"/>
                <a:ea typeface="Consolas" pitchFamily="34" charset="-122"/>
                <a:cs typeface="Consolas" pitchFamily="34" charset="-120"/>
              </a:rPr>
              <a:t>Generate · Wash · Mix · Season · Marinate · Cook · Oven · Deliver</a:t>
            </a:r>
            <a:endParaRPr lang="en-US" sz="1300" dirty="0"/>
          </a:p>
        </p:txBody>
      </p:sp>
      <p:sp>
        <p:nvSpPr>
          <p:cNvPr id="8" name="s1-names"/>
          <p:cNvSpPr txBox="1"/>
          <p:nvPr/>
        </p:nvSpPr>
        <p:spPr>
          <a:xfrm>
            <a:off x="812800" y="3860800"/>
            <a:ext cx="7937500" cy="317500"/>
          </a:xfrm>
          <a:prstGeom prst="rect">
            <a:avLst/>
          </a:prstGeom>
          <a:noFill/>
          <a:ln/>
        </p:spPr>
        <p:txBody>
          <a:bodyPr wrap="square" lIns="0" tIns="0" rIns="0" bIns="0" rtlCol="0" anchor="ctr"/>
          <a:lstStyle/>
          <a:p>
            <a:pPr marL="0" indent="0">
              <a:buNone/>
            </a:pPr>
            <a:r>
              <a:rPr lang="en-US" sz="1600" b="1" dirty="0">
                <a:solidFill>
                  <a:srgbClr val="E8792B"/>
                </a:solidFill>
                <a:latin typeface="Calibri" pitchFamily="34" charset="0"/>
                <a:ea typeface="Calibri" pitchFamily="34" charset="-122"/>
                <a:cs typeface="Calibri" pitchFamily="34" charset="-120"/>
              </a:rPr>
              <a:t>Kazi Asef Kabir  ·  Tajrian Shams Sneha</a:t>
            </a:r>
            <a:endParaRPr lang="en-US" sz="1600" dirty="0"/>
          </a:p>
        </p:txBody>
      </p:sp>
      <p:pic>
        <p:nvPicPr>
          <p:cNvPr id="9" name="s1-chef" descr="Chef Fourier, the game's mascot"/>
          <p:cNvPicPr>
            <a:picLocks noChangeAspect="1"/>
          </p:cNvPicPr>
          <p:nvPr/>
        </p:nvPicPr>
        <p:blipFill>
          <a:blip r:embed="rId6"/>
          <a:stretch>
            <a:fillRect/>
          </a:stretch>
        </p:blipFill>
        <p:spPr>
          <a:xfrm>
            <a:off x="8826500" y="952500"/>
            <a:ext cx="2667000" cy="2667000"/>
          </a:xfrm>
          <a:prstGeom prst="rect">
            <a:avLst/>
          </a:prstGeom>
        </p:spPr>
      </p:pic>
      <p:sp>
        <p:nvSpPr>
          <p:cNvPr id="10" name="!!track"/>
          <p:cNvSpPr/>
          <p:nvPr/>
        </p:nvSpPr>
        <p:spPr>
          <a:xfrm>
            <a:off x="0" y="6807200"/>
            <a:ext cx="12192000" cy="50800"/>
          </a:xfrm>
          <a:prstGeom prst="rect">
            <a:avLst/>
          </a:prstGeom>
          <a:solidFill>
            <a:srgbClr val="1E252E"/>
          </a:solidFill>
          <a:ln/>
        </p:spPr>
      </p:sp>
      <p:sp>
        <p:nvSpPr>
          <p:cNvPr id="11" name="!!progress"/>
          <p:cNvSpPr/>
          <p:nvPr/>
        </p:nvSpPr>
        <p:spPr>
          <a:xfrm>
            <a:off x="0" y="6807200"/>
            <a:ext cx="1219200" cy="50800"/>
          </a:xfrm>
          <a:prstGeom prst="rect">
            <a:avLst/>
          </a:prstGeom>
          <a:solidFill>
            <a:srgbClr val="E8792B"/>
          </a:solidFill>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id="9" presetID="37"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700"/>
                                        <p:tgtEl>
                                          <p:spTgt spid="5"/>
                                        </p:tgtEl>
                                      </p:cBhvr>
                                    </p:animEffect>
                                    <p:anim calcmode="lin" valueType="num">
                                      <p:cBhvr>
                                        <p:cTn id="12" dur="700" fill="hold"/>
                                        <p:tgtEl>
                                          <p:spTgt spid="5"/>
                                        </p:tgtEl>
                                        <p:attrNameLst>
                                          <p:attrName>ppt_x</p:attrName>
                                        </p:attrNameLst>
                                      </p:cBhvr>
                                      <p:tavLst>
                                        <p:tav tm="0">
                                          <p:val>
                                            <p:strVal val="#ppt_x"/>
                                          </p:val>
                                        </p:tav>
                                        <p:tav tm="100000">
                                          <p:val>
                                            <p:strVal val="#ppt_x"/>
                                          </p:val>
                                        </p:tav>
                                      </p:tavLst>
                                    </p:anim>
                                    <p:anim calcmode="lin" valueType="num">
                                      <p:cBhvr>
                                        <p:cTn id="13" dur="630" decel="100000" fill="hold"/>
                                        <p:tgtEl>
                                          <p:spTgt spid="5"/>
                                        </p:tgtEl>
                                        <p:attrNameLst>
                                          <p:attrName>ppt_y</p:attrName>
                                        </p:attrNameLst>
                                      </p:cBhvr>
                                      <p:tavLst>
                                        <p:tav tm="0">
                                          <p:val>
                                            <p:strVal val="#ppt_y+1"/>
                                          </p:val>
                                        </p:tav>
                                        <p:tav tm="100000">
                                          <p:val>
                                            <p:strVal val="#ppt_y-.03"/>
                                          </p:val>
                                        </p:tav>
                                      </p:tavLst>
                                    </p:anim>
                                    <p:anim calcmode="lin" valueType="num">
                                      <p:cBhvr>
                                        <p:cTn id="14" dur="70" accel="100000" fill="hold">
                                          <p:stCondLst>
                                            <p:cond delay="630"/>
                                          </p:stCondLst>
                                        </p:cTn>
                                        <p:tgtEl>
                                          <p:spTgt spid="5"/>
                                        </p:tgtEl>
                                        <p:attrNameLst>
                                          <p:attrName>ppt_y</p:attrName>
                                        </p:attrNameLst>
                                      </p:cBhvr>
                                      <p:tavLst>
                                        <p:tav tm="0">
                                          <p:val>
                                            <p:strVal val="#ppt_y-.03"/>
                                          </p:val>
                                        </p:tav>
                                        <p:tav tm="100000">
                                          <p:val>
                                            <p:strVal val="#ppt_y"/>
                                          </p:val>
                                        </p:tav>
                                      </p:tavLst>
                                    </p:anim>
                                  </p:childTnLst>
                                </p:cTn>
                              </p:par>
                              <p:par>
                                <p:cTn id="15" presetID="26" presetClass="entr" presetSubtype="0" fill="hold" nodeType="withEffect">
                                  <p:stCondLst>
                                    <p:cond delay="20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348">
                                          <p:stCondLst>
                                            <p:cond delay="0"/>
                                          </p:stCondLst>
                                        </p:cTn>
                                        <p:tgtEl>
                                          <p:spTgt spid="9"/>
                                        </p:tgtEl>
                                      </p:cBhvr>
                                    </p:animEffect>
                                    <p:anim calcmode="lin" valueType="num">
                                      <p:cBhvr>
                                        <p:cTn id="18" dur="1093"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19" dur="398"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20" dur="398" tmFilter="0, 0; 0.125,0.2665; 0.25,0.4; 0.375,0.465; 0.5,0.5;  0.625,0.535; 0.75,0.6; 0.875,0.7335; 1,1">
                                          <p:stCondLst>
                                            <p:cond delay="398"/>
                                          </p:stCondLst>
                                        </p:cTn>
                                        <p:tgtEl>
                                          <p:spTgt spid="9"/>
                                        </p:tgtEl>
                                        <p:attrNameLst>
                                          <p:attrName>ppt_y</p:attrName>
                                        </p:attrNameLst>
                                      </p:cBhvr>
                                      <p:tavLst>
                                        <p:tav tm="0" fmla="#ppt_y-sin(pi*$)/9">
                                          <p:val>
                                            <p:fltVal val="0"/>
                                          </p:val>
                                        </p:tav>
                                        <p:tav tm="100000">
                                          <p:val>
                                            <p:fltVal val="1"/>
                                          </p:val>
                                        </p:tav>
                                      </p:tavLst>
                                    </p:anim>
                                    <p:anim calcmode="lin" valueType="num">
                                      <p:cBhvr>
                                        <p:cTn id="21" dur="199" tmFilter="0, 0; 0.125,0.2665; 0.25,0.4; 0.375,0.465; 0.5,0.5;  0.625,0.535; 0.75,0.6; 0.875,0.7335; 1,1">
                                          <p:stCondLst>
                                            <p:cond delay="794"/>
                                          </p:stCondLst>
                                        </p:cTn>
                                        <p:tgtEl>
                                          <p:spTgt spid="9"/>
                                        </p:tgtEl>
                                        <p:attrNameLst>
                                          <p:attrName>ppt_y</p:attrName>
                                        </p:attrNameLst>
                                      </p:cBhvr>
                                      <p:tavLst>
                                        <p:tav tm="0" fmla="#ppt_y-sin(pi*$)/27">
                                          <p:val>
                                            <p:fltVal val="0"/>
                                          </p:val>
                                        </p:tav>
                                        <p:tav tm="100000">
                                          <p:val>
                                            <p:fltVal val="1"/>
                                          </p:val>
                                        </p:tav>
                                      </p:tavLst>
                                    </p:anim>
                                    <p:anim calcmode="lin" valueType="num">
                                      <p:cBhvr>
                                        <p:cTn id="22" dur="98" tmFilter="0, 0; 0.125,0.2665; 0.25,0.4; 0.375,0.465; 0.5,0.5;  0.625,0.535; 0.75,0.6; 0.875,0.7335; 1,1">
                                          <p:stCondLst>
                                            <p:cond delay="994"/>
                                          </p:stCondLst>
                                        </p:cTn>
                                        <p:tgtEl>
                                          <p:spTgt spid="9"/>
                                        </p:tgtEl>
                                        <p:attrNameLst>
                                          <p:attrName>ppt_y</p:attrName>
                                        </p:attrNameLst>
                                      </p:cBhvr>
                                      <p:tavLst>
                                        <p:tav tm="0" fmla="#ppt_y-sin(pi*$)/81">
                                          <p:val>
                                            <p:fltVal val="0"/>
                                          </p:val>
                                        </p:tav>
                                        <p:tav tm="100000">
                                          <p:val>
                                            <p:fltVal val="1"/>
                                          </p:val>
                                        </p:tav>
                                      </p:tavLst>
                                    </p:anim>
                                    <p:animScale>
                                      <p:cBhvr>
                                        <p:cTn id="23" dur="16">
                                          <p:stCondLst>
                                            <p:cond delay="390"/>
                                          </p:stCondLst>
                                        </p:cTn>
                                        <p:tgtEl>
                                          <p:spTgt spid="9"/>
                                        </p:tgtEl>
                                      </p:cBhvr>
                                      <p:to x="100000" y="60000"/>
                                    </p:animScale>
                                    <p:animScale>
                                      <p:cBhvr>
                                        <p:cTn id="24" dur="100" decel="50000">
                                          <p:stCondLst>
                                            <p:cond delay="406"/>
                                          </p:stCondLst>
                                        </p:cTn>
                                        <p:tgtEl>
                                          <p:spTgt spid="9"/>
                                        </p:tgtEl>
                                      </p:cBhvr>
                                      <p:to x="100000" y="100000"/>
                                    </p:animScale>
                                    <p:animScale>
                                      <p:cBhvr>
                                        <p:cTn id="25" dur="16">
                                          <p:stCondLst>
                                            <p:cond delay="787"/>
                                          </p:stCondLst>
                                        </p:cTn>
                                        <p:tgtEl>
                                          <p:spTgt spid="9"/>
                                        </p:tgtEl>
                                      </p:cBhvr>
                                      <p:to x="100000" y="80000"/>
                                    </p:animScale>
                                    <p:animScale>
                                      <p:cBhvr>
                                        <p:cTn id="26" dur="100" decel="50000">
                                          <p:stCondLst>
                                            <p:cond delay="803"/>
                                          </p:stCondLst>
                                        </p:cTn>
                                        <p:tgtEl>
                                          <p:spTgt spid="9"/>
                                        </p:tgtEl>
                                      </p:cBhvr>
                                      <p:to x="100000" y="100000"/>
                                    </p:animScale>
                                    <p:animScale>
                                      <p:cBhvr>
                                        <p:cTn id="27" dur="16">
                                          <p:stCondLst>
                                            <p:cond delay="985"/>
                                          </p:stCondLst>
                                        </p:cTn>
                                        <p:tgtEl>
                                          <p:spTgt spid="9"/>
                                        </p:tgtEl>
                                      </p:cBhvr>
                                      <p:to x="100000" y="90000"/>
                                    </p:animScale>
                                    <p:animScale>
                                      <p:cBhvr>
                                        <p:cTn id="28" dur="100" decel="50000">
                                          <p:stCondLst>
                                            <p:cond delay="1001"/>
                                          </p:stCondLst>
                                        </p:cTn>
                                        <p:tgtEl>
                                          <p:spTgt spid="9"/>
                                        </p:tgtEl>
                                      </p:cBhvr>
                                      <p:to x="100000" y="100000"/>
                                    </p:animScale>
                                    <p:animScale>
                                      <p:cBhvr>
                                        <p:cTn id="29" dur="16">
                                          <p:stCondLst>
                                            <p:cond delay="1085"/>
                                          </p:stCondLst>
                                        </p:cTn>
                                        <p:tgtEl>
                                          <p:spTgt spid="9"/>
                                        </p:tgtEl>
                                      </p:cBhvr>
                                      <p:to x="100000" y="95000"/>
                                    </p:animScale>
                                    <p:animScale>
                                      <p:cBhvr>
                                        <p:cTn id="30" dur="100" decel="50000">
                                          <p:stCondLst>
                                            <p:cond delay="1100"/>
                                          </p:stCondLst>
                                        </p:cTn>
                                        <p:tgtEl>
                                          <p:spTgt spid="9"/>
                                        </p:tgtEl>
                                      </p:cBhvr>
                                      <p:to x="100000" y="100000"/>
                                    </p:animScale>
                                  </p:childTnLst>
                                </p:cTn>
                              </p:par>
                            </p:childTnLst>
                          </p:cTn>
                        </p:par>
                        <p:par>
                          <p:cTn id="31" fill="hold">
                            <p:stCondLst>
                              <p:cond delay="180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600"/>
                                        <p:tgtEl>
                                          <p:spTgt spid="6"/>
                                        </p:tgtEl>
                                      </p:cBhvr>
                                    </p:animEffect>
                                  </p:childTnLst>
                                </p:cTn>
                              </p:par>
                            </p:childTnLst>
                          </p:cTn>
                        </p:par>
                        <p:par>
                          <p:cTn id="35" fill="hold">
                            <p:stCondLst>
                              <p:cond delay="2400"/>
                            </p:stCondLst>
                            <p:childTnLst>
                              <p:par>
                                <p:cTn id="36" presetID="22" presetClass="entr" presetSubtype="8" fill="hold" grpId="0" nodeType="after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wipe(left)">
                                      <p:cBhvr>
                                        <p:cTn id="38" dur="500"/>
                                        <p:tgtEl>
                                          <p:spTgt spid="7"/>
                                        </p:tgtEl>
                                      </p:cBhvr>
                                    </p:animEffect>
                                  </p:childTnLst>
                                </p:cTn>
                              </p:par>
                            </p:childTnLst>
                          </p:cTn>
                        </p:par>
                        <p:par>
                          <p:cTn id="39" fill="hold">
                            <p:stCondLst>
                              <p:cond delay="2900"/>
                            </p:stCondLst>
                            <p:childTnLst>
                              <p:par>
                                <p:cTn id="40" presetID="37" presetClass="entr" presetSubtype="0" fill="hold" grpId="0" nodeType="after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500"/>
                                        <p:tgtEl>
                                          <p:spTgt spid="8"/>
                                        </p:tgtEl>
                                      </p:cBhvr>
                                    </p:animEffect>
                                    <p:anim calcmode="lin" valueType="num">
                                      <p:cBhvr>
                                        <p:cTn id="43" dur="500" fill="hold"/>
                                        <p:tgtEl>
                                          <p:spTgt spid="8"/>
                                        </p:tgtEl>
                                        <p:attrNameLst>
                                          <p:attrName>ppt_x</p:attrName>
                                        </p:attrNameLst>
                                      </p:cBhvr>
                                      <p:tavLst>
                                        <p:tav tm="0">
                                          <p:val>
                                            <p:strVal val="#ppt_x"/>
                                          </p:val>
                                        </p:tav>
                                        <p:tav tm="100000">
                                          <p:val>
                                            <p:strVal val="#ppt_x"/>
                                          </p:val>
                                        </p:tav>
                                      </p:tavLst>
                                    </p:anim>
                                    <p:anim calcmode="lin" valueType="num">
                                      <p:cBhvr>
                                        <p:cTn id="44" dur="450" decel="100000" fill="hold"/>
                                        <p:tgtEl>
                                          <p:spTgt spid="8"/>
                                        </p:tgtEl>
                                        <p:attrNameLst>
                                          <p:attrName>ppt_y</p:attrName>
                                        </p:attrNameLst>
                                      </p:cBhvr>
                                      <p:tavLst>
                                        <p:tav tm="0">
                                          <p:val>
                                            <p:strVal val="#ppt_y+1"/>
                                          </p:val>
                                        </p:tav>
                                        <p:tav tm="100000">
                                          <p:val>
                                            <p:strVal val="#ppt_y-.03"/>
                                          </p:val>
                                        </p:tav>
                                      </p:tavLst>
                                    </p:anim>
                                    <p:anim calcmode="lin" valueType="num">
                                      <p:cBhvr>
                                        <p:cTn id="45" dur="50" accel="100000" fill="hold">
                                          <p:stCondLst>
                                            <p:cond delay="450"/>
                                          </p:stCondLst>
                                        </p:cTn>
                                        <p:tgtEl>
                                          <p:spTgt spid="8"/>
                                        </p:tgtEl>
                                        <p:attrNameLst>
                                          <p:attrName>ppt_y</p:attrName>
                                        </p:attrNameLst>
                                      </p:cBhvr>
                                      <p:tavLst>
                                        <p:tav tm="0">
                                          <p:val>
                                            <p:strVal val="#ppt_y-.03"/>
                                          </p:val>
                                        </p:tav>
                                        <p:tav tm="100000">
                                          <p:val>
                                            <p:strVal val="#ppt_y"/>
                                          </p:val>
                                        </p:tav>
                                      </p:tavLst>
                                    </p:anim>
                                  </p:childTnLst>
                                </p:cTn>
                              </p:par>
                              <p:par>
                                <p:cTn id="46" presetID="22" presetClass="entr" presetSubtype="8" fill="hold" nodeType="with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wipe(left)">
                                      <p:cBhvr>
                                        <p:cTn id="48" dur="500"/>
                                        <p:tgtEl>
                                          <p:spTgt spid="2"/>
                                        </p:tgtEl>
                                      </p:cBhvr>
                                    </p:animEffect>
                                  </p:childTnLst>
                                </p:cTn>
                              </p:par>
                              <p:par>
                                <p:cTn id="49" presetID="22" presetClass="entr" presetSubtype="8" fill="hold" nodeType="withEffect">
                                  <p:stCondLst>
                                    <p:cond delay="500"/>
                                  </p:stCondLst>
                                  <p:childTnLst>
                                    <p:set>
                                      <p:cBhvr>
                                        <p:cTn id="50" dur="1" fill="hold">
                                          <p:stCondLst>
                                            <p:cond delay="0"/>
                                          </p:stCondLst>
                                        </p:cTn>
                                        <p:tgtEl>
                                          <p:spTgt spid="3"/>
                                        </p:tgtEl>
                                        <p:attrNameLst>
                                          <p:attrName>style.visibility</p:attrName>
                                        </p:attrNameLst>
                                      </p:cBhvr>
                                      <p:to>
                                        <p:strVal val="visible"/>
                                      </p:to>
                                    </p:set>
                                    <p:animEffect transition="in" filter="wipe(left)">
                                      <p:cBhvr>
                                        <p:cTn id="51" dur="500"/>
                                        <p:tgtEl>
                                          <p:spTgt spid="3"/>
                                        </p:tgtEl>
                                      </p:cBhvr>
                                    </p:animEffect>
                                  </p:childTnLst>
                                </p:cTn>
                              </p:par>
                            </p:childTnLst>
                          </p:cTn>
                        </p:par>
                        <p:par>
                          <p:cTn id="52" fill="hold">
                            <p:stCondLst>
                              <p:cond delay="3900"/>
                            </p:stCondLst>
                            <p:childTnLst>
                              <p:par>
                                <p:cTn id="53" presetID="32" presetClass="emph" presetSubtype="0" fill="hold" nodeType="afterEffect">
                                  <p:stCondLst>
                                    <p:cond delay="0"/>
                                  </p:stCondLst>
                                  <p:childTnLst>
                                    <p:animRot by="120000">
                                      <p:cBhvr>
                                        <p:cTn id="54" dur="100" fill="hold">
                                          <p:stCondLst>
                                            <p:cond delay="0"/>
                                          </p:stCondLst>
                                        </p:cTn>
                                        <p:tgtEl>
                                          <p:spTgt spid="9"/>
                                        </p:tgtEl>
                                        <p:attrNameLst>
                                          <p:attrName>r</p:attrName>
                                        </p:attrNameLst>
                                      </p:cBhvr>
                                    </p:animRot>
                                    <p:animRot by="-240000">
                                      <p:cBhvr>
                                        <p:cTn id="55" dur="200" fill="hold">
                                          <p:stCondLst>
                                            <p:cond delay="200"/>
                                          </p:stCondLst>
                                        </p:cTn>
                                        <p:tgtEl>
                                          <p:spTgt spid="9"/>
                                        </p:tgtEl>
                                        <p:attrNameLst>
                                          <p:attrName>r</p:attrName>
                                        </p:attrNameLst>
                                      </p:cBhvr>
                                    </p:animRot>
                                    <p:animRot by="240000">
                                      <p:cBhvr>
                                        <p:cTn id="56" dur="200" fill="hold">
                                          <p:stCondLst>
                                            <p:cond delay="400"/>
                                          </p:stCondLst>
                                        </p:cTn>
                                        <p:tgtEl>
                                          <p:spTgt spid="9"/>
                                        </p:tgtEl>
                                        <p:attrNameLst>
                                          <p:attrName>r</p:attrName>
                                        </p:attrNameLst>
                                      </p:cBhvr>
                                    </p:animRot>
                                    <p:animRot by="-240000">
                                      <p:cBhvr>
                                        <p:cTn id="57" dur="200" fill="hold">
                                          <p:stCondLst>
                                            <p:cond delay="600"/>
                                          </p:stCondLst>
                                        </p:cTn>
                                        <p:tgtEl>
                                          <p:spTgt spid="9"/>
                                        </p:tgtEl>
                                        <p:attrNameLst>
                                          <p:attrName>r</p:attrName>
                                        </p:attrNameLst>
                                      </p:cBhvr>
                                    </p:animRot>
                                    <p:animRot by="120000">
                                      <p:cBhvr>
                                        <p:cTn id="58" dur="200" fill="hold">
                                          <p:stCondLst>
                                            <p:cond delay="800"/>
                                          </p:stCondLst>
                                        </p:cTn>
                                        <p:tgtEl>
                                          <p:spTgt spid="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eyebrow"/>
          <p:cNvSpPr txBox="1"/>
          <p:nvPr/>
        </p:nvSpPr>
        <p:spPr>
          <a:xfrm>
            <a:off x="812800" y="774700"/>
            <a:ext cx="8890000" cy="254000"/>
          </a:xfrm>
          <a:prstGeom prst="rect">
            <a:avLst/>
          </a:prstGeom>
          <a:noFill/>
          <a:ln/>
        </p:spPr>
        <p:txBody>
          <a:bodyPr wrap="square" lIns="0" tIns="0" rIns="0" bIns="0" rtlCol="0" anchor="ctr"/>
          <a:lstStyle/>
          <a:p>
            <a:pPr marL="0" indent="0">
              <a:buNone/>
            </a:pPr>
            <a:r>
              <a:rPr lang="en-US" sz="1200" b="1" kern="0" spc="300" dirty="0">
                <a:solidFill>
                  <a:srgbClr val="A84A14"/>
                </a:solidFill>
                <a:latin typeface="Calibri" pitchFamily="34" charset="0"/>
                <a:ea typeface="Calibri" pitchFamily="34" charset="-122"/>
                <a:cs typeface="Calibri" pitchFamily="34" charset="-120"/>
              </a:rPr>
              <a:t>MOTIVATION</a:t>
            </a:r>
            <a:endParaRPr lang="en-US" sz="1200" dirty="0"/>
          </a:p>
        </p:txBody>
      </p:sp>
      <p:sp>
        <p:nvSpPr>
          <p:cNvPr id="3" name="!!title"/>
          <p:cNvSpPr txBox="1"/>
          <p:nvPr/>
        </p:nvSpPr>
        <p:spPr>
          <a:xfrm>
            <a:off x="812800" y="1054100"/>
            <a:ext cx="10566400" cy="558800"/>
          </a:xfrm>
          <a:prstGeom prst="rect">
            <a:avLst/>
          </a:prstGeom>
          <a:noFill/>
          <a:ln/>
        </p:spPr>
        <p:txBody>
          <a:bodyPr wrap="square" lIns="0" tIns="0" rIns="0" bIns="0" rtlCol="0" anchor="ctr"/>
          <a:lstStyle/>
          <a:p>
            <a:pPr marL="0" indent="0">
              <a:buNone/>
            </a:pPr>
            <a:r>
              <a:rPr lang="en-US" sz="3200" b="1" dirty="0">
                <a:solidFill>
                  <a:srgbClr val="14171C"/>
                </a:solidFill>
                <a:latin typeface="Arial" pitchFamily="34" charset="0"/>
                <a:ea typeface="Arial" pitchFamily="34" charset="-122"/>
                <a:cs typeface="Arial" pitchFamily="34" charset="-120"/>
              </a:rPr>
              <a:t>Equations you can see, hear and score</a:t>
            </a:r>
            <a:endParaRPr lang="en-US" sz="3200" dirty="0"/>
          </a:p>
        </p:txBody>
      </p:sp>
      <p:sp>
        <p:nvSpPr>
          <p:cNvPr id="4" name="s2-card1"/>
          <p:cNvSpPr txBox="1"/>
          <p:nvPr/>
        </p:nvSpPr>
        <p:spPr>
          <a:xfrm>
            <a:off x="812800" y="1879600"/>
            <a:ext cx="4699000" cy="1041400"/>
          </a:xfrm>
          <a:prstGeom prst="roundRect">
            <a:avLst>
              <a:gd name="adj" fmla="val 10537"/>
            </a:avLst>
          </a:prstGeom>
          <a:solidFill>
            <a:srgbClr val="FFFCF6"/>
          </a:solidFill>
          <a:ln w="9525">
            <a:solidFill>
              <a:srgbClr val="DDD5C7"/>
            </a:solidFill>
          </a:ln>
        </p:spPr>
        <p:txBody>
          <a:bodyPr wrap="square" lIns="203200" tIns="203200" rIns="203200" bIns="203200" rtlCol="0" anchor="t"/>
          <a:lstStyle/>
          <a:p>
            <a:pPr marL="0" indent="0">
              <a:spcAft>
                <a:spcPts val="600"/>
              </a:spcAft>
              <a:buNone/>
            </a:pPr>
            <a:r>
              <a:rPr lang="en-US" sz="1700" b="1" dirty="0">
                <a:solidFill>
                  <a:srgbClr val="A84A14"/>
                </a:solidFill>
                <a:latin typeface="Arial" pitchFamily="34" charset="0"/>
                <a:ea typeface="Arial" pitchFamily="34" charset="-122"/>
                <a:cs typeface="Arial" pitchFamily="34" charset="-120"/>
              </a:rPr>
              <a:t>Convolution</a:t>
            </a:r>
            <a:endParaRPr lang="en-US" sz="1700" dirty="0"/>
          </a:p>
          <a:p>
            <a:pPr marL="0" indent="0">
              <a:buNone/>
            </a:pPr>
            <a:r>
              <a:rPr lang="en-US" sz="1400" dirty="0">
                <a:solidFill>
                  <a:srgbClr val="3E4451"/>
                </a:solidFill>
                <a:latin typeface="Calibri" pitchFamily="34" charset="0"/>
                <a:ea typeface="Calibri" pitchFamily="34" charset="-122"/>
                <a:cs typeface="Calibri" pitchFamily="34" charset="-120"/>
              </a:rPr>
              <a:t>is a formula on the board, not a sound you hear.</a:t>
            </a:r>
            <a:endParaRPr lang="en-US" sz="1700" dirty="0"/>
          </a:p>
        </p:txBody>
      </p:sp>
      <p:sp>
        <p:nvSpPr>
          <p:cNvPr id="5" name="s2-card2"/>
          <p:cNvSpPr txBox="1"/>
          <p:nvPr/>
        </p:nvSpPr>
        <p:spPr>
          <a:xfrm>
            <a:off x="812800" y="3124200"/>
            <a:ext cx="4699000" cy="1041400"/>
          </a:xfrm>
          <a:prstGeom prst="roundRect">
            <a:avLst>
              <a:gd name="adj" fmla="val 10537"/>
            </a:avLst>
          </a:prstGeom>
          <a:solidFill>
            <a:srgbClr val="FFFCF6"/>
          </a:solidFill>
          <a:ln w="9525">
            <a:solidFill>
              <a:srgbClr val="DDD5C7"/>
            </a:solidFill>
          </a:ln>
        </p:spPr>
        <p:txBody>
          <a:bodyPr wrap="square" lIns="203200" tIns="203200" rIns="203200" bIns="203200" rtlCol="0" anchor="t"/>
          <a:lstStyle/>
          <a:p>
            <a:pPr marL="0" indent="0">
              <a:spcAft>
                <a:spcPts val="600"/>
              </a:spcAft>
              <a:buNone/>
            </a:pPr>
            <a:r>
              <a:rPr lang="en-US" sz="1700" b="1" dirty="0">
                <a:solidFill>
                  <a:srgbClr val="A84A14"/>
                </a:solidFill>
                <a:latin typeface="Arial" pitchFamily="34" charset="0"/>
                <a:ea typeface="Arial" pitchFamily="34" charset="-122"/>
                <a:cs typeface="Arial" pitchFamily="34" charset="-120"/>
              </a:rPr>
              <a:t>Aliasing</a:t>
            </a:r>
            <a:endParaRPr lang="en-US" sz="1700" dirty="0"/>
          </a:p>
          <a:p>
            <a:pPr marL="0" indent="0">
              <a:buNone/>
            </a:pPr>
            <a:r>
              <a:rPr lang="en-US" sz="1400" dirty="0">
                <a:solidFill>
                  <a:srgbClr val="3E4451"/>
                </a:solidFill>
                <a:latin typeface="Calibri" pitchFamily="34" charset="0"/>
                <a:ea typeface="Calibri" pitchFamily="34" charset="-122"/>
                <a:cs typeface="Calibri" pitchFamily="34" charset="-120"/>
              </a:rPr>
              <a:t>is a warning in the textbook, not a mistake you make.</a:t>
            </a:r>
            <a:endParaRPr lang="en-US" sz="1700" dirty="0"/>
          </a:p>
        </p:txBody>
      </p:sp>
      <p:sp>
        <p:nvSpPr>
          <p:cNvPr id="6" name="s2-card3"/>
          <p:cNvSpPr txBox="1"/>
          <p:nvPr/>
        </p:nvSpPr>
        <p:spPr>
          <a:xfrm>
            <a:off x="812800" y="4368800"/>
            <a:ext cx="4699000" cy="1041400"/>
          </a:xfrm>
          <a:prstGeom prst="roundRect">
            <a:avLst>
              <a:gd name="adj" fmla="val 10537"/>
            </a:avLst>
          </a:prstGeom>
          <a:solidFill>
            <a:srgbClr val="FFFCF6"/>
          </a:solidFill>
          <a:ln w="9525">
            <a:solidFill>
              <a:srgbClr val="DDD5C7"/>
            </a:solidFill>
          </a:ln>
        </p:spPr>
        <p:txBody>
          <a:bodyPr wrap="square" lIns="203200" tIns="203200" rIns="203200" bIns="203200" rtlCol="0" anchor="t"/>
          <a:lstStyle/>
          <a:p>
            <a:pPr marL="0" indent="0">
              <a:spcAft>
                <a:spcPts val="600"/>
              </a:spcAft>
              <a:buNone/>
            </a:pPr>
            <a:r>
              <a:rPr lang="en-US" sz="1700" b="1" dirty="0">
                <a:solidFill>
                  <a:srgbClr val="A84A14"/>
                </a:solidFill>
                <a:latin typeface="Arial" pitchFamily="34" charset="0"/>
                <a:ea typeface="Arial" pitchFamily="34" charset="-122"/>
                <a:cs typeface="Arial" pitchFamily="34" charset="-120"/>
              </a:rPr>
              <a:t>Poles and zeros</a:t>
            </a:r>
            <a:endParaRPr lang="en-US" sz="1700" dirty="0"/>
          </a:p>
          <a:p>
            <a:pPr marL="0" indent="0">
              <a:buNone/>
            </a:pPr>
            <a:r>
              <a:rPr lang="en-US" sz="1400" dirty="0">
                <a:solidFill>
                  <a:srgbClr val="3E4451"/>
                </a:solidFill>
                <a:latin typeface="Calibri" pitchFamily="34" charset="0"/>
                <a:ea typeface="Calibri" pitchFamily="34" charset="-122"/>
                <a:cs typeface="Calibri" pitchFamily="34" charset="-120"/>
              </a:rPr>
              <a:t>are dots on a plane, not a filter you tune.</a:t>
            </a:r>
            <a:endParaRPr lang="en-US" sz="1700" dirty="0"/>
          </a:p>
        </p:txBody>
      </p:sp>
      <p:sp>
        <p:nvSpPr>
          <p:cNvPr id="7" name="s2-panel"/>
          <p:cNvSpPr txBox="1"/>
          <p:nvPr/>
        </p:nvSpPr>
        <p:spPr>
          <a:xfrm>
            <a:off x="5867400" y="1879600"/>
            <a:ext cx="5511800" cy="2453005"/>
          </a:xfrm>
          <a:prstGeom prst="roundRect">
            <a:avLst>
              <a:gd name="adj" fmla="val 4473"/>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THE GAME AS A SYSTEM</a:t>
            </a:r>
            <a:endParaRPr lang="en-US" sz="1200" dirty="0"/>
          </a:p>
          <a:p>
            <a:pPr marL="0" indent="0">
              <a:spcAft>
                <a:spcPts val="500"/>
              </a:spcAft>
              <a:buNone/>
            </a:pPr>
            <a:r>
              <a:rPr lang="en-US" sz="1300" dirty="0">
                <a:solidFill>
                  <a:srgbClr val="E9E4DA"/>
                </a:solidFill>
                <a:latin typeface="Calibri" pitchFamily="34" charset="0"/>
                <a:ea typeface="Calibri" pitchFamily="34" charset="-122"/>
                <a:cs typeface="Calibri" pitchFamily="34" charset="-120"/>
              </a:rPr>
              <a:t>Make your dish match a hidden reference dish.</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ingredient  →  x(t)</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station     →  a system T{·}</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dish        →  y(t) = T₈{ … T₂{ T₁{x(t)} } }</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target      →  y_ref(t), the same chain</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               on clean ingredients</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score       →  similarity(y, y_ref), 0–100</a:t>
            </a:r>
            <a:endParaRPr lang="en-US" sz="1200" dirty="0"/>
          </a:p>
        </p:txBody>
      </p:sp>
      <p:sp>
        <p:nvSpPr>
          <p:cNvPr id="8" name="s2-diag"/>
          <p:cNvSpPr/>
          <p:nvPr/>
        </p:nvSpPr>
        <p:spPr>
          <a:xfrm>
            <a:off x="5867400" y="4673600"/>
            <a:ext cx="5511800" cy="952500"/>
          </a:xfrm>
          <a:prstGeom prst="roundRect">
            <a:avLst>
              <a:gd name="adj" fmla="val 11520"/>
            </a:avLst>
          </a:prstGeom>
          <a:solidFill>
            <a:srgbClr val="151A21"/>
          </a:solidFill>
          <a:ln w="9525">
            <a:solidFill>
              <a:srgbClr val="2B333E"/>
            </a:solidFill>
            <a:prstDash val="solid"/>
          </a:ln>
        </p:spPr>
      </p:sp>
      <p:pic>
        <p:nvPicPr>
          <p:cNvPr id="9" name="s2-in" descr="input signal"/>
          <p:cNvPicPr>
            <a:picLocks noChangeAspect="1"/>
          </p:cNvPicPr>
          <p:nvPr/>
        </p:nvPicPr>
        <p:blipFill>
          <a:blip r:embed="rId4"/>
          <a:stretch>
            <a:fillRect/>
          </a:stretch>
        </p:blipFill>
        <p:spPr>
          <a:xfrm>
            <a:off x="5994400" y="4972050"/>
            <a:ext cx="1054100" cy="355600"/>
          </a:xfrm>
          <a:prstGeom prst="rect">
            <a:avLst/>
          </a:prstGeom>
        </p:spPr>
      </p:pic>
      <p:sp>
        <p:nvSpPr>
          <p:cNvPr id="10" name="s2-a1"/>
          <p:cNvSpPr/>
          <p:nvPr/>
        </p:nvSpPr>
        <p:spPr>
          <a:xfrm>
            <a:off x="7086600" y="5067300"/>
            <a:ext cx="292100" cy="165100"/>
          </a:xfrm>
          <a:prstGeom prst="rightArrow">
            <a:avLst/>
          </a:prstGeom>
          <a:solidFill>
            <a:srgbClr val="E8792B"/>
          </a:solidFill>
          <a:ln/>
        </p:spPr>
      </p:sp>
      <p:sp>
        <p:nvSpPr>
          <p:cNvPr id="11" name="s2-box"/>
          <p:cNvSpPr txBox="1"/>
          <p:nvPr/>
        </p:nvSpPr>
        <p:spPr>
          <a:xfrm>
            <a:off x="7391400" y="4864100"/>
            <a:ext cx="1206500" cy="571500"/>
          </a:xfrm>
          <a:prstGeom prst="roundRect">
            <a:avLst>
              <a:gd name="adj" fmla="val 16000"/>
            </a:avLst>
          </a:prstGeom>
          <a:solidFill>
            <a:srgbClr val="151A21"/>
          </a:solidFill>
          <a:ln w="19050">
            <a:solidFill>
              <a:srgbClr val="E8792B"/>
            </a:solidFill>
          </a:ln>
        </p:spPr>
        <p:txBody>
          <a:bodyPr wrap="square" lIns="101600" tIns="101600" rIns="101600" bIns="101600" rtlCol="0" anchor="ctr"/>
          <a:lstStyle/>
          <a:p>
            <a:pPr marL="0" indent="0" algn="ctr">
              <a:buNone/>
            </a:pPr>
            <a:r>
              <a:rPr lang="en-US" sz="1100" dirty="0">
                <a:solidFill>
                  <a:srgbClr val="9AA4B2"/>
                </a:solidFill>
                <a:latin typeface="Calibri" pitchFamily="34" charset="0"/>
                <a:ea typeface="Calibri" pitchFamily="34" charset="-122"/>
                <a:cs typeface="Calibri" pitchFamily="34" charset="-120"/>
              </a:rPr>
              <a:t>system</a:t>
            </a:r>
            <a:endParaRPr lang="en-US" sz="1100" dirty="0"/>
          </a:p>
          <a:p>
            <a:pPr marL="0" indent="0" algn="ctr">
              <a:buNone/>
            </a:pPr>
            <a:r>
              <a:rPr lang="en-US" sz="1800" b="1" dirty="0">
                <a:solidFill>
                  <a:srgbClr val="7FE0D3"/>
                </a:solidFill>
                <a:latin typeface="Consolas" pitchFamily="34" charset="0"/>
                <a:ea typeface="Consolas" pitchFamily="34" charset="-122"/>
                <a:cs typeface="Consolas" pitchFamily="34" charset="-120"/>
              </a:rPr>
              <a:t>T{·}</a:t>
            </a:r>
            <a:endParaRPr lang="en-US" sz="1100" dirty="0"/>
          </a:p>
        </p:txBody>
      </p:sp>
      <p:sp>
        <p:nvSpPr>
          <p:cNvPr id="12" name="s2-a2"/>
          <p:cNvSpPr/>
          <p:nvPr/>
        </p:nvSpPr>
        <p:spPr>
          <a:xfrm>
            <a:off x="8648700" y="5067300"/>
            <a:ext cx="292100" cy="165100"/>
          </a:xfrm>
          <a:prstGeom prst="rightArrow">
            <a:avLst/>
          </a:prstGeom>
          <a:solidFill>
            <a:srgbClr val="E8792B"/>
          </a:solidFill>
          <a:ln/>
        </p:spPr>
      </p:sp>
      <p:pic>
        <p:nvPicPr>
          <p:cNvPr id="13" name="s2-out" descr="output signal"/>
          <p:cNvPicPr>
            <a:picLocks noChangeAspect="1"/>
          </p:cNvPicPr>
          <p:nvPr/>
        </p:nvPicPr>
        <p:blipFill>
          <a:blip r:embed="rId5"/>
          <a:stretch>
            <a:fillRect/>
          </a:stretch>
        </p:blipFill>
        <p:spPr>
          <a:xfrm>
            <a:off x="8991600" y="4972050"/>
            <a:ext cx="1054100" cy="355600"/>
          </a:xfrm>
          <a:prstGeom prst="rect">
            <a:avLst/>
          </a:prstGeom>
        </p:spPr>
      </p:pic>
      <p:sp>
        <p:nvSpPr>
          <p:cNvPr id="14" name="s2-a3"/>
          <p:cNvSpPr/>
          <p:nvPr/>
        </p:nvSpPr>
        <p:spPr>
          <a:xfrm>
            <a:off x="10109200" y="5067300"/>
            <a:ext cx="292100" cy="165100"/>
          </a:xfrm>
          <a:prstGeom prst="rightArrow">
            <a:avLst/>
          </a:prstGeom>
          <a:solidFill>
            <a:srgbClr val="E8792B"/>
          </a:solidFill>
          <a:ln/>
        </p:spPr>
      </p:sp>
      <p:sp>
        <p:nvSpPr>
          <p:cNvPr id="15" name="s2-score"/>
          <p:cNvSpPr txBox="1"/>
          <p:nvPr/>
        </p:nvSpPr>
        <p:spPr>
          <a:xfrm>
            <a:off x="10477500" y="4781550"/>
            <a:ext cx="736600" cy="736600"/>
          </a:xfrm>
          <a:prstGeom prst="ellipse">
            <a:avLst/>
          </a:prstGeom>
          <a:solidFill>
            <a:srgbClr val="E8792B"/>
          </a:solidFill>
          <a:ln/>
        </p:spPr>
        <p:txBody>
          <a:bodyPr wrap="square" lIns="0" tIns="0" rIns="0" bIns="0" rtlCol="0" anchor="ctr"/>
          <a:lstStyle/>
          <a:p>
            <a:pPr marL="0" indent="0" algn="ctr">
              <a:buNone/>
            </a:pPr>
            <a:r>
              <a:rPr lang="en-US" sz="1000" dirty="0">
                <a:solidFill>
                  <a:srgbClr val="10141A"/>
                </a:solidFill>
                <a:latin typeface="Calibri" pitchFamily="34" charset="0"/>
                <a:ea typeface="Calibri" pitchFamily="34" charset="-122"/>
                <a:cs typeface="Calibri" pitchFamily="34" charset="-120"/>
              </a:rPr>
              <a:t>score</a:t>
            </a:r>
            <a:endParaRPr lang="en-US" sz="1000" dirty="0"/>
          </a:p>
          <a:p>
            <a:pPr marL="0" indent="0" algn="ctr">
              <a:buNone/>
            </a:pPr>
            <a:r>
              <a:rPr lang="en-US" sz="1300" b="1" dirty="0">
                <a:solidFill>
                  <a:srgbClr val="10141A"/>
                </a:solidFill>
                <a:latin typeface="Calibri" pitchFamily="34" charset="0"/>
                <a:ea typeface="Calibri" pitchFamily="34" charset="-122"/>
                <a:cs typeface="Calibri" pitchFamily="34" charset="-120"/>
              </a:rPr>
              <a:t>0–100</a:t>
            </a:r>
            <a:endParaRPr lang="en-US" sz="1000" dirty="0"/>
          </a:p>
        </p:txBody>
      </p:sp>
      <p:sp>
        <p:nvSpPr>
          <p:cNvPr id="16" name="!!footer"/>
          <p:cNvSpPr txBox="1"/>
          <p:nvPr/>
        </p:nvSpPr>
        <p:spPr>
          <a:xfrm>
            <a:off x="812800" y="6248400"/>
            <a:ext cx="5715000" cy="215900"/>
          </a:xfrm>
          <a:prstGeom prst="rect">
            <a:avLst/>
          </a:prstGeom>
          <a:noFill/>
          <a:ln/>
        </p:spPr>
        <p:txBody>
          <a:bodyPr wrap="square" lIns="0" tIns="0" rIns="0" bIns="0" rtlCol="0" anchor="ctr"/>
          <a:lstStyle/>
          <a:p>
            <a:pPr marL="0" indent="0">
              <a:buNone/>
            </a:pPr>
            <a:r>
              <a:rPr lang="en-US" sz="1200" dirty="0">
                <a:solidFill>
                  <a:srgbClr val="5B6270"/>
                </a:solidFill>
                <a:latin typeface="Calibri" pitchFamily="34" charset="0"/>
                <a:ea typeface="Calibri" pitchFamily="34" charset="-122"/>
                <a:cs typeface="Calibri" pitchFamily="34" charset="-120"/>
              </a:rPr>
              <a:t>WaveKitchen · Cooking with Signals</a:t>
            </a:r>
            <a:endParaRPr lang="en-US" sz="1200" dirty="0"/>
          </a:p>
        </p:txBody>
      </p:sp>
      <p:sp>
        <p:nvSpPr>
          <p:cNvPr id="17" name="!!page"/>
          <p:cNvSpPr txBox="1"/>
          <p:nvPr/>
        </p:nvSpPr>
        <p:spPr>
          <a:xfrm>
            <a:off x="9474200" y="6248400"/>
            <a:ext cx="1905000" cy="215900"/>
          </a:xfrm>
          <a:prstGeom prst="rect">
            <a:avLst/>
          </a:prstGeom>
          <a:noFill/>
          <a:ln/>
        </p:spPr>
        <p:txBody>
          <a:bodyPr wrap="square" lIns="0" tIns="0" rIns="0" bIns="0" rtlCol="0" anchor="ctr"/>
          <a:lstStyle/>
          <a:p>
            <a:pPr marL="0" indent="0" algn="r">
              <a:buNone/>
            </a:pPr>
            <a:r>
              <a:rPr lang="en-US" sz="1200" dirty="0">
                <a:solidFill>
                  <a:srgbClr val="5B6270"/>
                </a:solidFill>
                <a:latin typeface="Calibri" pitchFamily="34" charset="0"/>
                <a:ea typeface="Calibri" pitchFamily="34" charset="-122"/>
                <a:cs typeface="Calibri" pitchFamily="34" charset="-120"/>
              </a:rPr>
              <a:t>2 / 10</a:t>
            </a:r>
            <a:endParaRPr lang="en-US" sz="1200" dirty="0"/>
          </a:p>
        </p:txBody>
      </p:sp>
      <p:sp>
        <p:nvSpPr>
          <p:cNvPr id="18" name="!!track"/>
          <p:cNvSpPr/>
          <p:nvPr/>
        </p:nvSpPr>
        <p:spPr>
          <a:xfrm>
            <a:off x="0" y="6807200"/>
            <a:ext cx="12192000" cy="50800"/>
          </a:xfrm>
          <a:prstGeom prst="rect">
            <a:avLst/>
          </a:prstGeom>
          <a:solidFill>
            <a:srgbClr val="E2DACB"/>
          </a:solidFill>
          <a:ln/>
        </p:spPr>
      </p:sp>
      <p:sp>
        <p:nvSpPr>
          <p:cNvPr id="19" name="!!progress"/>
          <p:cNvSpPr/>
          <p:nvPr/>
        </p:nvSpPr>
        <p:spPr>
          <a:xfrm>
            <a:off x="0" y="6807200"/>
            <a:ext cx="2438400" cy="50800"/>
          </a:xfrm>
          <a:prstGeom prst="rect">
            <a:avLst/>
          </a:prstGeom>
          <a:solidFill>
            <a:srgbClr val="E8792B"/>
          </a:solidFill>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 calcmode="lin" valueType="num">
                                      <p:cBhvr>
                                        <p:cTn id="8" dur="450" fill="hold"/>
                                        <p:tgtEl>
                                          <p:spTgt spid="4"/>
                                        </p:tgtEl>
                                        <p:attrNameLst>
                                          <p:attrName>ppt_x</p:attrName>
                                        </p:attrNameLst>
                                      </p:cBhvr>
                                      <p:tavLst>
                                        <p:tav tm="0">
                                          <p:val>
                                            <p:strVal val="#ppt_x"/>
                                          </p:val>
                                        </p:tav>
                                        <p:tav tm="100000">
                                          <p:val>
                                            <p:strVal val="#ppt_x"/>
                                          </p:val>
                                        </p:tav>
                                      </p:tavLst>
                                    </p:anim>
                                    <p:anim calcmode="lin" valueType="num">
                                      <p:cBhvr>
                                        <p:cTn id="9" dur="405" decel="100000" fill="hold"/>
                                        <p:tgtEl>
                                          <p:spTgt spid="4"/>
                                        </p:tgtEl>
                                        <p:attrNameLst>
                                          <p:attrName>ppt_y</p:attrName>
                                        </p:attrNameLst>
                                      </p:cBhvr>
                                      <p:tavLst>
                                        <p:tav tm="0">
                                          <p:val>
                                            <p:strVal val="#ppt_y+1"/>
                                          </p:val>
                                        </p:tav>
                                        <p:tav tm="100000">
                                          <p:val>
                                            <p:strVal val="#ppt_y-.03"/>
                                          </p:val>
                                        </p:tav>
                                      </p:tavLst>
                                    </p:anim>
                                    <p:anim calcmode="lin" valueType="num">
                                      <p:cBhvr>
                                        <p:cTn id="10" dur="45" accel="100000" fill="hold">
                                          <p:stCondLst>
                                            <p:cond delay="405"/>
                                          </p:stCondLst>
                                        </p:cTn>
                                        <p:tgtEl>
                                          <p:spTgt spid="4"/>
                                        </p:tgtEl>
                                        <p:attrNameLst>
                                          <p:attrName>ppt_y</p:attrName>
                                        </p:attrNameLst>
                                      </p:cBhvr>
                                      <p:tavLst>
                                        <p:tav tm="0">
                                          <p:val>
                                            <p:strVal val="#ppt_y-.03"/>
                                          </p:val>
                                        </p:tav>
                                        <p:tav tm="100000">
                                          <p:val>
                                            <p:strVal val="#ppt_y"/>
                                          </p:val>
                                        </p:tav>
                                      </p:tavLst>
                                    </p:anim>
                                  </p:childTnLst>
                                </p:cTn>
                              </p:par>
                            </p:childTnLst>
                          </p:cTn>
                        </p:par>
                        <p:par>
                          <p:cTn id="11" fill="hold">
                            <p:stCondLst>
                              <p:cond delay="450"/>
                            </p:stCondLst>
                            <p:childTnLst>
                              <p:par>
                                <p:cTn id="12" presetID="37"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anim calcmode="lin" valueType="num">
                                      <p:cBhvr>
                                        <p:cTn id="15" dur="450" fill="hold"/>
                                        <p:tgtEl>
                                          <p:spTgt spid="5"/>
                                        </p:tgtEl>
                                        <p:attrNameLst>
                                          <p:attrName>ppt_x</p:attrName>
                                        </p:attrNameLst>
                                      </p:cBhvr>
                                      <p:tavLst>
                                        <p:tav tm="0">
                                          <p:val>
                                            <p:strVal val="#ppt_x"/>
                                          </p:val>
                                        </p:tav>
                                        <p:tav tm="100000">
                                          <p:val>
                                            <p:strVal val="#ppt_x"/>
                                          </p:val>
                                        </p:tav>
                                      </p:tavLst>
                                    </p:anim>
                                    <p:anim calcmode="lin" valueType="num">
                                      <p:cBhvr>
                                        <p:cTn id="16" dur="405" decel="100000" fill="hold"/>
                                        <p:tgtEl>
                                          <p:spTgt spid="5"/>
                                        </p:tgtEl>
                                        <p:attrNameLst>
                                          <p:attrName>ppt_y</p:attrName>
                                        </p:attrNameLst>
                                      </p:cBhvr>
                                      <p:tavLst>
                                        <p:tav tm="0">
                                          <p:val>
                                            <p:strVal val="#ppt_y+1"/>
                                          </p:val>
                                        </p:tav>
                                        <p:tav tm="100000">
                                          <p:val>
                                            <p:strVal val="#ppt_y-.03"/>
                                          </p:val>
                                        </p:tav>
                                      </p:tavLst>
                                    </p:anim>
                                    <p:anim calcmode="lin" valueType="num">
                                      <p:cBhvr>
                                        <p:cTn id="17" dur="45" accel="100000" fill="hold">
                                          <p:stCondLst>
                                            <p:cond delay="405"/>
                                          </p:stCondLst>
                                        </p:cTn>
                                        <p:tgtEl>
                                          <p:spTgt spid="5"/>
                                        </p:tgtEl>
                                        <p:attrNameLst>
                                          <p:attrName>ppt_y</p:attrName>
                                        </p:attrNameLst>
                                      </p:cBhvr>
                                      <p:tavLst>
                                        <p:tav tm="0">
                                          <p:val>
                                            <p:strVal val="#ppt_y-.03"/>
                                          </p:val>
                                        </p:tav>
                                        <p:tav tm="100000">
                                          <p:val>
                                            <p:strVal val="#ppt_y"/>
                                          </p:val>
                                        </p:tav>
                                      </p:tavLst>
                                    </p:anim>
                                  </p:childTnLst>
                                </p:cTn>
                              </p:par>
                            </p:childTnLst>
                          </p:cTn>
                        </p:par>
                        <p:par>
                          <p:cTn id="18" fill="hold">
                            <p:stCondLst>
                              <p:cond delay="900"/>
                            </p:stCondLst>
                            <p:childTnLst>
                              <p:par>
                                <p:cTn id="19" presetID="37" presetClass="entr" presetSubtype="0"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450"/>
                                        <p:tgtEl>
                                          <p:spTgt spid="6"/>
                                        </p:tgtEl>
                                      </p:cBhvr>
                                    </p:animEffect>
                                    <p:anim calcmode="lin" valueType="num">
                                      <p:cBhvr>
                                        <p:cTn id="22" dur="450" fill="hold"/>
                                        <p:tgtEl>
                                          <p:spTgt spid="6"/>
                                        </p:tgtEl>
                                        <p:attrNameLst>
                                          <p:attrName>ppt_x</p:attrName>
                                        </p:attrNameLst>
                                      </p:cBhvr>
                                      <p:tavLst>
                                        <p:tav tm="0">
                                          <p:val>
                                            <p:strVal val="#ppt_x"/>
                                          </p:val>
                                        </p:tav>
                                        <p:tav tm="100000">
                                          <p:val>
                                            <p:strVal val="#ppt_x"/>
                                          </p:val>
                                        </p:tav>
                                      </p:tavLst>
                                    </p:anim>
                                    <p:anim calcmode="lin" valueType="num">
                                      <p:cBhvr>
                                        <p:cTn id="23" dur="405" decel="100000" fill="hold"/>
                                        <p:tgtEl>
                                          <p:spTgt spid="6"/>
                                        </p:tgtEl>
                                        <p:attrNameLst>
                                          <p:attrName>ppt_y</p:attrName>
                                        </p:attrNameLst>
                                      </p:cBhvr>
                                      <p:tavLst>
                                        <p:tav tm="0">
                                          <p:val>
                                            <p:strVal val="#ppt_y+1"/>
                                          </p:val>
                                        </p:tav>
                                        <p:tav tm="100000">
                                          <p:val>
                                            <p:strVal val="#ppt_y-.03"/>
                                          </p:val>
                                        </p:tav>
                                      </p:tavLst>
                                    </p:anim>
                                    <p:anim calcmode="lin" valueType="num">
                                      <p:cBhvr>
                                        <p:cTn id="24" dur="45" accel="100000" fill="hold">
                                          <p:stCondLst>
                                            <p:cond delay="405"/>
                                          </p:stCondLst>
                                        </p:cTn>
                                        <p:tgtEl>
                                          <p:spTgt spid="6"/>
                                        </p:tgtEl>
                                        <p:attrNameLst>
                                          <p:attrName>ppt_y</p:attrName>
                                        </p:attrNameLst>
                                      </p:cBhvr>
                                      <p:tavLst>
                                        <p:tav tm="0">
                                          <p:val>
                                            <p:strVal val="#ppt_y-.03"/>
                                          </p:val>
                                        </p:tav>
                                        <p:tav tm="100000">
                                          <p:val>
                                            <p:strVal val="#ppt_y"/>
                                          </p:val>
                                        </p:tav>
                                      </p:tavLst>
                                    </p:anim>
                                  </p:childTnLst>
                                </p:cTn>
                              </p:par>
                            </p:childTnLst>
                          </p:cTn>
                        </p:par>
                        <p:par>
                          <p:cTn id="25" fill="hold">
                            <p:stCondLst>
                              <p:cond delay="1350"/>
                            </p:stCondLst>
                            <p:childTnLst>
                              <p:par>
                                <p:cTn id="26" presetID="10" presetClass="entr" presetSubtype="0" fill="hold" grpId="0"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childTnLst>
                                </p:cTn>
                              </p:par>
                            </p:childTnLst>
                          </p:cTn>
                        </p:par>
                        <p:par>
                          <p:cTn id="29" fill="hold">
                            <p:stCondLst>
                              <p:cond delay="1950"/>
                            </p:stCondLst>
                            <p:childTnLst>
                              <p:par>
                                <p:cTn id="30" presetID="10" presetClass="entr" presetSubtype="0" fill="hold" nodeType="after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par>
                          <p:cTn id="33" fill="hold">
                            <p:stCondLst>
                              <p:cond delay="2350"/>
                            </p:stCondLst>
                            <p:childTnLst>
                              <p:par>
                                <p:cTn id="34" presetID="22" presetClass="entr" presetSubtype="8" fill="hold" nodeType="after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left)">
                                      <p:cBhvr>
                                        <p:cTn id="36" dur="500"/>
                                        <p:tgtEl>
                                          <p:spTgt spid="9"/>
                                        </p:tgtEl>
                                      </p:cBhvr>
                                    </p:animEffect>
                                  </p:childTnLst>
                                </p:cTn>
                              </p:par>
                            </p:childTnLst>
                          </p:cTn>
                        </p:par>
                        <p:par>
                          <p:cTn id="37" fill="hold">
                            <p:stCondLst>
                              <p:cond delay="2850"/>
                            </p:stCondLst>
                            <p:childTnLst>
                              <p:par>
                                <p:cTn id="38" presetID="22" presetClass="entr" presetSubtype="8" fill="hold"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left)">
                                      <p:cBhvr>
                                        <p:cTn id="40" dur="500"/>
                                        <p:tgtEl>
                                          <p:spTgt spid="10"/>
                                        </p:tgtEl>
                                      </p:cBhvr>
                                    </p:animEffect>
                                  </p:childTnLst>
                                </p:cTn>
                              </p:par>
                            </p:childTnLst>
                          </p:cTn>
                        </p:par>
                        <p:par>
                          <p:cTn id="41" fill="hold">
                            <p:stCondLst>
                              <p:cond delay="3350"/>
                            </p:stCondLst>
                            <p:childTnLst>
                              <p:par>
                                <p:cTn id="42" presetID="23" presetClass="entr" presetSubtype="16"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p:cTn id="44" dur="400" fill="hold"/>
                                        <p:tgtEl>
                                          <p:spTgt spid="11"/>
                                        </p:tgtEl>
                                        <p:attrNameLst>
                                          <p:attrName>ppt_w</p:attrName>
                                        </p:attrNameLst>
                                      </p:cBhvr>
                                      <p:tavLst>
                                        <p:tav tm="0">
                                          <p:val>
                                            <p:fltVal val="0"/>
                                          </p:val>
                                        </p:tav>
                                        <p:tav tm="100000">
                                          <p:val>
                                            <p:strVal val="#ppt_w"/>
                                          </p:val>
                                        </p:tav>
                                      </p:tavLst>
                                    </p:anim>
                                    <p:anim calcmode="lin" valueType="num">
                                      <p:cBhvr>
                                        <p:cTn id="45" dur="400" fill="hold"/>
                                        <p:tgtEl>
                                          <p:spTgt spid="11"/>
                                        </p:tgtEl>
                                        <p:attrNameLst>
                                          <p:attrName>ppt_h</p:attrName>
                                        </p:attrNameLst>
                                      </p:cBhvr>
                                      <p:tavLst>
                                        <p:tav tm="0">
                                          <p:val>
                                            <p:fltVal val="0"/>
                                          </p:val>
                                        </p:tav>
                                        <p:tav tm="100000">
                                          <p:val>
                                            <p:strVal val="#ppt_h"/>
                                          </p:val>
                                        </p:tav>
                                      </p:tavLst>
                                    </p:anim>
                                  </p:childTnLst>
                                </p:cTn>
                              </p:par>
                            </p:childTnLst>
                          </p:cTn>
                        </p:par>
                        <p:par>
                          <p:cTn id="46" fill="hold">
                            <p:stCondLst>
                              <p:cond delay="3750"/>
                            </p:stCondLst>
                            <p:childTnLst>
                              <p:par>
                                <p:cTn id="47" presetID="22" presetClass="entr" presetSubtype="8" fill="hold" nodeType="after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wipe(left)">
                                      <p:cBhvr>
                                        <p:cTn id="49" dur="500"/>
                                        <p:tgtEl>
                                          <p:spTgt spid="12"/>
                                        </p:tgtEl>
                                      </p:cBhvr>
                                    </p:animEffect>
                                  </p:childTnLst>
                                </p:cTn>
                              </p:par>
                            </p:childTnLst>
                          </p:cTn>
                        </p:par>
                        <p:par>
                          <p:cTn id="50" fill="hold">
                            <p:stCondLst>
                              <p:cond delay="4250"/>
                            </p:stCondLst>
                            <p:childTnLst>
                              <p:par>
                                <p:cTn id="51" presetID="22" presetClass="entr" presetSubtype="8" fill="hold" nodeType="after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wipe(left)">
                                      <p:cBhvr>
                                        <p:cTn id="53" dur="500"/>
                                        <p:tgtEl>
                                          <p:spTgt spid="13"/>
                                        </p:tgtEl>
                                      </p:cBhvr>
                                    </p:animEffect>
                                  </p:childTnLst>
                                </p:cTn>
                              </p:par>
                            </p:childTnLst>
                          </p:cTn>
                        </p:par>
                        <p:par>
                          <p:cTn id="54" fill="hold">
                            <p:stCondLst>
                              <p:cond delay="4750"/>
                            </p:stCondLst>
                            <p:childTnLst>
                              <p:par>
                                <p:cTn id="55" presetID="22" presetClass="entr" presetSubtype="8" fill="hold" nodeType="after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500"/>
                                        <p:tgtEl>
                                          <p:spTgt spid="14"/>
                                        </p:tgtEl>
                                      </p:cBhvr>
                                    </p:animEffect>
                                  </p:childTnLst>
                                </p:cTn>
                              </p:par>
                            </p:childTnLst>
                          </p:cTn>
                        </p:par>
                        <p:par>
                          <p:cTn id="58" fill="hold">
                            <p:stCondLst>
                              <p:cond delay="5250"/>
                            </p:stCondLst>
                            <p:childTnLst>
                              <p:par>
                                <p:cTn id="59" presetID="26" presetClass="entr" presetSubtype="0" fill="hold" grpId="0" nodeType="after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wipe(down)">
                                      <p:cBhvr>
                                        <p:cTn id="61" dur="261">
                                          <p:stCondLst>
                                            <p:cond delay="0"/>
                                          </p:stCondLst>
                                        </p:cTn>
                                        <p:tgtEl>
                                          <p:spTgt spid="15"/>
                                        </p:tgtEl>
                                      </p:cBhvr>
                                    </p:animEffect>
                                    <p:anim calcmode="lin" valueType="num">
                                      <p:cBhvr>
                                        <p:cTn id="62" dur="820"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63" dur="299"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64" dur="299" tmFilter="0, 0; 0.125,0.2665; 0.25,0.4; 0.375,0.465; 0.5,0.5;  0.625,0.535; 0.75,0.6; 0.875,0.7335; 1,1">
                                          <p:stCondLst>
                                            <p:cond delay="299"/>
                                          </p:stCondLst>
                                        </p:cTn>
                                        <p:tgtEl>
                                          <p:spTgt spid="15"/>
                                        </p:tgtEl>
                                        <p:attrNameLst>
                                          <p:attrName>ppt_y</p:attrName>
                                        </p:attrNameLst>
                                      </p:cBhvr>
                                      <p:tavLst>
                                        <p:tav tm="0" fmla="#ppt_y-sin(pi*$)/9">
                                          <p:val>
                                            <p:fltVal val="0"/>
                                          </p:val>
                                        </p:tav>
                                        <p:tav tm="100000">
                                          <p:val>
                                            <p:fltVal val="1"/>
                                          </p:val>
                                        </p:tav>
                                      </p:tavLst>
                                    </p:anim>
                                    <p:anim calcmode="lin" valueType="num">
                                      <p:cBhvr>
                                        <p:cTn id="65" dur="149" tmFilter="0, 0; 0.125,0.2665; 0.25,0.4; 0.375,0.465; 0.5,0.5;  0.625,0.535; 0.75,0.6; 0.875,0.7335; 1,1">
                                          <p:stCondLst>
                                            <p:cond delay="596"/>
                                          </p:stCondLst>
                                        </p:cTn>
                                        <p:tgtEl>
                                          <p:spTgt spid="15"/>
                                        </p:tgtEl>
                                        <p:attrNameLst>
                                          <p:attrName>ppt_y</p:attrName>
                                        </p:attrNameLst>
                                      </p:cBhvr>
                                      <p:tavLst>
                                        <p:tav tm="0" fmla="#ppt_y-sin(pi*$)/27">
                                          <p:val>
                                            <p:fltVal val="0"/>
                                          </p:val>
                                        </p:tav>
                                        <p:tav tm="100000">
                                          <p:val>
                                            <p:fltVal val="1"/>
                                          </p:val>
                                        </p:tav>
                                      </p:tavLst>
                                    </p:anim>
                                    <p:anim calcmode="lin" valueType="num">
                                      <p:cBhvr>
                                        <p:cTn id="66" dur="74" tmFilter="0, 0; 0.125,0.2665; 0.25,0.4; 0.375,0.465; 0.5,0.5;  0.625,0.535; 0.75,0.6; 0.875,0.7335; 1,1">
                                          <p:stCondLst>
                                            <p:cond delay="745"/>
                                          </p:stCondLst>
                                        </p:cTn>
                                        <p:tgtEl>
                                          <p:spTgt spid="15"/>
                                        </p:tgtEl>
                                        <p:attrNameLst>
                                          <p:attrName>ppt_y</p:attrName>
                                        </p:attrNameLst>
                                      </p:cBhvr>
                                      <p:tavLst>
                                        <p:tav tm="0" fmla="#ppt_y-sin(pi*$)/81">
                                          <p:val>
                                            <p:fltVal val="0"/>
                                          </p:val>
                                        </p:tav>
                                        <p:tav tm="100000">
                                          <p:val>
                                            <p:fltVal val="1"/>
                                          </p:val>
                                        </p:tav>
                                      </p:tavLst>
                                    </p:anim>
                                    <p:animScale>
                                      <p:cBhvr>
                                        <p:cTn id="67" dur="12">
                                          <p:stCondLst>
                                            <p:cond delay="292"/>
                                          </p:stCondLst>
                                        </p:cTn>
                                        <p:tgtEl>
                                          <p:spTgt spid="15"/>
                                        </p:tgtEl>
                                      </p:cBhvr>
                                      <p:to x="100000" y="60000"/>
                                    </p:animScale>
                                    <p:animScale>
                                      <p:cBhvr>
                                        <p:cTn id="68" dur="75" decel="50000">
                                          <p:stCondLst>
                                            <p:cond delay="304"/>
                                          </p:stCondLst>
                                        </p:cTn>
                                        <p:tgtEl>
                                          <p:spTgt spid="15"/>
                                        </p:tgtEl>
                                      </p:cBhvr>
                                      <p:to x="100000" y="100000"/>
                                    </p:animScale>
                                    <p:animScale>
                                      <p:cBhvr>
                                        <p:cTn id="69" dur="12">
                                          <p:stCondLst>
                                            <p:cond delay="590"/>
                                          </p:stCondLst>
                                        </p:cTn>
                                        <p:tgtEl>
                                          <p:spTgt spid="15"/>
                                        </p:tgtEl>
                                      </p:cBhvr>
                                      <p:to x="100000" y="80000"/>
                                    </p:animScale>
                                    <p:animScale>
                                      <p:cBhvr>
                                        <p:cTn id="70" dur="75" decel="50000">
                                          <p:stCondLst>
                                            <p:cond delay="602"/>
                                          </p:stCondLst>
                                        </p:cTn>
                                        <p:tgtEl>
                                          <p:spTgt spid="15"/>
                                        </p:tgtEl>
                                      </p:cBhvr>
                                      <p:to x="100000" y="100000"/>
                                    </p:animScale>
                                    <p:animScale>
                                      <p:cBhvr>
                                        <p:cTn id="71" dur="12">
                                          <p:stCondLst>
                                            <p:cond delay="739"/>
                                          </p:stCondLst>
                                        </p:cTn>
                                        <p:tgtEl>
                                          <p:spTgt spid="15"/>
                                        </p:tgtEl>
                                      </p:cBhvr>
                                      <p:to x="100000" y="90000"/>
                                    </p:animScale>
                                    <p:animScale>
                                      <p:cBhvr>
                                        <p:cTn id="72" dur="75" decel="50000">
                                          <p:stCondLst>
                                            <p:cond delay="751"/>
                                          </p:stCondLst>
                                        </p:cTn>
                                        <p:tgtEl>
                                          <p:spTgt spid="15"/>
                                        </p:tgtEl>
                                      </p:cBhvr>
                                      <p:to x="100000" y="100000"/>
                                    </p:animScale>
                                    <p:animScale>
                                      <p:cBhvr>
                                        <p:cTn id="73" dur="12">
                                          <p:stCondLst>
                                            <p:cond delay="814"/>
                                          </p:stCondLst>
                                        </p:cTn>
                                        <p:tgtEl>
                                          <p:spTgt spid="15"/>
                                        </p:tgtEl>
                                      </p:cBhvr>
                                      <p:to x="100000" y="95000"/>
                                    </p:animScale>
                                    <p:animScale>
                                      <p:cBhvr>
                                        <p:cTn id="74" dur="75" decel="50000">
                                          <p:stCondLst>
                                            <p:cond delay="825"/>
                                          </p:stCondLst>
                                        </p:cTn>
                                        <p:tgtEl>
                                          <p:spTgt spid="15"/>
                                        </p:tgtEl>
                                      </p:cBhvr>
                                      <p:to x="100000" y="100000"/>
                                    </p:animScale>
                                  </p:childTnLst>
                                </p:cTn>
                              </p:par>
                            </p:childTnLst>
                          </p:cTn>
                        </p:par>
                        <p:par>
                          <p:cTn id="75" fill="hold">
                            <p:stCondLst>
                              <p:cond delay="6150"/>
                            </p:stCondLst>
                            <p:childTnLst>
                              <p:par>
                                <p:cTn id="76" presetID="6" presetClass="emph" presetSubtype="0" autoRev="1" fill="hold" grpId="1" nodeType="afterEffect">
                                  <p:stCondLst>
                                    <p:cond delay="0"/>
                                  </p:stCondLst>
                                  <p:childTnLst>
                                    <p:animScale>
                                      <p:cBhvr>
                                        <p:cTn id="77" dur="350" fill="hold"/>
                                        <p:tgtEl>
                                          <p:spTgt spid="15"/>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1" grpId="0" animBg="1"/>
      <p:bldP spid="15" grpId="0" animBg="1"/>
      <p:bldP spid="15"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eyebrow"/>
          <p:cNvSpPr txBox="1"/>
          <p:nvPr/>
        </p:nvSpPr>
        <p:spPr>
          <a:xfrm>
            <a:off x="812800" y="774700"/>
            <a:ext cx="8890000" cy="254000"/>
          </a:xfrm>
          <a:prstGeom prst="rect">
            <a:avLst/>
          </a:prstGeom>
          <a:noFill/>
          <a:ln/>
        </p:spPr>
        <p:txBody>
          <a:bodyPr wrap="square" lIns="0" tIns="0" rIns="0" bIns="0" rtlCol="0" anchor="ctr"/>
          <a:lstStyle/>
          <a:p>
            <a:pPr marL="0" indent="0">
              <a:buNone/>
            </a:pPr>
            <a:r>
              <a:rPr lang="en-US" sz="1200" b="1" kern="0" spc="300" dirty="0">
                <a:solidFill>
                  <a:srgbClr val="A84A14"/>
                </a:solidFill>
                <a:latin typeface="Calibri" pitchFamily="34" charset="0"/>
                <a:ea typeface="Calibri" pitchFamily="34" charset="-122"/>
                <a:cs typeface="Calibri" pitchFamily="34" charset="-120"/>
              </a:rPr>
              <a:t>APPROACH</a:t>
            </a:r>
            <a:endParaRPr lang="en-US" sz="1200" dirty="0"/>
          </a:p>
        </p:txBody>
      </p:sp>
      <p:sp>
        <p:nvSpPr>
          <p:cNvPr id="3" name="!!title"/>
          <p:cNvSpPr txBox="1"/>
          <p:nvPr/>
        </p:nvSpPr>
        <p:spPr>
          <a:xfrm>
            <a:off x="812800" y="1054100"/>
            <a:ext cx="10566400" cy="558800"/>
          </a:xfrm>
          <a:prstGeom prst="rect">
            <a:avLst/>
          </a:prstGeom>
          <a:noFill/>
          <a:ln/>
        </p:spPr>
        <p:txBody>
          <a:bodyPr wrap="square" lIns="0" tIns="0" rIns="0" bIns="0" rtlCol="0" anchor="ctr"/>
          <a:lstStyle/>
          <a:p>
            <a:pPr marL="0" indent="0">
              <a:buNone/>
            </a:pPr>
            <a:r>
              <a:rPr lang="en-US" sz="3200" b="1" dirty="0">
                <a:solidFill>
                  <a:srgbClr val="14171C"/>
                </a:solidFill>
                <a:latin typeface="Arial" pitchFamily="34" charset="0"/>
                <a:ea typeface="Arial" pitchFamily="34" charset="-122"/>
                <a:cs typeface="Arial" pitchFamily="34" charset="-120"/>
              </a:rPr>
              <a:t>One dish, one signal chain</a:t>
            </a:r>
            <a:endParaRPr lang="en-US" sz="3200" dirty="0"/>
          </a:p>
        </p:txBody>
      </p:sp>
      <p:sp>
        <p:nvSpPr>
          <p:cNvPr id="4" name="s3-card1"/>
          <p:cNvSpPr txBox="1"/>
          <p:nvPr/>
        </p:nvSpPr>
        <p:spPr>
          <a:xfrm>
            <a:off x="812800" y="1879600"/>
            <a:ext cx="1231900" cy="1168400"/>
          </a:xfrm>
          <a:prstGeom prst="roundRect">
            <a:avLst>
              <a:gd name="adj" fmla="val 7826"/>
            </a:avLst>
          </a:prstGeom>
          <a:solidFill>
            <a:srgbClr val="151A21"/>
          </a:solidFill>
          <a:ln w="9525">
            <a:solidFill>
              <a:srgbClr val="2B333E"/>
            </a:solidFill>
          </a:ln>
        </p:spPr>
        <p:txBody>
          <a:bodyPr wrap="square" lIns="127000" tIns="127000" rIns="127000" bIns="127000" rtlCol="0" anchor="t"/>
          <a:lstStyle/>
          <a:p>
            <a:pPr marL="0" indent="0">
              <a:spcAft>
                <a:spcPts val="3000"/>
              </a:spcAft>
              <a:buNone/>
            </a:pPr>
            <a:r>
              <a:rPr lang="en-US" sz="1200" dirty="0">
                <a:solidFill>
                  <a:srgbClr val="E8792B"/>
                </a:solidFill>
                <a:latin typeface="Consolas" pitchFamily="34" charset="0"/>
                <a:ea typeface="Consolas" pitchFamily="34" charset="-122"/>
                <a:cs typeface="Consolas" pitchFamily="34" charset="-120"/>
              </a:rPr>
              <a:t>01</a:t>
            </a:r>
            <a:endParaRPr lang="en-US" sz="1200" dirty="0"/>
          </a:p>
          <a:p>
            <a:pPr marL="0" indent="0">
              <a:spcAft>
                <a:spcPts val="400"/>
              </a:spcAft>
              <a:buNone/>
            </a:pPr>
            <a:r>
              <a:rPr lang="en-US" sz="1400" b="1" dirty="0">
                <a:solidFill>
                  <a:srgbClr val="F6F1E7"/>
                </a:solidFill>
                <a:latin typeface="Arial" pitchFamily="34" charset="0"/>
                <a:ea typeface="Arial" pitchFamily="34" charset="-122"/>
                <a:cs typeface="Arial" pitchFamily="34" charset="-120"/>
              </a:rPr>
              <a:t>Generate</a:t>
            </a:r>
            <a:endParaRPr lang="en-US" sz="1200" dirty="0"/>
          </a:p>
          <a:p>
            <a:pPr marL="0" indent="0">
              <a:buNone/>
            </a:pPr>
            <a:r>
              <a:rPr lang="en-US" sz="1200" dirty="0">
                <a:solidFill>
                  <a:srgbClr val="7FE0D3"/>
                </a:solidFill>
                <a:latin typeface="Consolas" pitchFamily="34" charset="0"/>
                <a:ea typeface="Consolas" pitchFamily="34" charset="-122"/>
                <a:cs typeface="Consolas" pitchFamily="34" charset="-120"/>
              </a:rPr>
              <a:t>x(t)</a:t>
            </a:r>
            <a:endParaRPr lang="en-US" sz="1200" dirty="0"/>
          </a:p>
        </p:txBody>
      </p:sp>
      <p:pic>
        <p:nvPicPr>
          <p:cNvPr id="5" name="s3-ico1" descr="Generate icon"/>
          <p:cNvPicPr>
            <a:picLocks noChangeAspect="1"/>
          </p:cNvPicPr>
          <p:nvPr/>
        </p:nvPicPr>
        <p:blipFill>
          <a:blip r:embed="rId4"/>
          <a:stretch>
            <a:fillRect/>
          </a:stretch>
        </p:blipFill>
        <p:spPr>
          <a:xfrm>
            <a:off x="1574800" y="1943100"/>
            <a:ext cx="368300" cy="368300"/>
          </a:xfrm>
          <a:prstGeom prst="rect">
            <a:avLst/>
          </a:prstGeom>
        </p:spPr>
      </p:pic>
      <p:sp>
        <p:nvSpPr>
          <p:cNvPr id="6" name="s3-card2"/>
          <p:cNvSpPr txBox="1"/>
          <p:nvPr/>
        </p:nvSpPr>
        <p:spPr>
          <a:xfrm>
            <a:off x="2146300" y="1879600"/>
            <a:ext cx="1231900" cy="1168400"/>
          </a:xfrm>
          <a:prstGeom prst="roundRect">
            <a:avLst>
              <a:gd name="adj" fmla="val 7826"/>
            </a:avLst>
          </a:prstGeom>
          <a:solidFill>
            <a:srgbClr val="151A21"/>
          </a:solidFill>
          <a:ln w="9525">
            <a:solidFill>
              <a:srgbClr val="2B333E"/>
            </a:solidFill>
          </a:ln>
        </p:spPr>
        <p:txBody>
          <a:bodyPr wrap="square" lIns="127000" tIns="127000" rIns="127000" bIns="127000" rtlCol="0" anchor="t"/>
          <a:lstStyle/>
          <a:p>
            <a:pPr marL="0" indent="0">
              <a:spcAft>
                <a:spcPts val="3000"/>
              </a:spcAft>
              <a:buNone/>
            </a:pPr>
            <a:r>
              <a:rPr lang="en-US" sz="1200" dirty="0">
                <a:solidFill>
                  <a:srgbClr val="E8792B"/>
                </a:solidFill>
                <a:latin typeface="Consolas" pitchFamily="34" charset="0"/>
                <a:ea typeface="Consolas" pitchFamily="34" charset="-122"/>
                <a:cs typeface="Consolas" pitchFamily="34" charset="-120"/>
              </a:rPr>
              <a:t>02</a:t>
            </a:r>
            <a:endParaRPr lang="en-US" sz="1200" dirty="0"/>
          </a:p>
          <a:p>
            <a:pPr marL="0" indent="0">
              <a:spcAft>
                <a:spcPts val="400"/>
              </a:spcAft>
              <a:buNone/>
            </a:pPr>
            <a:r>
              <a:rPr lang="en-US" sz="1400" b="1" dirty="0">
                <a:solidFill>
                  <a:srgbClr val="F6F1E7"/>
                </a:solidFill>
                <a:latin typeface="Arial" pitchFamily="34" charset="0"/>
                <a:ea typeface="Arial" pitchFamily="34" charset="-122"/>
                <a:cs typeface="Arial" pitchFamily="34" charset="-120"/>
              </a:rPr>
              <a:t>Wash</a:t>
            </a:r>
            <a:endParaRPr lang="en-US" sz="1200" dirty="0"/>
          </a:p>
          <a:p>
            <a:pPr marL="0" indent="0">
              <a:buNone/>
            </a:pPr>
            <a:r>
              <a:rPr lang="en-US" sz="1200" dirty="0">
                <a:solidFill>
                  <a:srgbClr val="7FE0D3"/>
                </a:solidFill>
                <a:latin typeface="Consolas" pitchFamily="34" charset="0"/>
                <a:ea typeface="Consolas" pitchFamily="34" charset="-122"/>
                <a:cs typeface="Consolas" pitchFamily="34" charset="-120"/>
              </a:rPr>
              <a:t>H(f)·X(f)</a:t>
            </a:r>
            <a:endParaRPr lang="en-US" sz="1200" dirty="0"/>
          </a:p>
        </p:txBody>
      </p:sp>
      <p:pic>
        <p:nvPicPr>
          <p:cNvPr id="7" name="s3-ico2" descr="Wash icon"/>
          <p:cNvPicPr>
            <a:picLocks noChangeAspect="1"/>
          </p:cNvPicPr>
          <p:nvPr/>
        </p:nvPicPr>
        <p:blipFill>
          <a:blip r:embed="rId5"/>
          <a:stretch>
            <a:fillRect/>
          </a:stretch>
        </p:blipFill>
        <p:spPr>
          <a:xfrm>
            <a:off x="2908300" y="1943100"/>
            <a:ext cx="368300" cy="368300"/>
          </a:xfrm>
          <a:prstGeom prst="rect">
            <a:avLst/>
          </a:prstGeom>
        </p:spPr>
      </p:pic>
      <p:sp>
        <p:nvSpPr>
          <p:cNvPr id="8" name="s3-card3"/>
          <p:cNvSpPr txBox="1"/>
          <p:nvPr/>
        </p:nvSpPr>
        <p:spPr>
          <a:xfrm>
            <a:off x="3479800" y="1879600"/>
            <a:ext cx="1231900" cy="1168400"/>
          </a:xfrm>
          <a:prstGeom prst="roundRect">
            <a:avLst>
              <a:gd name="adj" fmla="val 7826"/>
            </a:avLst>
          </a:prstGeom>
          <a:solidFill>
            <a:srgbClr val="151A21"/>
          </a:solidFill>
          <a:ln w="9525">
            <a:solidFill>
              <a:srgbClr val="2B333E"/>
            </a:solidFill>
          </a:ln>
        </p:spPr>
        <p:txBody>
          <a:bodyPr wrap="square" lIns="127000" tIns="127000" rIns="127000" bIns="127000" rtlCol="0" anchor="t"/>
          <a:lstStyle/>
          <a:p>
            <a:pPr marL="0" indent="0">
              <a:spcAft>
                <a:spcPts val="3000"/>
              </a:spcAft>
              <a:buNone/>
            </a:pPr>
            <a:r>
              <a:rPr lang="en-US" sz="1200" dirty="0">
                <a:solidFill>
                  <a:srgbClr val="E8792B"/>
                </a:solidFill>
                <a:latin typeface="Consolas" pitchFamily="34" charset="0"/>
                <a:ea typeface="Consolas" pitchFamily="34" charset="-122"/>
                <a:cs typeface="Consolas" pitchFamily="34" charset="-120"/>
              </a:rPr>
              <a:t>03</a:t>
            </a:r>
            <a:endParaRPr lang="en-US" sz="1200" dirty="0"/>
          </a:p>
          <a:p>
            <a:pPr marL="0" indent="0">
              <a:spcAft>
                <a:spcPts val="400"/>
              </a:spcAft>
              <a:buNone/>
            </a:pPr>
            <a:r>
              <a:rPr lang="en-US" sz="1400" b="1" dirty="0">
                <a:solidFill>
                  <a:srgbClr val="F6F1E7"/>
                </a:solidFill>
                <a:latin typeface="Arial" pitchFamily="34" charset="0"/>
                <a:ea typeface="Arial" pitchFamily="34" charset="-122"/>
                <a:cs typeface="Arial" pitchFamily="34" charset="-120"/>
              </a:rPr>
              <a:t>Mix</a:t>
            </a:r>
            <a:endParaRPr lang="en-US" sz="1200" dirty="0"/>
          </a:p>
          <a:p>
            <a:pPr marL="0" indent="0">
              <a:buNone/>
            </a:pPr>
            <a:r>
              <a:rPr lang="en-US" sz="1200" dirty="0">
                <a:solidFill>
                  <a:srgbClr val="7FE0D3"/>
                </a:solidFill>
                <a:latin typeface="Consolas" pitchFamily="34" charset="0"/>
                <a:ea typeface="Consolas" pitchFamily="34" charset="-122"/>
                <a:cs typeface="Consolas" pitchFamily="34" charset="-120"/>
              </a:rPr>
              <a:t>Σxₖ/√K</a:t>
            </a:r>
            <a:endParaRPr lang="en-US" sz="1200" dirty="0"/>
          </a:p>
        </p:txBody>
      </p:sp>
      <p:pic>
        <p:nvPicPr>
          <p:cNvPr id="9" name="s3-ico3" descr="Mix icon"/>
          <p:cNvPicPr>
            <a:picLocks noChangeAspect="1"/>
          </p:cNvPicPr>
          <p:nvPr/>
        </p:nvPicPr>
        <p:blipFill>
          <a:blip r:embed="rId6"/>
          <a:stretch>
            <a:fillRect/>
          </a:stretch>
        </p:blipFill>
        <p:spPr>
          <a:xfrm>
            <a:off x="4241800" y="1943100"/>
            <a:ext cx="368300" cy="368300"/>
          </a:xfrm>
          <a:prstGeom prst="rect">
            <a:avLst/>
          </a:prstGeom>
        </p:spPr>
      </p:pic>
      <p:sp>
        <p:nvSpPr>
          <p:cNvPr id="10" name="s3-card4"/>
          <p:cNvSpPr txBox="1"/>
          <p:nvPr/>
        </p:nvSpPr>
        <p:spPr>
          <a:xfrm>
            <a:off x="4813300" y="1879600"/>
            <a:ext cx="1231900" cy="1168400"/>
          </a:xfrm>
          <a:prstGeom prst="roundRect">
            <a:avLst>
              <a:gd name="adj" fmla="val 7826"/>
            </a:avLst>
          </a:prstGeom>
          <a:solidFill>
            <a:srgbClr val="151A21"/>
          </a:solidFill>
          <a:ln w="9525">
            <a:solidFill>
              <a:srgbClr val="2B333E"/>
            </a:solidFill>
          </a:ln>
        </p:spPr>
        <p:txBody>
          <a:bodyPr wrap="square" lIns="127000" tIns="127000" rIns="127000" bIns="127000" rtlCol="0" anchor="t"/>
          <a:lstStyle/>
          <a:p>
            <a:pPr marL="0" indent="0">
              <a:spcAft>
                <a:spcPts val="3000"/>
              </a:spcAft>
              <a:buNone/>
            </a:pPr>
            <a:r>
              <a:rPr lang="en-US" sz="1200" dirty="0">
                <a:solidFill>
                  <a:srgbClr val="E8792B"/>
                </a:solidFill>
                <a:latin typeface="Consolas" pitchFamily="34" charset="0"/>
                <a:ea typeface="Consolas" pitchFamily="34" charset="-122"/>
                <a:cs typeface="Consolas" pitchFamily="34" charset="-120"/>
              </a:rPr>
              <a:t>04</a:t>
            </a:r>
            <a:endParaRPr lang="en-US" sz="1200" dirty="0"/>
          </a:p>
          <a:p>
            <a:pPr marL="0" indent="0">
              <a:spcAft>
                <a:spcPts val="400"/>
              </a:spcAft>
              <a:buNone/>
            </a:pPr>
            <a:r>
              <a:rPr lang="en-US" sz="1400" b="1" dirty="0">
                <a:solidFill>
                  <a:srgbClr val="F6F1E7"/>
                </a:solidFill>
                <a:latin typeface="Arial" pitchFamily="34" charset="0"/>
                <a:ea typeface="Arial" pitchFamily="34" charset="-122"/>
                <a:cs typeface="Arial" pitchFamily="34" charset="-120"/>
              </a:rPr>
              <a:t>Season</a:t>
            </a:r>
            <a:endParaRPr lang="en-US" sz="1200" dirty="0"/>
          </a:p>
          <a:p>
            <a:pPr marL="0" indent="0">
              <a:buNone/>
            </a:pPr>
            <a:r>
              <a:rPr lang="en-US" sz="1200" dirty="0">
                <a:solidFill>
                  <a:srgbClr val="7FE0D3"/>
                </a:solidFill>
                <a:latin typeface="Consolas" pitchFamily="34" charset="0"/>
                <a:ea typeface="Consolas" pitchFamily="34" charset="-122"/>
                <a:cs typeface="Consolas" pitchFamily="34" charset="-120"/>
              </a:rPr>
              <a:t>A·x(αt)</a:t>
            </a:r>
            <a:endParaRPr lang="en-US" sz="1200" dirty="0"/>
          </a:p>
        </p:txBody>
      </p:sp>
      <p:pic>
        <p:nvPicPr>
          <p:cNvPr id="11" name="s3-ico4" descr="Season icon"/>
          <p:cNvPicPr>
            <a:picLocks noChangeAspect="1"/>
          </p:cNvPicPr>
          <p:nvPr/>
        </p:nvPicPr>
        <p:blipFill>
          <a:blip r:embed="rId7"/>
          <a:stretch>
            <a:fillRect/>
          </a:stretch>
        </p:blipFill>
        <p:spPr>
          <a:xfrm>
            <a:off x="5575300" y="1943100"/>
            <a:ext cx="368300" cy="368300"/>
          </a:xfrm>
          <a:prstGeom prst="rect">
            <a:avLst/>
          </a:prstGeom>
        </p:spPr>
      </p:pic>
      <p:sp>
        <p:nvSpPr>
          <p:cNvPr id="12" name="s3-card5"/>
          <p:cNvSpPr txBox="1"/>
          <p:nvPr/>
        </p:nvSpPr>
        <p:spPr>
          <a:xfrm>
            <a:off x="6146800" y="1879600"/>
            <a:ext cx="1231900" cy="1168400"/>
          </a:xfrm>
          <a:prstGeom prst="roundRect">
            <a:avLst>
              <a:gd name="adj" fmla="val 7826"/>
            </a:avLst>
          </a:prstGeom>
          <a:solidFill>
            <a:srgbClr val="151A21"/>
          </a:solidFill>
          <a:ln w="9525">
            <a:solidFill>
              <a:srgbClr val="2B333E"/>
            </a:solidFill>
          </a:ln>
        </p:spPr>
        <p:txBody>
          <a:bodyPr wrap="square" lIns="127000" tIns="127000" rIns="127000" bIns="127000" rtlCol="0" anchor="t"/>
          <a:lstStyle/>
          <a:p>
            <a:pPr marL="0" indent="0">
              <a:spcAft>
                <a:spcPts val="3000"/>
              </a:spcAft>
              <a:buNone/>
            </a:pPr>
            <a:r>
              <a:rPr lang="en-US" sz="1200" dirty="0">
                <a:solidFill>
                  <a:srgbClr val="E8792B"/>
                </a:solidFill>
                <a:latin typeface="Consolas" pitchFamily="34" charset="0"/>
                <a:ea typeface="Consolas" pitchFamily="34" charset="-122"/>
                <a:cs typeface="Consolas" pitchFamily="34" charset="-120"/>
              </a:rPr>
              <a:t>05</a:t>
            </a:r>
            <a:endParaRPr lang="en-US" sz="1200" dirty="0"/>
          </a:p>
          <a:p>
            <a:pPr marL="0" indent="0">
              <a:spcAft>
                <a:spcPts val="400"/>
              </a:spcAft>
              <a:buNone/>
            </a:pPr>
            <a:r>
              <a:rPr lang="en-US" sz="1400" b="1" dirty="0">
                <a:solidFill>
                  <a:srgbClr val="F6F1E7"/>
                </a:solidFill>
                <a:latin typeface="Arial" pitchFamily="34" charset="0"/>
                <a:ea typeface="Arial" pitchFamily="34" charset="-122"/>
                <a:cs typeface="Arial" pitchFamily="34" charset="-120"/>
              </a:rPr>
              <a:t>Marinate</a:t>
            </a:r>
            <a:endParaRPr lang="en-US" sz="1200" dirty="0"/>
          </a:p>
          <a:p>
            <a:pPr marL="0" indent="0">
              <a:buNone/>
            </a:pPr>
            <a:r>
              <a:rPr lang="en-US" sz="1200" dirty="0">
                <a:solidFill>
                  <a:srgbClr val="7FE0D3"/>
                </a:solidFill>
                <a:latin typeface="Consolas" pitchFamily="34" charset="0"/>
                <a:ea typeface="Consolas" pitchFamily="34" charset="-122"/>
                <a:cs typeface="Consolas" pitchFamily="34" charset="-120"/>
              </a:rPr>
              <a:t>x(t−t₀)</a:t>
            </a:r>
            <a:endParaRPr lang="en-US" sz="1200" dirty="0"/>
          </a:p>
        </p:txBody>
      </p:sp>
      <p:pic>
        <p:nvPicPr>
          <p:cNvPr id="13" name="s3-ico5" descr="Marinate icon"/>
          <p:cNvPicPr>
            <a:picLocks noChangeAspect="1"/>
          </p:cNvPicPr>
          <p:nvPr/>
        </p:nvPicPr>
        <p:blipFill>
          <a:blip r:embed="rId8"/>
          <a:stretch>
            <a:fillRect/>
          </a:stretch>
        </p:blipFill>
        <p:spPr>
          <a:xfrm>
            <a:off x="6908800" y="1943100"/>
            <a:ext cx="368300" cy="368300"/>
          </a:xfrm>
          <a:prstGeom prst="rect">
            <a:avLst/>
          </a:prstGeom>
        </p:spPr>
      </p:pic>
      <p:sp>
        <p:nvSpPr>
          <p:cNvPr id="14" name="s3-card6"/>
          <p:cNvSpPr txBox="1"/>
          <p:nvPr/>
        </p:nvSpPr>
        <p:spPr>
          <a:xfrm>
            <a:off x="7480300" y="1879600"/>
            <a:ext cx="1231900" cy="1168400"/>
          </a:xfrm>
          <a:prstGeom prst="roundRect">
            <a:avLst>
              <a:gd name="adj" fmla="val 7826"/>
            </a:avLst>
          </a:prstGeom>
          <a:solidFill>
            <a:srgbClr val="151A21"/>
          </a:solidFill>
          <a:ln w="9525">
            <a:solidFill>
              <a:srgbClr val="2B333E"/>
            </a:solidFill>
          </a:ln>
        </p:spPr>
        <p:txBody>
          <a:bodyPr wrap="square" lIns="127000" tIns="127000" rIns="127000" bIns="127000" rtlCol="0" anchor="t"/>
          <a:lstStyle/>
          <a:p>
            <a:pPr marL="0" indent="0">
              <a:spcAft>
                <a:spcPts val="3000"/>
              </a:spcAft>
              <a:buNone/>
            </a:pPr>
            <a:r>
              <a:rPr lang="en-US" sz="1200" dirty="0">
                <a:solidFill>
                  <a:srgbClr val="E8792B"/>
                </a:solidFill>
                <a:latin typeface="Consolas" pitchFamily="34" charset="0"/>
                <a:ea typeface="Consolas" pitchFamily="34" charset="-122"/>
                <a:cs typeface="Consolas" pitchFamily="34" charset="-120"/>
              </a:rPr>
              <a:t>06</a:t>
            </a:r>
            <a:endParaRPr lang="en-US" sz="1200" dirty="0"/>
          </a:p>
          <a:p>
            <a:pPr marL="0" indent="0">
              <a:spcAft>
                <a:spcPts val="400"/>
              </a:spcAft>
              <a:buNone/>
            </a:pPr>
            <a:r>
              <a:rPr lang="en-US" sz="1400" b="1" dirty="0">
                <a:solidFill>
                  <a:srgbClr val="F6F1E7"/>
                </a:solidFill>
                <a:latin typeface="Arial" pitchFamily="34" charset="0"/>
                <a:ea typeface="Arial" pitchFamily="34" charset="-122"/>
                <a:cs typeface="Arial" pitchFamily="34" charset="-120"/>
              </a:rPr>
              <a:t>Cook</a:t>
            </a:r>
            <a:endParaRPr lang="en-US" sz="1200" dirty="0"/>
          </a:p>
          <a:p>
            <a:pPr marL="0" indent="0">
              <a:buNone/>
            </a:pPr>
            <a:r>
              <a:rPr lang="en-US" sz="1200" dirty="0">
                <a:solidFill>
                  <a:srgbClr val="7FE0D3"/>
                </a:solidFill>
                <a:latin typeface="Consolas" pitchFamily="34" charset="0"/>
                <a:ea typeface="Consolas" pitchFamily="34" charset="-122"/>
                <a:cs typeface="Consolas" pitchFamily="34" charset="-120"/>
              </a:rPr>
              <a:t>x * h</a:t>
            </a:r>
            <a:endParaRPr lang="en-US" sz="1200" dirty="0"/>
          </a:p>
        </p:txBody>
      </p:sp>
      <p:pic>
        <p:nvPicPr>
          <p:cNvPr id="15" name="s3-ico6" descr="Cook icon"/>
          <p:cNvPicPr>
            <a:picLocks noChangeAspect="1"/>
          </p:cNvPicPr>
          <p:nvPr/>
        </p:nvPicPr>
        <p:blipFill>
          <a:blip r:embed="rId9"/>
          <a:stretch>
            <a:fillRect/>
          </a:stretch>
        </p:blipFill>
        <p:spPr>
          <a:xfrm>
            <a:off x="8242300" y="1943100"/>
            <a:ext cx="368300" cy="368300"/>
          </a:xfrm>
          <a:prstGeom prst="rect">
            <a:avLst/>
          </a:prstGeom>
        </p:spPr>
      </p:pic>
      <p:sp>
        <p:nvSpPr>
          <p:cNvPr id="16" name="s3-card7"/>
          <p:cNvSpPr txBox="1"/>
          <p:nvPr/>
        </p:nvSpPr>
        <p:spPr>
          <a:xfrm>
            <a:off x="8813800" y="1879600"/>
            <a:ext cx="1231900" cy="1168400"/>
          </a:xfrm>
          <a:prstGeom prst="roundRect">
            <a:avLst>
              <a:gd name="adj" fmla="val 7826"/>
            </a:avLst>
          </a:prstGeom>
          <a:solidFill>
            <a:srgbClr val="151A21"/>
          </a:solidFill>
          <a:ln w="19050">
            <a:solidFill>
              <a:srgbClr val="E8792B"/>
            </a:solidFill>
          </a:ln>
        </p:spPr>
        <p:txBody>
          <a:bodyPr wrap="square" lIns="127000" tIns="127000" rIns="127000" bIns="127000" rtlCol="0" anchor="t"/>
          <a:lstStyle/>
          <a:p>
            <a:pPr marL="0" indent="0">
              <a:spcAft>
                <a:spcPts val="3000"/>
              </a:spcAft>
              <a:buNone/>
            </a:pPr>
            <a:r>
              <a:rPr lang="en-US" sz="1200" dirty="0">
                <a:solidFill>
                  <a:srgbClr val="E8792B"/>
                </a:solidFill>
                <a:latin typeface="Consolas" pitchFamily="34" charset="0"/>
                <a:ea typeface="Consolas" pitchFamily="34" charset="-122"/>
                <a:cs typeface="Consolas" pitchFamily="34" charset="-120"/>
              </a:rPr>
              <a:t>07</a:t>
            </a:r>
            <a:endParaRPr lang="en-US" sz="1200" dirty="0"/>
          </a:p>
          <a:p>
            <a:pPr marL="0" indent="0">
              <a:spcAft>
                <a:spcPts val="400"/>
              </a:spcAft>
              <a:buNone/>
            </a:pPr>
            <a:r>
              <a:rPr lang="en-US" sz="1400" b="1" dirty="0">
                <a:solidFill>
                  <a:srgbClr val="F6F1E7"/>
                </a:solidFill>
                <a:latin typeface="Arial" pitchFamily="34" charset="0"/>
                <a:ea typeface="Arial" pitchFamily="34" charset="-122"/>
                <a:cs typeface="Arial" pitchFamily="34" charset="-120"/>
              </a:rPr>
              <a:t>Oven</a:t>
            </a:r>
            <a:endParaRPr lang="en-US" sz="1200" dirty="0"/>
          </a:p>
          <a:p>
            <a:pPr marL="0" indent="0">
              <a:buNone/>
            </a:pPr>
            <a:r>
              <a:rPr lang="en-US" sz="1200" dirty="0">
                <a:solidFill>
                  <a:srgbClr val="7FE0D3"/>
                </a:solidFill>
                <a:latin typeface="Consolas" pitchFamily="34" charset="0"/>
                <a:ea typeface="Consolas" pitchFamily="34" charset="-122"/>
                <a:cs typeface="Consolas" pitchFamily="34" charset="-120"/>
              </a:rPr>
              <a:t>DFT·Q·IDFT</a:t>
            </a:r>
            <a:endParaRPr lang="en-US" sz="1200" dirty="0"/>
          </a:p>
        </p:txBody>
      </p:sp>
      <p:pic>
        <p:nvPicPr>
          <p:cNvPr id="17" name="s3-ico7" descr="Oven icon"/>
          <p:cNvPicPr>
            <a:picLocks noChangeAspect="1"/>
          </p:cNvPicPr>
          <p:nvPr/>
        </p:nvPicPr>
        <p:blipFill>
          <a:blip r:embed="rId10"/>
          <a:stretch>
            <a:fillRect/>
          </a:stretch>
        </p:blipFill>
        <p:spPr>
          <a:xfrm>
            <a:off x="9575800" y="1943100"/>
            <a:ext cx="368300" cy="368300"/>
          </a:xfrm>
          <a:prstGeom prst="rect">
            <a:avLst/>
          </a:prstGeom>
        </p:spPr>
      </p:pic>
      <p:sp>
        <p:nvSpPr>
          <p:cNvPr id="18" name="s3-card8"/>
          <p:cNvSpPr txBox="1"/>
          <p:nvPr/>
        </p:nvSpPr>
        <p:spPr>
          <a:xfrm>
            <a:off x="10147300" y="1879600"/>
            <a:ext cx="1231900" cy="1168400"/>
          </a:xfrm>
          <a:prstGeom prst="roundRect">
            <a:avLst>
              <a:gd name="adj" fmla="val 7826"/>
            </a:avLst>
          </a:prstGeom>
          <a:solidFill>
            <a:srgbClr val="151A21"/>
          </a:solidFill>
          <a:ln w="19050">
            <a:solidFill>
              <a:srgbClr val="E8792B"/>
            </a:solidFill>
          </a:ln>
        </p:spPr>
        <p:txBody>
          <a:bodyPr wrap="square" lIns="127000" tIns="127000" rIns="127000" bIns="127000" rtlCol="0" anchor="t"/>
          <a:lstStyle/>
          <a:p>
            <a:pPr marL="0" indent="0">
              <a:spcAft>
                <a:spcPts val="3000"/>
              </a:spcAft>
              <a:buNone/>
            </a:pPr>
            <a:r>
              <a:rPr lang="en-US" sz="1200" dirty="0">
                <a:solidFill>
                  <a:srgbClr val="E8792B"/>
                </a:solidFill>
                <a:latin typeface="Consolas" pitchFamily="34" charset="0"/>
                <a:ea typeface="Consolas" pitchFamily="34" charset="-122"/>
                <a:cs typeface="Consolas" pitchFamily="34" charset="-120"/>
              </a:rPr>
              <a:t>08</a:t>
            </a:r>
            <a:endParaRPr lang="en-US" sz="1200" dirty="0"/>
          </a:p>
          <a:p>
            <a:pPr marL="0" indent="0">
              <a:spcAft>
                <a:spcPts val="400"/>
              </a:spcAft>
              <a:buNone/>
            </a:pPr>
            <a:r>
              <a:rPr lang="en-US" sz="1400" b="1" dirty="0">
                <a:solidFill>
                  <a:srgbClr val="F6F1E7"/>
                </a:solidFill>
                <a:latin typeface="Arial" pitchFamily="34" charset="0"/>
                <a:ea typeface="Arial" pitchFamily="34" charset="-122"/>
                <a:cs typeface="Arial" pitchFamily="34" charset="-120"/>
              </a:rPr>
              <a:t>Deliver</a:t>
            </a:r>
            <a:endParaRPr lang="en-US" sz="1200" dirty="0"/>
          </a:p>
          <a:p>
            <a:pPr marL="0" indent="0">
              <a:buNone/>
            </a:pPr>
            <a:r>
              <a:rPr lang="en-US" sz="1200" dirty="0">
                <a:solidFill>
                  <a:srgbClr val="7FE0D3"/>
                </a:solidFill>
                <a:latin typeface="Consolas" pitchFamily="34" charset="0"/>
                <a:ea typeface="Consolas" pitchFamily="34" charset="-122"/>
                <a:cs typeface="Consolas" pitchFamily="34" charset="-120"/>
              </a:rPr>
              <a:t>H(z)</a:t>
            </a:r>
            <a:endParaRPr lang="en-US" sz="1200" dirty="0"/>
          </a:p>
        </p:txBody>
      </p:sp>
      <p:pic>
        <p:nvPicPr>
          <p:cNvPr id="19" name="s3-ico8" descr="Deliver icon"/>
          <p:cNvPicPr>
            <a:picLocks noChangeAspect="1"/>
          </p:cNvPicPr>
          <p:nvPr/>
        </p:nvPicPr>
        <p:blipFill>
          <a:blip r:embed="rId11"/>
          <a:stretch>
            <a:fillRect/>
          </a:stretch>
        </p:blipFill>
        <p:spPr>
          <a:xfrm>
            <a:off x="10909300" y="1943100"/>
            <a:ext cx="368300" cy="368300"/>
          </a:xfrm>
          <a:prstGeom prst="rect">
            <a:avLst/>
          </a:prstGeom>
        </p:spPr>
      </p:pic>
      <p:sp>
        <p:nvSpPr>
          <p:cNvPr id="20" name="s3-wire"/>
          <p:cNvSpPr/>
          <p:nvPr/>
        </p:nvSpPr>
        <p:spPr>
          <a:xfrm>
            <a:off x="812800" y="3213100"/>
            <a:ext cx="10566400" cy="0"/>
          </a:xfrm>
          <a:prstGeom prst="line">
            <a:avLst/>
          </a:prstGeom>
          <a:noFill/>
          <a:ln w="25400">
            <a:solidFill>
              <a:srgbClr val="E8792B"/>
            </a:solidFill>
            <a:prstDash val="dash"/>
          </a:ln>
        </p:spPr>
      </p:sp>
      <p:pic>
        <p:nvPicPr>
          <p:cNvPr id="21" name="s3-pulse" descr="signal pulse"/>
          <p:cNvPicPr>
            <a:picLocks noChangeAspect="1"/>
          </p:cNvPicPr>
          <p:nvPr/>
        </p:nvPicPr>
        <p:blipFill>
          <a:blip r:embed="rId12"/>
          <a:stretch>
            <a:fillRect/>
          </a:stretch>
        </p:blipFill>
        <p:spPr>
          <a:xfrm>
            <a:off x="558800" y="2959100"/>
            <a:ext cx="508000" cy="508000"/>
          </a:xfrm>
          <a:prstGeom prst="rect">
            <a:avLst/>
          </a:prstGeom>
        </p:spPr>
      </p:pic>
      <p:sp>
        <p:nvSpPr>
          <p:cNvPr id="22" name="s3-panel"/>
          <p:cNvSpPr txBox="1"/>
          <p:nvPr/>
        </p:nvSpPr>
        <p:spPr>
          <a:xfrm>
            <a:off x="812800" y="3429000"/>
            <a:ext cx="10566400" cy="1913890"/>
          </a:xfrm>
          <a:prstGeom prst="roundRect">
            <a:avLst>
              <a:gd name="adj" fmla="val 5733"/>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THE SERVED DISH, END TO END</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m = (1/√K)·Σₖ H_wash{ xₖ }             (wash, then mix)</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c = A·m(α(t − t₀)) * h + b(t)          (season, marinate, cook)</a:t>
            </a:r>
            <a:endParaRPr lang="en-US" sz="1200" dirty="0"/>
          </a:p>
          <a:p>
            <a:pPr marL="0" indent="0">
              <a:lnSpc>
                <a:spcPct val="120000"/>
              </a:lnSpc>
              <a:spcAft>
                <a:spcPts val="600"/>
              </a:spcAft>
              <a:buNone/>
            </a:pPr>
            <a:r>
              <a:rPr lang="en-US" sz="1300" dirty="0">
                <a:solidFill>
                  <a:srgbClr val="7FE0D3"/>
                </a:solidFill>
                <a:latin typeface="Consolas" pitchFamily="34" charset="0"/>
                <a:ea typeface="Consolas" pitchFamily="34" charset="-122"/>
                <a:cs typeface="Consolas" pitchFamily="34" charset="-120"/>
              </a:rPr>
              <a:t>y = H_cart{ IDFT{ Q·DFT{c} } + v(t) }   (oven, then cart)</a:t>
            </a:r>
            <a:endParaRPr lang="en-US" sz="1200" dirty="0"/>
          </a:p>
          <a:p>
            <a:pPr marL="0" indent="0">
              <a:buNone/>
            </a:pPr>
            <a:r>
              <a:rPr lang="en-US" sz="1200" dirty="0">
                <a:solidFill>
                  <a:srgbClr val="9AA4B2"/>
                </a:solidFill>
                <a:latin typeface="Calibri" pitchFamily="34" charset="0"/>
                <a:ea typeface="Calibri" pitchFamily="34" charset="-122"/>
                <a:cs typeface="Calibri" pitchFamily="34" charset="-120"/>
              </a:rPr>
              <a:t>b = burnt overtone, v = road vibration. The reference y_ref is this same chain on clean ingredients with the recipe’s ideal dials. 5 recipes · 3 tiers · 4 difficulties (7:00 → 2:00).</a:t>
            </a:r>
            <a:endParaRPr lang="en-US" sz="1200" dirty="0"/>
          </a:p>
        </p:txBody>
      </p:sp>
      <p:sp>
        <p:nvSpPr>
          <p:cNvPr id="23" name="!!footer"/>
          <p:cNvSpPr txBox="1"/>
          <p:nvPr/>
        </p:nvSpPr>
        <p:spPr>
          <a:xfrm>
            <a:off x="812800" y="6248400"/>
            <a:ext cx="5715000" cy="215900"/>
          </a:xfrm>
          <a:prstGeom prst="rect">
            <a:avLst/>
          </a:prstGeom>
          <a:noFill/>
          <a:ln/>
        </p:spPr>
        <p:txBody>
          <a:bodyPr wrap="square" lIns="0" tIns="0" rIns="0" bIns="0" rtlCol="0" anchor="ctr"/>
          <a:lstStyle/>
          <a:p>
            <a:pPr marL="0" indent="0">
              <a:buNone/>
            </a:pPr>
            <a:r>
              <a:rPr lang="en-US" sz="1200" dirty="0">
                <a:solidFill>
                  <a:srgbClr val="5B6270"/>
                </a:solidFill>
                <a:latin typeface="Calibri" pitchFamily="34" charset="0"/>
                <a:ea typeface="Calibri" pitchFamily="34" charset="-122"/>
                <a:cs typeface="Calibri" pitchFamily="34" charset="-120"/>
              </a:rPr>
              <a:t>WaveKitchen · Cooking with Signals</a:t>
            </a:r>
            <a:endParaRPr lang="en-US" sz="1200" dirty="0"/>
          </a:p>
        </p:txBody>
      </p:sp>
      <p:sp>
        <p:nvSpPr>
          <p:cNvPr id="24" name="!!page"/>
          <p:cNvSpPr txBox="1"/>
          <p:nvPr/>
        </p:nvSpPr>
        <p:spPr>
          <a:xfrm>
            <a:off x="9474200" y="6248400"/>
            <a:ext cx="1905000" cy="215900"/>
          </a:xfrm>
          <a:prstGeom prst="rect">
            <a:avLst/>
          </a:prstGeom>
          <a:noFill/>
          <a:ln/>
        </p:spPr>
        <p:txBody>
          <a:bodyPr wrap="square" lIns="0" tIns="0" rIns="0" bIns="0" rtlCol="0" anchor="ctr"/>
          <a:lstStyle/>
          <a:p>
            <a:pPr marL="0" indent="0" algn="r">
              <a:buNone/>
            </a:pPr>
            <a:r>
              <a:rPr lang="en-US" sz="1200" dirty="0">
                <a:solidFill>
                  <a:srgbClr val="5B6270"/>
                </a:solidFill>
                <a:latin typeface="Calibri" pitchFamily="34" charset="0"/>
                <a:ea typeface="Calibri" pitchFamily="34" charset="-122"/>
                <a:cs typeface="Calibri" pitchFamily="34" charset="-120"/>
              </a:rPr>
              <a:t>3 / 10</a:t>
            </a:r>
            <a:endParaRPr lang="en-US" sz="1200" dirty="0"/>
          </a:p>
        </p:txBody>
      </p:sp>
      <p:sp>
        <p:nvSpPr>
          <p:cNvPr id="25" name="!!track"/>
          <p:cNvSpPr/>
          <p:nvPr/>
        </p:nvSpPr>
        <p:spPr>
          <a:xfrm>
            <a:off x="0" y="6807200"/>
            <a:ext cx="12192000" cy="50800"/>
          </a:xfrm>
          <a:prstGeom prst="rect">
            <a:avLst/>
          </a:prstGeom>
          <a:solidFill>
            <a:srgbClr val="E2DACB"/>
          </a:solidFill>
          <a:ln/>
        </p:spPr>
      </p:sp>
      <p:sp>
        <p:nvSpPr>
          <p:cNvPr id="26" name="!!progress"/>
          <p:cNvSpPr/>
          <p:nvPr/>
        </p:nvSpPr>
        <p:spPr>
          <a:xfrm>
            <a:off x="0" y="6807200"/>
            <a:ext cx="3657600" cy="50800"/>
          </a:xfrm>
          <a:prstGeom prst="rect">
            <a:avLst/>
          </a:prstGeom>
          <a:solidFill>
            <a:srgbClr val="E8792B"/>
          </a:solidFill>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anim calcmode="lin" valueType="num">
                                      <p:cBhvr>
                                        <p:cTn id="8" dur="300" fill="hold"/>
                                        <p:tgtEl>
                                          <p:spTgt spid="4"/>
                                        </p:tgtEl>
                                        <p:attrNameLst>
                                          <p:attrName>ppt_x</p:attrName>
                                        </p:attrNameLst>
                                      </p:cBhvr>
                                      <p:tavLst>
                                        <p:tav tm="0">
                                          <p:val>
                                            <p:strVal val="#ppt_x"/>
                                          </p:val>
                                        </p:tav>
                                        <p:tav tm="100000">
                                          <p:val>
                                            <p:strVal val="#ppt_x"/>
                                          </p:val>
                                        </p:tav>
                                      </p:tavLst>
                                    </p:anim>
                                    <p:anim calcmode="lin" valueType="num">
                                      <p:cBhvr>
                                        <p:cTn id="9" dur="270" decel="100000" fill="hold"/>
                                        <p:tgtEl>
                                          <p:spTgt spid="4"/>
                                        </p:tgtEl>
                                        <p:attrNameLst>
                                          <p:attrName>ppt_y</p:attrName>
                                        </p:attrNameLst>
                                      </p:cBhvr>
                                      <p:tavLst>
                                        <p:tav tm="0">
                                          <p:val>
                                            <p:strVal val="#ppt_y+1"/>
                                          </p:val>
                                        </p:tav>
                                        <p:tav tm="100000">
                                          <p:val>
                                            <p:strVal val="#ppt_y-.03"/>
                                          </p:val>
                                        </p:tav>
                                      </p:tavLst>
                                    </p:anim>
                                    <p:anim calcmode="lin" valueType="num">
                                      <p:cBhvr>
                                        <p:cTn id="10" dur="30" accel="100000" fill="hold">
                                          <p:stCondLst>
                                            <p:cond delay="270"/>
                                          </p:stCondLst>
                                        </p:cTn>
                                        <p:tgtEl>
                                          <p:spTgt spid="4"/>
                                        </p:tgtEl>
                                        <p:attrNameLst>
                                          <p:attrName>ppt_y</p:attrName>
                                        </p:attrNameLst>
                                      </p:cBhvr>
                                      <p:tavLst>
                                        <p:tav tm="0">
                                          <p:val>
                                            <p:strVal val="#ppt_y-.03"/>
                                          </p:val>
                                        </p:tav>
                                        <p:tav tm="100000">
                                          <p:val>
                                            <p:strVal val="#ppt_y"/>
                                          </p:val>
                                        </p:tav>
                                      </p:tavLst>
                                    </p:anim>
                                  </p:childTnLst>
                                </p:cTn>
                              </p:par>
                              <p:par>
                                <p:cTn id="11" presetID="23" presetClass="entr" presetSubtype="16" fill="hold" nodeType="withEffect">
                                  <p:stCondLst>
                                    <p:cond delay="100"/>
                                  </p:stCondLst>
                                  <p:childTnLst>
                                    <p:set>
                                      <p:cBhvr>
                                        <p:cTn id="12" dur="1" fill="hold">
                                          <p:stCondLst>
                                            <p:cond delay="0"/>
                                          </p:stCondLst>
                                        </p:cTn>
                                        <p:tgtEl>
                                          <p:spTgt spid="5"/>
                                        </p:tgtEl>
                                        <p:attrNameLst>
                                          <p:attrName>style.visibility</p:attrName>
                                        </p:attrNameLst>
                                      </p:cBhvr>
                                      <p:to>
                                        <p:strVal val="visible"/>
                                      </p:to>
                                    </p:set>
                                    <p:anim calcmode="lin" valueType="num">
                                      <p:cBhvr>
                                        <p:cTn id="13" dur="300" fill="hold"/>
                                        <p:tgtEl>
                                          <p:spTgt spid="5"/>
                                        </p:tgtEl>
                                        <p:attrNameLst>
                                          <p:attrName>ppt_w</p:attrName>
                                        </p:attrNameLst>
                                      </p:cBhvr>
                                      <p:tavLst>
                                        <p:tav tm="0">
                                          <p:val>
                                            <p:fltVal val="0"/>
                                          </p:val>
                                        </p:tav>
                                        <p:tav tm="100000">
                                          <p:val>
                                            <p:strVal val="#ppt_w"/>
                                          </p:val>
                                        </p:tav>
                                      </p:tavLst>
                                    </p:anim>
                                    <p:anim calcmode="lin" valueType="num">
                                      <p:cBhvr>
                                        <p:cTn id="14" dur="300" fill="hold"/>
                                        <p:tgtEl>
                                          <p:spTgt spid="5"/>
                                        </p:tgtEl>
                                        <p:attrNameLst>
                                          <p:attrName>ppt_h</p:attrName>
                                        </p:attrNameLst>
                                      </p:cBhvr>
                                      <p:tavLst>
                                        <p:tav tm="0">
                                          <p:val>
                                            <p:fltVal val="0"/>
                                          </p:val>
                                        </p:tav>
                                        <p:tav tm="100000">
                                          <p:val>
                                            <p:strVal val="#ppt_h"/>
                                          </p:val>
                                        </p:tav>
                                      </p:tavLst>
                                    </p:anim>
                                  </p:childTnLst>
                                </p:cTn>
                              </p:par>
                            </p:childTnLst>
                          </p:cTn>
                        </p:par>
                        <p:par>
                          <p:cTn id="15" fill="hold">
                            <p:stCondLst>
                              <p:cond delay="400"/>
                            </p:stCondLst>
                            <p:childTnLst>
                              <p:par>
                                <p:cTn id="16" presetID="37"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300"/>
                                        <p:tgtEl>
                                          <p:spTgt spid="6"/>
                                        </p:tgtEl>
                                      </p:cBhvr>
                                    </p:animEffect>
                                    <p:anim calcmode="lin" valueType="num">
                                      <p:cBhvr>
                                        <p:cTn id="19" dur="300" fill="hold"/>
                                        <p:tgtEl>
                                          <p:spTgt spid="6"/>
                                        </p:tgtEl>
                                        <p:attrNameLst>
                                          <p:attrName>ppt_x</p:attrName>
                                        </p:attrNameLst>
                                      </p:cBhvr>
                                      <p:tavLst>
                                        <p:tav tm="0">
                                          <p:val>
                                            <p:strVal val="#ppt_x"/>
                                          </p:val>
                                        </p:tav>
                                        <p:tav tm="100000">
                                          <p:val>
                                            <p:strVal val="#ppt_x"/>
                                          </p:val>
                                        </p:tav>
                                      </p:tavLst>
                                    </p:anim>
                                    <p:anim calcmode="lin" valueType="num">
                                      <p:cBhvr>
                                        <p:cTn id="20" dur="270" decel="100000" fill="hold"/>
                                        <p:tgtEl>
                                          <p:spTgt spid="6"/>
                                        </p:tgtEl>
                                        <p:attrNameLst>
                                          <p:attrName>ppt_y</p:attrName>
                                        </p:attrNameLst>
                                      </p:cBhvr>
                                      <p:tavLst>
                                        <p:tav tm="0">
                                          <p:val>
                                            <p:strVal val="#ppt_y+1"/>
                                          </p:val>
                                        </p:tav>
                                        <p:tav tm="100000">
                                          <p:val>
                                            <p:strVal val="#ppt_y-.03"/>
                                          </p:val>
                                        </p:tav>
                                      </p:tavLst>
                                    </p:anim>
                                    <p:anim calcmode="lin" valueType="num">
                                      <p:cBhvr>
                                        <p:cTn id="21" dur="30" accel="100000" fill="hold">
                                          <p:stCondLst>
                                            <p:cond delay="270"/>
                                          </p:stCondLst>
                                        </p:cTn>
                                        <p:tgtEl>
                                          <p:spTgt spid="6"/>
                                        </p:tgtEl>
                                        <p:attrNameLst>
                                          <p:attrName>ppt_y</p:attrName>
                                        </p:attrNameLst>
                                      </p:cBhvr>
                                      <p:tavLst>
                                        <p:tav tm="0">
                                          <p:val>
                                            <p:strVal val="#ppt_y-.03"/>
                                          </p:val>
                                        </p:tav>
                                        <p:tav tm="100000">
                                          <p:val>
                                            <p:strVal val="#ppt_y"/>
                                          </p:val>
                                        </p:tav>
                                      </p:tavLst>
                                    </p:anim>
                                  </p:childTnLst>
                                </p:cTn>
                              </p:par>
                              <p:par>
                                <p:cTn id="22" presetID="23" presetClass="entr" presetSubtype="16" fill="hold" nodeType="withEffect">
                                  <p:stCondLst>
                                    <p:cond delay="100"/>
                                  </p:stCondLst>
                                  <p:childTnLst>
                                    <p:set>
                                      <p:cBhvr>
                                        <p:cTn id="23" dur="1" fill="hold">
                                          <p:stCondLst>
                                            <p:cond delay="0"/>
                                          </p:stCondLst>
                                        </p:cTn>
                                        <p:tgtEl>
                                          <p:spTgt spid="7"/>
                                        </p:tgtEl>
                                        <p:attrNameLst>
                                          <p:attrName>style.visibility</p:attrName>
                                        </p:attrNameLst>
                                      </p:cBhvr>
                                      <p:to>
                                        <p:strVal val="visible"/>
                                      </p:to>
                                    </p:set>
                                    <p:anim calcmode="lin" valueType="num">
                                      <p:cBhvr>
                                        <p:cTn id="24" dur="300" fill="hold"/>
                                        <p:tgtEl>
                                          <p:spTgt spid="7"/>
                                        </p:tgtEl>
                                        <p:attrNameLst>
                                          <p:attrName>ppt_w</p:attrName>
                                        </p:attrNameLst>
                                      </p:cBhvr>
                                      <p:tavLst>
                                        <p:tav tm="0">
                                          <p:val>
                                            <p:fltVal val="0"/>
                                          </p:val>
                                        </p:tav>
                                        <p:tav tm="100000">
                                          <p:val>
                                            <p:strVal val="#ppt_w"/>
                                          </p:val>
                                        </p:tav>
                                      </p:tavLst>
                                    </p:anim>
                                    <p:anim calcmode="lin" valueType="num">
                                      <p:cBhvr>
                                        <p:cTn id="25" dur="300" fill="hold"/>
                                        <p:tgtEl>
                                          <p:spTgt spid="7"/>
                                        </p:tgtEl>
                                        <p:attrNameLst>
                                          <p:attrName>ppt_h</p:attrName>
                                        </p:attrNameLst>
                                      </p:cBhvr>
                                      <p:tavLst>
                                        <p:tav tm="0">
                                          <p:val>
                                            <p:fltVal val="0"/>
                                          </p:val>
                                        </p:tav>
                                        <p:tav tm="100000">
                                          <p:val>
                                            <p:strVal val="#ppt_h"/>
                                          </p:val>
                                        </p:tav>
                                      </p:tavLst>
                                    </p:anim>
                                  </p:childTnLst>
                                </p:cTn>
                              </p:par>
                            </p:childTnLst>
                          </p:cTn>
                        </p:par>
                        <p:par>
                          <p:cTn id="26" fill="hold">
                            <p:stCondLst>
                              <p:cond delay="800"/>
                            </p:stCondLst>
                            <p:childTnLst>
                              <p:par>
                                <p:cTn id="27" presetID="37" presetClass="entr" presetSubtype="0"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300"/>
                                        <p:tgtEl>
                                          <p:spTgt spid="8"/>
                                        </p:tgtEl>
                                      </p:cBhvr>
                                    </p:animEffect>
                                    <p:anim calcmode="lin" valueType="num">
                                      <p:cBhvr>
                                        <p:cTn id="30" dur="300" fill="hold"/>
                                        <p:tgtEl>
                                          <p:spTgt spid="8"/>
                                        </p:tgtEl>
                                        <p:attrNameLst>
                                          <p:attrName>ppt_x</p:attrName>
                                        </p:attrNameLst>
                                      </p:cBhvr>
                                      <p:tavLst>
                                        <p:tav tm="0">
                                          <p:val>
                                            <p:strVal val="#ppt_x"/>
                                          </p:val>
                                        </p:tav>
                                        <p:tav tm="100000">
                                          <p:val>
                                            <p:strVal val="#ppt_x"/>
                                          </p:val>
                                        </p:tav>
                                      </p:tavLst>
                                    </p:anim>
                                    <p:anim calcmode="lin" valueType="num">
                                      <p:cBhvr>
                                        <p:cTn id="31" dur="270" decel="100000" fill="hold"/>
                                        <p:tgtEl>
                                          <p:spTgt spid="8"/>
                                        </p:tgtEl>
                                        <p:attrNameLst>
                                          <p:attrName>ppt_y</p:attrName>
                                        </p:attrNameLst>
                                      </p:cBhvr>
                                      <p:tavLst>
                                        <p:tav tm="0">
                                          <p:val>
                                            <p:strVal val="#ppt_y+1"/>
                                          </p:val>
                                        </p:tav>
                                        <p:tav tm="100000">
                                          <p:val>
                                            <p:strVal val="#ppt_y-.03"/>
                                          </p:val>
                                        </p:tav>
                                      </p:tavLst>
                                    </p:anim>
                                    <p:anim calcmode="lin" valueType="num">
                                      <p:cBhvr>
                                        <p:cTn id="32" dur="30" accel="100000" fill="hold">
                                          <p:stCondLst>
                                            <p:cond delay="270"/>
                                          </p:stCondLst>
                                        </p:cTn>
                                        <p:tgtEl>
                                          <p:spTgt spid="8"/>
                                        </p:tgtEl>
                                        <p:attrNameLst>
                                          <p:attrName>ppt_y</p:attrName>
                                        </p:attrNameLst>
                                      </p:cBhvr>
                                      <p:tavLst>
                                        <p:tav tm="0">
                                          <p:val>
                                            <p:strVal val="#ppt_y-.03"/>
                                          </p:val>
                                        </p:tav>
                                        <p:tav tm="100000">
                                          <p:val>
                                            <p:strVal val="#ppt_y"/>
                                          </p:val>
                                        </p:tav>
                                      </p:tavLst>
                                    </p:anim>
                                  </p:childTnLst>
                                </p:cTn>
                              </p:par>
                              <p:par>
                                <p:cTn id="33" presetID="23" presetClass="entr" presetSubtype="16" fill="hold" nodeType="withEffect">
                                  <p:stCondLst>
                                    <p:cond delay="100"/>
                                  </p:stCondLst>
                                  <p:childTnLst>
                                    <p:set>
                                      <p:cBhvr>
                                        <p:cTn id="34" dur="1" fill="hold">
                                          <p:stCondLst>
                                            <p:cond delay="0"/>
                                          </p:stCondLst>
                                        </p:cTn>
                                        <p:tgtEl>
                                          <p:spTgt spid="9"/>
                                        </p:tgtEl>
                                        <p:attrNameLst>
                                          <p:attrName>style.visibility</p:attrName>
                                        </p:attrNameLst>
                                      </p:cBhvr>
                                      <p:to>
                                        <p:strVal val="visible"/>
                                      </p:to>
                                    </p:set>
                                    <p:anim calcmode="lin" valueType="num">
                                      <p:cBhvr>
                                        <p:cTn id="35" dur="300" fill="hold"/>
                                        <p:tgtEl>
                                          <p:spTgt spid="9"/>
                                        </p:tgtEl>
                                        <p:attrNameLst>
                                          <p:attrName>ppt_w</p:attrName>
                                        </p:attrNameLst>
                                      </p:cBhvr>
                                      <p:tavLst>
                                        <p:tav tm="0">
                                          <p:val>
                                            <p:fltVal val="0"/>
                                          </p:val>
                                        </p:tav>
                                        <p:tav tm="100000">
                                          <p:val>
                                            <p:strVal val="#ppt_w"/>
                                          </p:val>
                                        </p:tav>
                                      </p:tavLst>
                                    </p:anim>
                                    <p:anim calcmode="lin" valueType="num">
                                      <p:cBhvr>
                                        <p:cTn id="36" dur="300" fill="hold"/>
                                        <p:tgtEl>
                                          <p:spTgt spid="9"/>
                                        </p:tgtEl>
                                        <p:attrNameLst>
                                          <p:attrName>ppt_h</p:attrName>
                                        </p:attrNameLst>
                                      </p:cBhvr>
                                      <p:tavLst>
                                        <p:tav tm="0">
                                          <p:val>
                                            <p:fltVal val="0"/>
                                          </p:val>
                                        </p:tav>
                                        <p:tav tm="100000">
                                          <p:val>
                                            <p:strVal val="#ppt_h"/>
                                          </p:val>
                                        </p:tav>
                                      </p:tavLst>
                                    </p:anim>
                                  </p:childTnLst>
                                </p:cTn>
                              </p:par>
                            </p:childTnLst>
                          </p:cTn>
                        </p:par>
                        <p:par>
                          <p:cTn id="37" fill="hold">
                            <p:stCondLst>
                              <p:cond delay="1200"/>
                            </p:stCondLst>
                            <p:childTnLst>
                              <p:par>
                                <p:cTn id="38" presetID="37" presetClass="entr" presetSubtype="0" fill="hold" grpId="0"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300"/>
                                        <p:tgtEl>
                                          <p:spTgt spid="10"/>
                                        </p:tgtEl>
                                      </p:cBhvr>
                                    </p:animEffect>
                                    <p:anim calcmode="lin" valueType="num">
                                      <p:cBhvr>
                                        <p:cTn id="41" dur="300" fill="hold"/>
                                        <p:tgtEl>
                                          <p:spTgt spid="10"/>
                                        </p:tgtEl>
                                        <p:attrNameLst>
                                          <p:attrName>ppt_x</p:attrName>
                                        </p:attrNameLst>
                                      </p:cBhvr>
                                      <p:tavLst>
                                        <p:tav tm="0">
                                          <p:val>
                                            <p:strVal val="#ppt_x"/>
                                          </p:val>
                                        </p:tav>
                                        <p:tav tm="100000">
                                          <p:val>
                                            <p:strVal val="#ppt_x"/>
                                          </p:val>
                                        </p:tav>
                                      </p:tavLst>
                                    </p:anim>
                                    <p:anim calcmode="lin" valueType="num">
                                      <p:cBhvr>
                                        <p:cTn id="42" dur="270" decel="100000" fill="hold"/>
                                        <p:tgtEl>
                                          <p:spTgt spid="10"/>
                                        </p:tgtEl>
                                        <p:attrNameLst>
                                          <p:attrName>ppt_y</p:attrName>
                                        </p:attrNameLst>
                                      </p:cBhvr>
                                      <p:tavLst>
                                        <p:tav tm="0">
                                          <p:val>
                                            <p:strVal val="#ppt_y+1"/>
                                          </p:val>
                                        </p:tav>
                                        <p:tav tm="100000">
                                          <p:val>
                                            <p:strVal val="#ppt_y-.03"/>
                                          </p:val>
                                        </p:tav>
                                      </p:tavLst>
                                    </p:anim>
                                    <p:anim calcmode="lin" valueType="num">
                                      <p:cBhvr>
                                        <p:cTn id="43" dur="30" accel="100000" fill="hold">
                                          <p:stCondLst>
                                            <p:cond delay="270"/>
                                          </p:stCondLst>
                                        </p:cTn>
                                        <p:tgtEl>
                                          <p:spTgt spid="10"/>
                                        </p:tgtEl>
                                        <p:attrNameLst>
                                          <p:attrName>ppt_y</p:attrName>
                                        </p:attrNameLst>
                                      </p:cBhvr>
                                      <p:tavLst>
                                        <p:tav tm="0">
                                          <p:val>
                                            <p:strVal val="#ppt_y-.03"/>
                                          </p:val>
                                        </p:tav>
                                        <p:tav tm="100000">
                                          <p:val>
                                            <p:strVal val="#ppt_y"/>
                                          </p:val>
                                        </p:tav>
                                      </p:tavLst>
                                    </p:anim>
                                  </p:childTnLst>
                                </p:cTn>
                              </p:par>
                              <p:par>
                                <p:cTn id="44" presetID="23" presetClass="entr" presetSubtype="16" fill="hold" nodeType="withEffect">
                                  <p:stCondLst>
                                    <p:cond delay="100"/>
                                  </p:stCondLst>
                                  <p:childTnLst>
                                    <p:set>
                                      <p:cBhvr>
                                        <p:cTn id="45" dur="1" fill="hold">
                                          <p:stCondLst>
                                            <p:cond delay="0"/>
                                          </p:stCondLst>
                                        </p:cTn>
                                        <p:tgtEl>
                                          <p:spTgt spid="11"/>
                                        </p:tgtEl>
                                        <p:attrNameLst>
                                          <p:attrName>style.visibility</p:attrName>
                                        </p:attrNameLst>
                                      </p:cBhvr>
                                      <p:to>
                                        <p:strVal val="visible"/>
                                      </p:to>
                                    </p:set>
                                    <p:anim calcmode="lin" valueType="num">
                                      <p:cBhvr>
                                        <p:cTn id="46" dur="300" fill="hold"/>
                                        <p:tgtEl>
                                          <p:spTgt spid="11"/>
                                        </p:tgtEl>
                                        <p:attrNameLst>
                                          <p:attrName>ppt_w</p:attrName>
                                        </p:attrNameLst>
                                      </p:cBhvr>
                                      <p:tavLst>
                                        <p:tav tm="0">
                                          <p:val>
                                            <p:fltVal val="0"/>
                                          </p:val>
                                        </p:tav>
                                        <p:tav tm="100000">
                                          <p:val>
                                            <p:strVal val="#ppt_w"/>
                                          </p:val>
                                        </p:tav>
                                      </p:tavLst>
                                    </p:anim>
                                    <p:anim calcmode="lin" valueType="num">
                                      <p:cBhvr>
                                        <p:cTn id="47" dur="300" fill="hold"/>
                                        <p:tgtEl>
                                          <p:spTgt spid="11"/>
                                        </p:tgtEl>
                                        <p:attrNameLst>
                                          <p:attrName>ppt_h</p:attrName>
                                        </p:attrNameLst>
                                      </p:cBhvr>
                                      <p:tavLst>
                                        <p:tav tm="0">
                                          <p:val>
                                            <p:fltVal val="0"/>
                                          </p:val>
                                        </p:tav>
                                        <p:tav tm="100000">
                                          <p:val>
                                            <p:strVal val="#ppt_h"/>
                                          </p:val>
                                        </p:tav>
                                      </p:tavLst>
                                    </p:anim>
                                  </p:childTnLst>
                                </p:cTn>
                              </p:par>
                            </p:childTnLst>
                          </p:cTn>
                        </p:par>
                        <p:par>
                          <p:cTn id="48" fill="hold">
                            <p:stCondLst>
                              <p:cond delay="1600"/>
                            </p:stCondLst>
                            <p:childTnLst>
                              <p:par>
                                <p:cTn id="49" presetID="37" presetClass="entr" presetSubtype="0" fill="hold" grpId="0" nodeType="after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300"/>
                                        <p:tgtEl>
                                          <p:spTgt spid="12"/>
                                        </p:tgtEl>
                                      </p:cBhvr>
                                    </p:animEffect>
                                    <p:anim calcmode="lin" valueType="num">
                                      <p:cBhvr>
                                        <p:cTn id="52" dur="300" fill="hold"/>
                                        <p:tgtEl>
                                          <p:spTgt spid="12"/>
                                        </p:tgtEl>
                                        <p:attrNameLst>
                                          <p:attrName>ppt_x</p:attrName>
                                        </p:attrNameLst>
                                      </p:cBhvr>
                                      <p:tavLst>
                                        <p:tav tm="0">
                                          <p:val>
                                            <p:strVal val="#ppt_x"/>
                                          </p:val>
                                        </p:tav>
                                        <p:tav tm="100000">
                                          <p:val>
                                            <p:strVal val="#ppt_x"/>
                                          </p:val>
                                        </p:tav>
                                      </p:tavLst>
                                    </p:anim>
                                    <p:anim calcmode="lin" valueType="num">
                                      <p:cBhvr>
                                        <p:cTn id="53" dur="270" decel="100000" fill="hold"/>
                                        <p:tgtEl>
                                          <p:spTgt spid="12"/>
                                        </p:tgtEl>
                                        <p:attrNameLst>
                                          <p:attrName>ppt_y</p:attrName>
                                        </p:attrNameLst>
                                      </p:cBhvr>
                                      <p:tavLst>
                                        <p:tav tm="0">
                                          <p:val>
                                            <p:strVal val="#ppt_y+1"/>
                                          </p:val>
                                        </p:tav>
                                        <p:tav tm="100000">
                                          <p:val>
                                            <p:strVal val="#ppt_y-.03"/>
                                          </p:val>
                                        </p:tav>
                                      </p:tavLst>
                                    </p:anim>
                                    <p:anim calcmode="lin" valueType="num">
                                      <p:cBhvr>
                                        <p:cTn id="54" dur="30" accel="100000" fill="hold">
                                          <p:stCondLst>
                                            <p:cond delay="270"/>
                                          </p:stCondLst>
                                        </p:cTn>
                                        <p:tgtEl>
                                          <p:spTgt spid="12"/>
                                        </p:tgtEl>
                                        <p:attrNameLst>
                                          <p:attrName>ppt_y</p:attrName>
                                        </p:attrNameLst>
                                      </p:cBhvr>
                                      <p:tavLst>
                                        <p:tav tm="0">
                                          <p:val>
                                            <p:strVal val="#ppt_y-.03"/>
                                          </p:val>
                                        </p:tav>
                                        <p:tav tm="100000">
                                          <p:val>
                                            <p:strVal val="#ppt_y"/>
                                          </p:val>
                                        </p:tav>
                                      </p:tavLst>
                                    </p:anim>
                                  </p:childTnLst>
                                </p:cTn>
                              </p:par>
                              <p:par>
                                <p:cTn id="55" presetID="23" presetClass="entr" presetSubtype="16" fill="hold" nodeType="withEffect">
                                  <p:stCondLst>
                                    <p:cond delay="100"/>
                                  </p:stCondLst>
                                  <p:childTnLst>
                                    <p:set>
                                      <p:cBhvr>
                                        <p:cTn id="56" dur="1" fill="hold">
                                          <p:stCondLst>
                                            <p:cond delay="0"/>
                                          </p:stCondLst>
                                        </p:cTn>
                                        <p:tgtEl>
                                          <p:spTgt spid="13"/>
                                        </p:tgtEl>
                                        <p:attrNameLst>
                                          <p:attrName>style.visibility</p:attrName>
                                        </p:attrNameLst>
                                      </p:cBhvr>
                                      <p:to>
                                        <p:strVal val="visible"/>
                                      </p:to>
                                    </p:set>
                                    <p:anim calcmode="lin" valueType="num">
                                      <p:cBhvr>
                                        <p:cTn id="57" dur="300" fill="hold"/>
                                        <p:tgtEl>
                                          <p:spTgt spid="13"/>
                                        </p:tgtEl>
                                        <p:attrNameLst>
                                          <p:attrName>ppt_w</p:attrName>
                                        </p:attrNameLst>
                                      </p:cBhvr>
                                      <p:tavLst>
                                        <p:tav tm="0">
                                          <p:val>
                                            <p:fltVal val="0"/>
                                          </p:val>
                                        </p:tav>
                                        <p:tav tm="100000">
                                          <p:val>
                                            <p:strVal val="#ppt_w"/>
                                          </p:val>
                                        </p:tav>
                                      </p:tavLst>
                                    </p:anim>
                                    <p:anim calcmode="lin" valueType="num">
                                      <p:cBhvr>
                                        <p:cTn id="58" dur="300" fill="hold"/>
                                        <p:tgtEl>
                                          <p:spTgt spid="13"/>
                                        </p:tgtEl>
                                        <p:attrNameLst>
                                          <p:attrName>ppt_h</p:attrName>
                                        </p:attrNameLst>
                                      </p:cBhvr>
                                      <p:tavLst>
                                        <p:tav tm="0">
                                          <p:val>
                                            <p:fltVal val="0"/>
                                          </p:val>
                                        </p:tav>
                                        <p:tav tm="100000">
                                          <p:val>
                                            <p:strVal val="#ppt_h"/>
                                          </p:val>
                                        </p:tav>
                                      </p:tavLst>
                                    </p:anim>
                                  </p:childTnLst>
                                </p:cTn>
                              </p:par>
                            </p:childTnLst>
                          </p:cTn>
                        </p:par>
                        <p:par>
                          <p:cTn id="59" fill="hold">
                            <p:stCondLst>
                              <p:cond delay="2000"/>
                            </p:stCondLst>
                            <p:childTnLst>
                              <p:par>
                                <p:cTn id="60" presetID="37" presetClass="entr" presetSubtype="0" fill="hold" grpId="0" nodeType="after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300"/>
                                        <p:tgtEl>
                                          <p:spTgt spid="14"/>
                                        </p:tgtEl>
                                      </p:cBhvr>
                                    </p:animEffect>
                                    <p:anim calcmode="lin" valueType="num">
                                      <p:cBhvr>
                                        <p:cTn id="63" dur="300" fill="hold"/>
                                        <p:tgtEl>
                                          <p:spTgt spid="14"/>
                                        </p:tgtEl>
                                        <p:attrNameLst>
                                          <p:attrName>ppt_x</p:attrName>
                                        </p:attrNameLst>
                                      </p:cBhvr>
                                      <p:tavLst>
                                        <p:tav tm="0">
                                          <p:val>
                                            <p:strVal val="#ppt_x"/>
                                          </p:val>
                                        </p:tav>
                                        <p:tav tm="100000">
                                          <p:val>
                                            <p:strVal val="#ppt_x"/>
                                          </p:val>
                                        </p:tav>
                                      </p:tavLst>
                                    </p:anim>
                                    <p:anim calcmode="lin" valueType="num">
                                      <p:cBhvr>
                                        <p:cTn id="64" dur="270" decel="100000" fill="hold"/>
                                        <p:tgtEl>
                                          <p:spTgt spid="14"/>
                                        </p:tgtEl>
                                        <p:attrNameLst>
                                          <p:attrName>ppt_y</p:attrName>
                                        </p:attrNameLst>
                                      </p:cBhvr>
                                      <p:tavLst>
                                        <p:tav tm="0">
                                          <p:val>
                                            <p:strVal val="#ppt_y+1"/>
                                          </p:val>
                                        </p:tav>
                                        <p:tav tm="100000">
                                          <p:val>
                                            <p:strVal val="#ppt_y-.03"/>
                                          </p:val>
                                        </p:tav>
                                      </p:tavLst>
                                    </p:anim>
                                    <p:anim calcmode="lin" valueType="num">
                                      <p:cBhvr>
                                        <p:cTn id="65" dur="30" accel="100000" fill="hold">
                                          <p:stCondLst>
                                            <p:cond delay="270"/>
                                          </p:stCondLst>
                                        </p:cTn>
                                        <p:tgtEl>
                                          <p:spTgt spid="14"/>
                                        </p:tgtEl>
                                        <p:attrNameLst>
                                          <p:attrName>ppt_y</p:attrName>
                                        </p:attrNameLst>
                                      </p:cBhvr>
                                      <p:tavLst>
                                        <p:tav tm="0">
                                          <p:val>
                                            <p:strVal val="#ppt_y-.03"/>
                                          </p:val>
                                        </p:tav>
                                        <p:tav tm="100000">
                                          <p:val>
                                            <p:strVal val="#ppt_y"/>
                                          </p:val>
                                        </p:tav>
                                      </p:tavLst>
                                    </p:anim>
                                  </p:childTnLst>
                                </p:cTn>
                              </p:par>
                              <p:par>
                                <p:cTn id="66" presetID="23" presetClass="entr" presetSubtype="16" fill="hold" nodeType="withEffect">
                                  <p:stCondLst>
                                    <p:cond delay="100"/>
                                  </p:stCondLst>
                                  <p:childTnLst>
                                    <p:set>
                                      <p:cBhvr>
                                        <p:cTn id="67" dur="1" fill="hold">
                                          <p:stCondLst>
                                            <p:cond delay="0"/>
                                          </p:stCondLst>
                                        </p:cTn>
                                        <p:tgtEl>
                                          <p:spTgt spid="15"/>
                                        </p:tgtEl>
                                        <p:attrNameLst>
                                          <p:attrName>style.visibility</p:attrName>
                                        </p:attrNameLst>
                                      </p:cBhvr>
                                      <p:to>
                                        <p:strVal val="visible"/>
                                      </p:to>
                                    </p:set>
                                    <p:anim calcmode="lin" valueType="num">
                                      <p:cBhvr>
                                        <p:cTn id="68" dur="300" fill="hold"/>
                                        <p:tgtEl>
                                          <p:spTgt spid="15"/>
                                        </p:tgtEl>
                                        <p:attrNameLst>
                                          <p:attrName>ppt_w</p:attrName>
                                        </p:attrNameLst>
                                      </p:cBhvr>
                                      <p:tavLst>
                                        <p:tav tm="0">
                                          <p:val>
                                            <p:fltVal val="0"/>
                                          </p:val>
                                        </p:tav>
                                        <p:tav tm="100000">
                                          <p:val>
                                            <p:strVal val="#ppt_w"/>
                                          </p:val>
                                        </p:tav>
                                      </p:tavLst>
                                    </p:anim>
                                    <p:anim calcmode="lin" valueType="num">
                                      <p:cBhvr>
                                        <p:cTn id="69" dur="300" fill="hold"/>
                                        <p:tgtEl>
                                          <p:spTgt spid="15"/>
                                        </p:tgtEl>
                                        <p:attrNameLst>
                                          <p:attrName>ppt_h</p:attrName>
                                        </p:attrNameLst>
                                      </p:cBhvr>
                                      <p:tavLst>
                                        <p:tav tm="0">
                                          <p:val>
                                            <p:fltVal val="0"/>
                                          </p:val>
                                        </p:tav>
                                        <p:tav tm="100000">
                                          <p:val>
                                            <p:strVal val="#ppt_h"/>
                                          </p:val>
                                        </p:tav>
                                      </p:tavLst>
                                    </p:anim>
                                  </p:childTnLst>
                                </p:cTn>
                              </p:par>
                            </p:childTnLst>
                          </p:cTn>
                        </p:par>
                        <p:par>
                          <p:cTn id="70" fill="hold">
                            <p:stCondLst>
                              <p:cond delay="2400"/>
                            </p:stCondLst>
                            <p:childTnLst>
                              <p:par>
                                <p:cTn id="71" presetID="37" presetClass="entr" presetSubtype="0" fill="hold" grpId="0" nodeType="after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300"/>
                                        <p:tgtEl>
                                          <p:spTgt spid="16"/>
                                        </p:tgtEl>
                                      </p:cBhvr>
                                    </p:animEffect>
                                    <p:anim calcmode="lin" valueType="num">
                                      <p:cBhvr>
                                        <p:cTn id="74" dur="300" fill="hold"/>
                                        <p:tgtEl>
                                          <p:spTgt spid="16"/>
                                        </p:tgtEl>
                                        <p:attrNameLst>
                                          <p:attrName>ppt_x</p:attrName>
                                        </p:attrNameLst>
                                      </p:cBhvr>
                                      <p:tavLst>
                                        <p:tav tm="0">
                                          <p:val>
                                            <p:strVal val="#ppt_x"/>
                                          </p:val>
                                        </p:tav>
                                        <p:tav tm="100000">
                                          <p:val>
                                            <p:strVal val="#ppt_x"/>
                                          </p:val>
                                        </p:tav>
                                      </p:tavLst>
                                    </p:anim>
                                    <p:anim calcmode="lin" valueType="num">
                                      <p:cBhvr>
                                        <p:cTn id="75" dur="270" decel="100000" fill="hold"/>
                                        <p:tgtEl>
                                          <p:spTgt spid="16"/>
                                        </p:tgtEl>
                                        <p:attrNameLst>
                                          <p:attrName>ppt_y</p:attrName>
                                        </p:attrNameLst>
                                      </p:cBhvr>
                                      <p:tavLst>
                                        <p:tav tm="0">
                                          <p:val>
                                            <p:strVal val="#ppt_y+1"/>
                                          </p:val>
                                        </p:tav>
                                        <p:tav tm="100000">
                                          <p:val>
                                            <p:strVal val="#ppt_y-.03"/>
                                          </p:val>
                                        </p:tav>
                                      </p:tavLst>
                                    </p:anim>
                                    <p:anim calcmode="lin" valueType="num">
                                      <p:cBhvr>
                                        <p:cTn id="76" dur="30" accel="100000" fill="hold">
                                          <p:stCondLst>
                                            <p:cond delay="270"/>
                                          </p:stCondLst>
                                        </p:cTn>
                                        <p:tgtEl>
                                          <p:spTgt spid="16"/>
                                        </p:tgtEl>
                                        <p:attrNameLst>
                                          <p:attrName>ppt_y</p:attrName>
                                        </p:attrNameLst>
                                      </p:cBhvr>
                                      <p:tavLst>
                                        <p:tav tm="0">
                                          <p:val>
                                            <p:strVal val="#ppt_y-.03"/>
                                          </p:val>
                                        </p:tav>
                                        <p:tav tm="100000">
                                          <p:val>
                                            <p:strVal val="#ppt_y"/>
                                          </p:val>
                                        </p:tav>
                                      </p:tavLst>
                                    </p:anim>
                                  </p:childTnLst>
                                </p:cTn>
                              </p:par>
                              <p:par>
                                <p:cTn id="77" presetID="23" presetClass="entr" presetSubtype="16" fill="hold" nodeType="withEffect">
                                  <p:stCondLst>
                                    <p:cond delay="100"/>
                                  </p:stCondLst>
                                  <p:childTnLst>
                                    <p:set>
                                      <p:cBhvr>
                                        <p:cTn id="78" dur="1" fill="hold">
                                          <p:stCondLst>
                                            <p:cond delay="0"/>
                                          </p:stCondLst>
                                        </p:cTn>
                                        <p:tgtEl>
                                          <p:spTgt spid="17"/>
                                        </p:tgtEl>
                                        <p:attrNameLst>
                                          <p:attrName>style.visibility</p:attrName>
                                        </p:attrNameLst>
                                      </p:cBhvr>
                                      <p:to>
                                        <p:strVal val="visible"/>
                                      </p:to>
                                    </p:set>
                                    <p:anim calcmode="lin" valueType="num">
                                      <p:cBhvr>
                                        <p:cTn id="79" dur="300" fill="hold"/>
                                        <p:tgtEl>
                                          <p:spTgt spid="17"/>
                                        </p:tgtEl>
                                        <p:attrNameLst>
                                          <p:attrName>ppt_w</p:attrName>
                                        </p:attrNameLst>
                                      </p:cBhvr>
                                      <p:tavLst>
                                        <p:tav tm="0">
                                          <p:val>
                                            <p:fltVal val="0"/>
                                          </p:val>
                                        </p:tav>
                                        <p:tav tm="100000">
                                          <p:val>
                                            <p:strVal val="#ppt_w"/>
                                          </p:val>
                                        </p:tav>
                                      </p:tavLst>
                                    </p:anim>
                                    <p:anim calcmode="lin" valueType="num">
                                      <p:cBhvr>
                                        <p:cTn id="80" dur="300" fill="hold"/>
                                        <p:tgtEl>
                                          <p:spTgt spid="17"/>
                                        </p:tgtEl>
                                        <p:attrNameLst>
                                          <p:attrName>ppt_h</p:attrName>
                                        </p:attrNameLst>
                                      </p:cBhvr>
                                      <p:tavLst>
                                        <p:tav tm="0">
                                          <p:val>
                                            <p:fltVal val="0"/>
                                          </p:val>
                                        </p:tav>
                                        <p:tav tm="100000">
                                          <p:val>
                                            <p:strVal val="#ppt_h"/>
                                          </p:val>
                                        </p:tav>
                                      </p:tavLst>
                                    </p:anim>
                                  </p:childTnLst>
                                </p:cTn>
                              </p:par>
                            </p:childTnLst>
                          </p:cTn>
                        </p:par>
                        <p:par>
                          <p:cTn id="81" fill="hold">
                            <p:stCondLst>
                              <p:cond delay="2800"/>
                            </p:stCondLst>
                            <p:childTnLst>
                              <p:par>
                                <p:cTn id="82" presetID="37" presetClass="entr" presetSubtype="0" fill="hold" grpId="0" nodeType="afterEffect">
                                  <p:stCondLst>
                                    <p:cond delay="0"/>
                                  </p:stCondLst>
                                  <p:childTnLst>
                                    <p:set>
                                      <p:cBhvr>
                                        <p:cTn id="83" dur="1" fill="hold">
                                          <p:stCondLst>
                                            <p:cond delay="0"/>
                                          </p:stCondLst>
                                        </p:cTn>
                                        <p:tgtEl>
                                          <p:spTgt spid="18"/>
                                        </p:tgtEl>
                                        <p:attrNameLst>
                                          <p:attrName>style.visibility</p:attrName>
                                        </p:attrNameLst>
                                      </p:cBhvr>
                                      <p:to>
                                        <p:strVal val="visible"/>
                                      </p:to>
                                    </p:set>
                                    <p:animEffect transition="in" filter="fade">
                                      <p:cBhvr>
                                        <p:cTn id="84" dur="300"/>
                                        <p:tgtEl>
                                          <p:spTgt spid="18"/>
                                        </p:tgtEl>
                                      </p:cBhvr>
                                    </p:animEffect>
                                    <p:anim calcmode="lin" valueType="num">
                                      <p:cBhvr>
                                        <p:cTn id="85" dur="300" fill="hold"/>
                                        <p:tgtEl>
                                          <p:spTgt spid="18"/>
                                        </p:tgtEl>
                                        <p:attrNameLst>
                                          <p:attrName>ppt_x</p:attrName>
                                        </p:attrNameLst>
                                      </p:cBhvr>
                                      <p:tavLst>
                                        <p:tav tm="0">
                                          <p:val>
                                            <p:strVal val="#ppt_x"/>
                                          </p:val>
                                        </p:tav>
                                        <p:tav tm="100000">
                                          <p:val>
                                            <p:strVal val="#ppt_x"/>
                                          </p:val>
                                        </p:tav>
                                      </p:tavLst>
                                    </p:anim>
                                    <p:anim calcmode="lin" valueType="num">
                                      <p:cBhvr>
                                        <p:cTn id="86" dur="270" decel="100000" fill="hold"/>
                                        <p:tgtEl>
                                          <p:spTgt spid="18"/>
                                        </p:tgtEl>
                                        <p:attrNameLst>
                                          <p:attrName>ppt_y</p:attrName>
                                        </p:attrNameLst>
                                      </p:cBhvr>
                                      <p:tavLst>
                                        <p:tav tm="0">
                                          <p:val>
                                            <p:strVal val="#ppt_y+1"/>
                                          </p:val>
                                        </p:tav>
                                        <p:tav tm="100000">
                                          <p:val>
                                            <p:strVal val="#ppt_y-.03"/>
                                          </p:val>
                                        </p:tav>
                                      </p:tavLst>
                                    </p:anim>
                                    <p:anim calcmode="lin" valueType="num">
                                      <p:cBhvr>
                                        <p:cTn id="87" dur="30" accel="100000" fill="hold">
                                          <p:stCondLst>
                                            <p:cond delay="270"/>
                                          </p:stCondLst>
                                        </p:cTn>
                                        <p:tgtEl>
                                          <p:spTgt spid="18"/>
                                        </p:tgtEl>
                                        <p:attrNameLst>
                                          <p:attrName>ppt_y</p:attrName>
                                        </p:attrNameLst>
                                      </p:cBhvr>
                                      <p:tavLst>
                                        <p:tav tm="0">
                                          <p:val>
                                            <p:strVal val="#ppt_y-.03"/>
                                          </p:val>
                                        </p:tav>
                                        <p:tav tm="100000">
                                          <p:val>
                                            <p:strVal val="#ppt_y"/>
                                          </p:val>
                                        </p:tav>
                                      </p:tavLst>
                                    </p:anim>
                                  </p:childTnLst>
                                </p:cTn>
                              </p:par>
                              <p:par>
                                <p:cTn id="88" presetID="23" presetClass="entr" presetSubtype="16" fill="hold" nodeType="withEffect">
                                  <p:stCondLst>
                                    <p:cond delay="100"/>
                                  </p:stCondLst>
                                  <p:childTnLst>
                                    <p:set>
                                      <p:cBhvr>
                                        <p:cTn id="89" dur="1" fill="hold">
                                          <p:stCondLst>
                                            <p:cond delay="0"/>
                                          </p:stCondLst>
                                        </p:cTn>
                                        <p:tgtEl>
                                          <p:spTgt spid="19"/>
                                        </p:tgtEl>
                                        <p:attrNameLst>
                                          <p:attrName>style.visibility</p:attrName>
                                        </p:attrNameLst>
                                      </p:cBhvr>
                                      <p:to>
                                        <p:strVal val="visible"/>
                                      </p:to>
                                    </p:set>
                                    <p:anim calcmode="lin" valueType="num">
                                      <p:cBhvr>
                                        <p:cTn id="90" dur="300" fill="hold"/>
                                        <p:tgtEl>
                                          <p:spTgt spid="19"/>
                                        </p:tgtEl>
                                        <p:attrNameLst>
                                          <p:attrName>ppt_w</p:attrName>
                                        </p:attrNameLst>
                                      </p:cBhvr>
                                      <p:tavLst>
                                        <p:tav tm="0">
                                          <p:val>
                                            <p:fltVal val="0"/>
                                          </p:val>
                                        </p:tav>
                                        <p:tav tm="100000">
                                          <p:val>
                                            <p:strVal val="#ppt_w"/>
                                          </p:val>
                                        </p:tav>
                                      </p:tavLst>
                                    </p:anim>
                                    <p:anim calcmode="lin" valueType="num">
                                      <p:cBhvr>
                                        <p:cTn id="91" dur="300" fill="hold"/>
                                        <p:tgtEl>
                                          <p:spTgt spid="19"/>
                                        </p:tgtEl>
                                        <p:attrNameLst>
                                          <p:attrName>ppt_h</p:attrName>
                                        </p:attrNameLst>
                                      </p:cBhvr>
                                      <p:tavLst>
                                        <p:tav tm="0">
                                          <p:val>
                                            <p:fltVal val="0"/>
                                          </p:val>
                                        </p:tav>
                                        <p:tav tm="100000">
                                          <p:val>
                                            <p:strVal val="#ppt_h"/>
                                          </p:val>
                                        </p:tav>
                                      </p:tavLst>
                                    </p:anim>
                                  </p:childTnLst>
                                </p:cTn>
                              </p:par>
                            </p:childTnLst>
                          </p:cTn>
                        </p:par>
                        <p:par>
                          <p:cTn id="92" fill="hold">
                            <p:stCondLst>
                              <p:cond delay="3200"/>
                            </p:stCondLst>
                            <p:childTnLst>
                              <p:par>
                                <p:cTn id="93" presetID="37" presetClass="entr" presetSubtype="0" fill="hold" grpId="0" nodeType="afterEffect">
                                  <p:stCondLst>
                                    <p:cond delay="0"/>
                                  </p:stCondLst>
                                  <p:childTnLst>
                                    <p:set>
                                      <p:cBhvr>
                                        <p:cTn id="94" dur="1" fill="hold">
                                          <p:stCondLst>
                                            <p:cond delay="0"/>
                                          </p:stCondLst>
                                        </p:cTn>
                                        <p:tgtEl>
                                          <p:spTgt spid="22"/>
                                        </p:tgtEl>
                                        <p:attrNameLst>
                                          <p:attrName>style.visibility</p:attrName>
                                        </p:attrNameLst>
                                      </p:cBhvr>
                                      <p:to>
                                        <p:strVal val="visible"/>
                                      </p:to>
                                    </p:set>
                                    <p:animEffect transition="in" filter="fade">
                                      <p:cBhvr>
                                        <p:cTn id="95" dur="600"/>
                                        <p:tgtEl>
                                          <p:spTgt spid="22"/>
                                        </p:tgtEl>
                                      </p:cBhvr>
                                    </p:animEffect>
                                    <p:anim calcmode="lin" valueType="num">
                                      <p:cBhvr>
                                        <p:cTn id="96" dur="600" fill="hold"/>
                                        <p:tgtEl>
                                          <p:spTgt spid="22"/>
                                        </p:tgtEl>
                                        <p:attrNameLst>
                                          <p:attrName>ppt_x</p:attrName>
                                        </p:attrNameLst>
                                      </p:cBhvr>
                                      <p:tavLst>
                                        <p:tav tm="0">
                                          <p:val>
                                            <p:strVal val="#ppt_x"/>
                                          </p:val>
                                        </p:tav>
                                        <p:tav tm="100000">
                                          <p:val>
                                            <p:strVal val="#ppt_x"/>
                                          </p:val>
                                        </p:tav>
                                      </p:tavLst>
                                    </p:anim>
                                    <p:anim calcmode="lin" valueType="num">
                                      <p:cBhvr>
                                        <p:cTn id="97" dur="540" decel="100000" fill="hold"/>
                                        <p:tgtEl>
                                          <p:spTgt spid="22"/>
                                        </p:tgtEl>
                                        <p:attrNameLst>
                                          <p:attrName>ppt_y</p:attrName>
                                        </p:attrNameLst>
                                      </p:cBhvr>
                                      <p:tavLst>
                                        <p:tav tm="0">
                                          <p:val>
                                            <p:strVal val="#ppt_y+1"/>
                                          </p:val>
                                        </p:tav>
                                        <p:tav tm="100000">
                                          <p:val>
                                            <p:strVal val="#ppt_y-.03"/>
                                          </p:val>
                                        </p:tav>
                                      </p:tavLst>
                                    </p:anim>
                                    <p:anim calcmode="lin" valueType="num">
                                      <p:cBhvr>
                                        <p:cTn id="98" dur="60" accel="100000" fill="hold">
                                          <p:stCondLst>
                                            <p:cond delay="540"/>
                                          </p:stCondLst>
                                        </p:cTn>
                                        <p:tgtEl>
                                          <p:spTgt spid="22"/>
                                        </p:tgtEl>
                                        <p:attrNameLst>
                                          <p:attrName>ppt_y</p:attrName>
                                        </p:attrNameLst>
                                      </p:cBhvr>
                                      <p:tavLst>
                                        <p:tav tm="0">
                                          <p:val>
                                            <p:strVal val="#ppt_y-.03"/>
                                          </p:val>
                                        </p:tav>
                                        <p:tav tm="100000">
                                          <p:val>
                                            <p:strVal val="#ppt_y"/>
                                          </p:val>
                                        </p:tav>
                                      </p:tavLst>
                                    </p:anim>
                                  </p:childTnLst>
                                </p:cTn>
                              </p:par>
                            </p:childTnLst>
                          </p:cTn>
                        </p:par>
                        <p:par>
                          <p:cTn id="99" fill="hold">
                            <p:stCondLst>
                              <p:cond delay="3800"/>
                            </p:stCondLst>
                            <p:childTnLst>
                              <p:par>
                                <p:cTn id="100" presetID="22" presetClass="entr" presetSubtype="8" fill="hold" nodeType="afterEffect">
                                  <p:stCondLst>
                                    <p:cond delay="0"/>
                                  </p:stCondLst>
                                  <p:childTnLst>
                                    <p:set>
                                      <p:cBhvr>
                                        <p:cTn id="101" dur="1" fill="hold">
                                          <p:stCondLst>
                                            <p:cond delay="0"/>
                                          </p:stCondLst>
                                        </p:cTn>
                                        <p:tgtEl>
                                          <p:spTgt spid="20"/>
                                        </p:tgtEl>
                                        <p:attrNameLst>
                                          <p:attrName>style.visibility</p:attrName>
                                        </p:attrNameLst>
                                      </p:cBhvr>
                                      <p:to>
                                        <p:strVal val="visible"/>
                                      </p:to>
                                    </p:set>
                                    <p:animEffect transition="in" filter="wipe(left)">
                                      <p:cBhvr>
                                        <p:cTn id="102" dur="500"/>
                                        <p:tgtEl>
                                          <p:spTgt spid="20"/>
                                        </p:tgtEl>
                                      </p:cBhvr>
                                    </p:animEffect>
                                  </p:childTnLst>
                                </p:cTn>
                              </p:par>
                            </p:childTnLst>
                          </p:cTn>
                        </p:par>
                        <p:par>
                          <p:cTn id="103" fill="hold">
                            <p:stCondLst>
                              <p:cond delay="4300"/>
                            </p:stCondLst>
                            <p:childTnLst>
                              <p:par>
                                <p:cTn id="104" presetID="10" presetClass="entr" presetSubtype="0" fill="hold" nodeType="afterEffect">
                                  <p:stCondLst>
                                    <p:cond delay="0"/>
                                  </p:stCondLst>
                                  <p:childTnLst>
                                    <p:set>
                                      <p:cBhvr>
                                        <p:cTn id="105" dur="1" fill="hold">
                                          <p:stCondLst>
                                            <p:cond delay="0"/>
                                          </p:stCondLst>
                                        </p:cTn>
                                        <p:tgtEl>
                                          <p:spTgt spid="21"/>
                                        </p:tgtEl>
                                        <p:attrNameLst>
                                          <p:attrName>style.visibility</p:attrName>
                                        </p:attrNameLst>
                                      </p:cBhvr>
                                      <p:to>
                                        <p:strVal val="visible"/>
                                      </p:to>
                                    </p:set>
                                    <p:animEffect transition="in" filter="fade">
                                      <p:cBhvr>
                                        <p:cTn id="106" dur="200"/>
                                        <p:tgtEl>
                                          <p:spTgt spid="21"/>
                                        </p:tgtEl>
                                      </p:cBhvr>
                                    </p:animEffect>
                                  </p:childTnLst>
                                </p:cTn>
                              </p:par>
                            </p:childTnLst>
                          </p:cTn>
                        </p:par>
                        <p:par>
                          <p:cTn id="107" fill="hold">
                            <p:stCondLst>
                              <p:cond delay="4500"/>
                            </p:stCondLst>
                            <p:childTnLst>
                              <p:par>
                                <p:cTn id="108" presetID="63" presetClass="path" presetSubtype="0" fill="hold" nodeType="afterEffect">
                                  <p:stCondLst>
                                    <p:cond delay="0"/>
                                  </p:stCondLst>
                                  <p:childTnLst>
                                    <p:animMotion origin="layout" path="M 0 0 L 0.8667 0 E" pathEditMode="relative" ptsTypes="">
                                      <p:cBhvr>
                                        <p:cTn id="109" dur="3200" fill="hold"/>
                                        <p:tgtEl>
                                          <p:spTgt spid="21"/>
                                        </p:tgtEl>
                                        <p:attrNameLst>
                                          <p:attrName>ppt_x</p:attrName>
                                          <p:attrName>ppt_y</p:attrName>
                                        </p:attrNameLst>
                                      </p:cBhvr>
                                    </p:animMotion>
                                  </p:childTnLst>
                                </p:cTn>
                              </p:par>
                              <p:par>
                                <p:cTn id="110" presetID="6" presetClass="emph" presetSubtype="0" autoRev="1" fill="hold" grpId="1" nodeType="withEffect">
                                  <p:stCondLst>
                                    <p:cond delay="50"/>
                                  </p:stCondLst>
                                  <p:childTnLst>
                                    <p:animScale>
                                      <p:cBhvr>
                                        <p:cTn id="111" dur="300" fill="hold"/>
                                        <p:tgtEl>
                                          <p:spTgt spid="4"/>
                                        </p:tgtEl>
                                      </p:cBhvr>
                                      <p:by x="106000" y="106000"/>
                                    </p:animScale>
                                  </p:childTnLst>
                                </p:cTn>
                              </p:par>
                              <p:par>
                                <p:cTn id="112" presetID="6" presetClass="emph" presetSubtype="0" autoRev="1" fill="hold" grpId="1" nodeType="withEffect">
                                  <p:stCondLst>
                                    <p:cond delay="450"/>
                                  </p:stCondLst>
                                  <p:childTnLst>
                                    <p:animScale>
                                      <p:cBhvr>
                                        <p:cTn id="113" dur="300" fill="hold"/>
                                        <p:tgtEl>
                                          <p:spTgt spid="6"/>
                                        </p:tgtEl>
                                      </p:cBhvr>
                                      <p:by x="106000" y="106000"/>
                                    </p:animScale>
                                  </p:childTnLst>
                                </p:cTn>
                              </p:par>
                              <p:par>
                                <p:cTn id="114" presetID="6" presetClass="emph" presetSubtype="0" autoRev="1" fill="hold" grpId="1" nodeType="withEffect">
                                  <p:stCondLst>
                                    <p:cond delay="850"/>
                                  </p:stCondLst>
                                  <p:childTnLst>
                                    <p:animScale>
                                      <p:cBhvr>
                                        <p:cTn id="115" dur="300" fill="hold"/>
                                        <p:tgtEl>
                                          <p:spTgt spid="8"/>
                                        </p:tgtEl>
                                      </p:cBhvr>
                                      <p:by x="106000" y="106000"/>
                                    </p:animScale>
                                  </p:childTnLst>
                                </p:cTn>
                              </p:par>
                              <p:par>
                                <p:cTn id="116" presetID="6" presetClass="emph" presetSubtype="0" autoRev="1" fill="hold" grpId="1" nodeType="withEffect">
                                  <p:stCondLst>
                                    <p:cond delay="1250"/>
                                  </p:stCondLst>
                                  <p:childTnLst>
                                    <p:animScale>
                                      <p:cBhvr>
                                        <p:cTn id="117" dur="300" fill="hold"/>
                                        <p:tgtEl>
                                          <p:spTgt spid="10"/>
                                        </p:tgtEl>
                                      </p:cBhvr>
                                      <p:by x="106000" y="106000"/>
                                    </p:animScale>
                                  </p:childTnLst>
                                </p:cTn>
                              </p:par>
                              <p:par>
                                <p:cTn id="118" presetID="6" presetClass="emph" presetSubtype="0" autoRev="1" fill="hold" grpId="1" nodeType="withEffect">
                                  <p:stCondLst>
                                    <p:cond delay="1650"/>
                                  </p:stCondLst>
                                  <p:childTnLst>
                                    <p:animScale>
                                      <p:cBhvr>
                                        <p:cTn id="119" dur="300" fill="hold"/>
                                        <p:tgtEl>
                                          <p:spTgt spid="12"/>
                                        </p:tgtEl>
                                      </p:cBhvr>
                                      <p:by x="106000" y="106000"/>
                                    </p:animScale>
                                  </p:childTnLst>
                                </p:cTn>
                              </p:par>
                              <p:par>
                                <p:cTn id="120" presetID="6" presetClass="emph" presetSubtype="0" autoRev="1" fill="hold" grpId="1" nodeType="withEffect">
                                  <p:stCondLst>
                                    <p:cond delay="2050"/>
                                  </p:stCondLst>
                                  <p:childTnLst>
                                    <p:animScale>
                                      <p:cBhvr>
                                        <p:cTn id="121" dur="300" fill="hold"/>
                                        <p:tgtEl>
                                          <p:spTgt spid="14"/>
                                        </p:tgtEl>
                                      </p:cBhvr>
                                      <p:by x="106000" y="106000"/>
                                    </p:animScale>
                                  </p:childTnLst>
                                </p:cTn>
                              </p:par>
                              <p:par>
                                <p:cTn id="122" presetID="6" presetClass="emph" presetSubtype="0" autoRev="1" fill="hold" grpId="1" nodeType="withEffect">
                                  <p:stCondLst>
                                    <p:cond delay="2450"/>
                                  </p:stCondLst>
                                  <p:childTnLst>
                                    <p:animScale>
                                      <p:cBhvr>
                                        <p:cTn id="123" dur="300" fill="hold"/>
                                        <p:tgtEl>
                                          <p:spTgt spid="16"/>
                                        </p:tgtEl>
                                      </p:cBhvr>
                                      <p:by x="106000" y="106000"/>
                                    </p:animScale>
                                  </p:childTnLst>
                                </p:cTn>
                              </p:par>
                              <p:par>
                                <p:cTn id="124" presetID="6" presetClass="emph" presetSubtype="0" autoRev="1" fill="hold" grpId="1" nodeType="withEffect">
                                  <p:stCondLst>
                                    <p:cond delay="2850"/>
                                  </p:stCondLst>
                                  <p:childTnLst>
                                    <p:animScale>
                                      <p:cBhvr>
                                        <p:cTn id="125" dur="300" fill="hold"/>
                                        <p:tgtEl>
                                          <p:spTgt spid="18"/>
                                        </p:tgtEl>
                                      </p:cBhvr>
                                      <p:by x="106000" y="106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6" grpId="0" animBg="1"/>
      <p:bldP spid="6" grpId="1" animBg="1"/>
      <p:bldP spid="8" grpId="0" animBg="1"/>
      <p:bldP spid="8" grpId="1" animBg="1"/>
      <p:bldP spid="10" grpId="0" animBg="1"/>
      <p:bldP spid="10" grpId="1" animBg="1"/>
      <p:bldP spid="12" grpId="0" animBg="1"/>
      <p:bldP spid="12" grpId="1" animBg="1"/>
      <p:bldP spid="14" grpId="0" animBg="1"/>
      <p:bldP spid="14" grpId="1" animBg="1"/>
      <p:bldP spid="16" grpId="0" animBg="1"/>
      <p:bldP spid="16" grpId="1" animBg="1"/>
      <p:bldP spid="18" grpId="0" animBg="1"/>
      <p:bldP spid="18" grpId="1" animBg="1"/>
      <p:bldP spid="2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eyebrow"/>
          <p:cNvSpPr txBox="1"/>
          <p:nvPr/>
        </p:nvSpPr>
        <p:spPr>
          <a:xfrm>
            <a:off x="812800" y="774700"/>
            <a:ext cx="8890000" cy="254000"/>
          </a:xfrm>
          <a:prstGeom prst="rect">
            <a:avLst/>
          </a:prstGeom>
          <a:noFill/>
          <a:ln/>
        </p:spPr>
        <p:txBody>
          <a:bodyPr wrap="square" lIns="0" tIns="0" rIns="0" bIns="0" rtlCol="0" anchor="ctr"/>
          <a:lstStyle/>
          <a:p>
            <a:pPr marL="0" indent="0">
              <a:buNone/>
            </a:pPr>
            <a:r>
              <a:rPr lang="en-US" sz="1200" b="1" kern="0" spc="300" dirty="0">
                <a:solidFill>
                  <a:srgbClr val="A84A14"/>
                </a:solidFill>
                <a:latin typeface="Calibri" pitchFamily="34" charset="0"/>
                <a:ea typeface="Calibri" pitchFamily="34" charset="-122"/>
                <a:cs typeface="Calibri" pitchFamily="34" charset="-120"/>
              </a:rPr>
              <a:t>THEORY · STATIONS 1–3</a:t>
            </a:r>
            <a:endParaRPr lang="en-US" sz="1200" dirty="0"/>
          </a:p>
        </p:txBody>
      </p:sp>
      <p:sp>
        <p:nvSpPr>
          <p:cNvPr id="3" name="!!title"/>
          <p:cNvSpPr txBox="1"/>
          <p:nvPr/>
        </p:nvSpPr>
        <p:spPr>
          <a:xfrm>
            <a:off x="812800" y="1054100"/>
            <a:ext cx="10566400" cy="558800"/>
          </a:xfrm>
          <a:prstGeom prst="rect">
            <a:avLst/>
          </a:prstGeom>
          <a:noFill/>
          <a:ln/>
        </p:spPr>
        <p:txBody>
          <a:bodyPr wrap="square" lIns="0" tIns="0" rIns="0" bIns="0" rtlCol="0" anchor="ctr"/>
          <a:lstStyle/>
          <a:p>
            <a:pPr marL="0" indent="0">
              <a:buNone/>
            </a:pPr>
            <a:r>
              <a:rPr lang="en-US" sz="3200" b="1" dirty="0">
                <a:solidFill>
                  <a:srgbClr val="14171C"/>
                </a:solidFill>
                <a:latin typeface="Arial" pitchFamily="34" charset="0"/>
                <a:ea typeface="Arial" pitchFamily="34" charset="-122"/>
                <a:cs typeface="Arial" pitchFamily="34" charset="-120"/>
              </a:rPr>
              <a:t>Generate, wash, mix</a:t>
            </a:r>
            <a:endParaRPr lang="en-US" sz="3200" dirty="0"/>
          </a:p>
        </p:txBody>
      </p:sp>
      <p:sp>
        <p:nvSpPr>
          <p:cNvPr id="4" name="s4-p1"/>
          <p:cNvSpPr txBox="1"/>
          <p:nvPr/>
        </p:nvSpPr>
        <p:spPr>
          <a:xfrm>
            <a:off x="812800" y="1879600"/>
            <a:ext cx="3384550" cy="2613025"/>
          </a:xfrm>
          <a:prstGeom prst="roundRect">
            <a:avLst>
              <a:gd name="adj" fmla="val 4199"/>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01 · GENERATE</a:t>
            </a:r>
            <a:endParaRPr lang="en-US" sz="1200" dirty="0"/>
          </a:p>
          <a:p>
            <a:pPr marL="0" indent="0">
              <a:spcAft>
                <a:spcPts val="500"/>
              </a:spcAft>
              <a:buNone/>
            </a:pPr>
            <a:r>
              <a:rPr lang="en-US" sz="1300" dirty="0">
                <a:solidFill>
                  <a:srgbClr val="E9E4DA"/>
                </a:solidFill>
                <a:latin typeface="Calibri" pitchFamily="34" charset="0"/>
                <a:ea typeface="Calibri" pitchFamily="34" charset="-122"/>
                <a:cs typeface="Calibri" pitchFamily="34" charset="-120"/>
              </a:rPr>
              <a:t>Ingredients are signals</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x[n] = x(n/400), n = 0…400</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sq  = (4A/π)·Σ sin(2πkft)/k</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tri = (8A/π²)·Σ ±sin(2πkft)/k²</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k = 1, 3, 5, …  (odd harmonics)</a:t>
            </a:r>
            <a:endParaRPr lang="en-US" sz="1200" dirty="0"/>
          </a:p>
          <a:p>
            <a:pPr marL="0" indent="0">
              <a:lnSpc>
                <a:spcPct val="120000"/>
              </a:lnSpc>
              <a:spcAft>
                <a:spcPts val="600"/>
              </a:spcAft>
              <a:buNone/>
            </a:pPr>
            <a:r>
              <a:rPr lang="en-US" sz="1200" dirty="0">
                <a:solidFill>
                  <a:srgbClr val="7FE0D3"/>
                </a:solidFill>
                <a:latin typeface="Consolas" pitchFamily="34" charset="0"/>
                <a:ea typeface="Consolas" pitchFamily="34" charset="-122"/>
                <a:cs typeface="Consolas" pitchFamily="34" charset="-120"/>
              </a:rPr>
              <a:t>x_d(t) = x(t) + n(t)</a:t>
            </a:r>
            <a:endParaRPr lang="en-US" sz="1200" dirty="0"/>
          </a:p>
          <a:p>
            <a:pPr marL="0" indent="0">
              <a:buNone/>
            </a:pPr>
            <a:r>
              <a:rPr lang="en-US" sz="1200" dirty="0">
                <a:solidFill>
                  <a:srgbClr val="9AA4B2"/>
                </a:solidFill>
                <a:latin typeface="Calibri" pitchFamily="34" charset="0"/>
                <a:ea typeface="Calibri" pitchFamily="34" charset="-122"/>
                <a:cs typeface="Calibri" pitchFamily="34" charset="-120"/>
              </a:rPr>
              <a:t>Parametric curves use y(t); the chicken is a real 44.1 kHz recording.</a:t>
            </a:r>
            <a:endParaRPr lang="en-US" sz="1200" dirty="0"/>
          </a:p>
        </p:txBody>
      </p:sp>
      <p:sp>
        <p:nvSpPr>
          <p:cNvPr id="5" name="s4-p2"/>
          <p:cNvSpPr txBox="1"/>
          <p:nvPr/>
        </p:nvSpPr>
        <p:spPr>
          <a:xfrm>
            <a:off x="4400550" y="1879600"/>
            <a:ext cx="3384550" cy="2628265"/>
          </a:xfrm>
          <a:prstGeom prst="roundRect">
            <a:avLst>
              <a:gd name="adj" fmla="val 4175"/>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02 · WASH</a:t>
            </a:r>
            <a:endParaRPr lang="en-US" sz="1200" dirty="0"/>
          </a:p>
          <a:p>
            <a:pPr marL="0" indent="0">
              <a:spcAft>
                <a:spcPts val="500"/>
              </a:spcAft>
              <a:buNone/>
            </a:pPr>
            <a:r>
              <a:rPr lang="en-US" sz="1300" dirty="0">
                <a:solidFill>
                  <a:srgbClr val="E9E4DA"/>
                </a:solidFill>
                <a:latin typeface="Calibri" pitchFamily="34" charset="0"/>
                <a:ea typeface="Calibri" pitchFamily="34" charset="-122"/>
                <a:cs typeface="Calibri" pitchFamily="34" charset="-120"/>
              </a:rPr>
              <a:t>Washing is low-pass filtering</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Y(f) = H(f)·X(f)</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H = 1,  if f ≤ f_c</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H = ½[1 + cos(π(f − f_c)/w)]</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H = 0,  if f ≥ f_c + w</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w = max(30, 0.15·f_c)</a:t>
            </a:r>
            <a:endParaRPr lang="en-US" sz="1200" dirty="0"/>
          </a:p>
          <a:p>
            <a:pPr marL="0" indent="0">
              <a:lnSpc>
                <a:spcPct val="120000"/>
              </a:lnSpc>
              <a:spcAft>
                <a:spcPts val="600"/>
              </a:spcAft>
              <a:buNone/>
            </a:pPr>
            <a:r>
              <a:rPr lang="en-US" sz="1200" dirty="0">
                <a:solidFill>
                  <a:srgbClr val="7FE0D3"/>
                </a:solidFill>
                <a:latin typeface="Consolas" pitchFamily="34" charset="0"/>
                <a:ea typeface="Consolas" pitchFamily="34" charset="-122"/>
                <a:cs typeface="Consolas" pitchFamily="34" charset="-120"/>
              </a:rPr>
              <a:t>prep = 55%·removed + 45%·kept</a:t>
            </a:r>
            <a:endParaRPr lang="en-US" sz="1200" dirty="0"/>
          </a:p>
          <a:p>
            <a:pPr marL="0" indent="0">
              <a:buNone/>
            </a:pPr>
            <a:r>
              <a:rPr lang="en-US" sz="1200" dirty="0">
                <a:solidFill>
                  <a:srgbClr val="9AA4B2"/>
                </a:solidFill>
                <a:latin typeface="Calibri" pitchFamily="34" charset="0"/>
                <a:ea typeface="Calibri" pitchFamily="34" charset="-122"/>
                <a:cs typeface="Calibri" pitchFamily="34" charset="-120"/>
              </a:rPr>
              <a:t>Pass mark: cleanliness ≥ 85 %.</a:t>
            </a:r>
            <a:endParaRPr lang="en-US" sz="1200" dirty="0"/>
          </a:p>
        </p:txBody>
      </p:sp>
      <p:sp>
        <p:nvSpPr>
          <p:cNvPr id="6" name="s4-p3"/>
          <p:cNvSpPr txBox="1"/>
          <p:nvPr/>
        </p:nvSpPr>
        <p:spPr>
          <a:xfrm>
            <a:off x="7988300" y="1879600"/>
            <a:ext cx="3384550" cy="2384425"/>
          </a:xfrm>
          <a:prstGeom prst="roundRect">
            <a:avLst>
              <a:gd name="adj" fmla="val 4602"/>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03 · MIX</a:t>
            </a:r>
            <a:endParaRPr lang="en-US" sz="1200" dirty="0"/>
          </a:p>
          <a:p>
            <a:pPr marL="0" indent="0">
              <a:spcAft>
                <a:spcPts val="500"/>
              </a:spcAft>
              <a:buNone/>
            </a:pPr>
            <a:r>
              <a:rPr lang="en-US" sz="1300" dirty="0">
                <a:solidFill>
                  <a:srgbClr val="E9E4DA"/>
                </a:solidFill>
                <a:latin typeface="Calibri" pitchFamily="34" charset="0"/>
                <a:ea typeface="Calibri" pitchFamily="34" charset="-122"/>
                <a:cs typeface="Calibri" pitchFamily="34" charset="-120"/>
              </a:rPr>
              <a:t>The bowl is superposition</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m[n] = (1/√K)·Σₖ xₖ[n]</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K = 1  →  m[n] = x₁[n]</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curve = (Σₖ Xₖ(u), Σₖ Yₖ(u))</a:t>
            </a:r>
            <a:endParaRPr lang="en-US" sz="1200" dirty="0"/>
          </a:p>
          <a:p>
            <a:pPr marL="0" indent="0">
              <a:lnSpc>
                <a:spcPct val="120000"/>
              </a:lnSpc>
              <a:spcAft>
                <a:spcPts val="600"/>
              </a:spcAft>
              <a:buNone/>
            </a:pPr>
            <a:r>
              <a:rPr lang="en-US" sz="1200" dirty="0">
                <a:solidFill>
                  <a:srgbClr val="7FE0D3"/>
                </a:solidFill>
                <a:latin typeface="Consolas" pitchFamily="34" charset="0"/>
                <a:ea typeface="Consolas" pitchFamily="34" charset="-122"/>
                <a:cs typeface="Consolas" pitchFamily="34" charset="-120"/>
              </a:rPr>
              <a:t>mix% = |bowl∩recipe|/|recipe|</a:t>
            </a:r>
            <a:endParaRPr lang="en-US" sz="1200" dirty="0"/>
          </a:p>
          <a:p>
            <a:pPr marL="0" indent="0">
              <a:buNone/>
            </a:pPr>
            <a:r>
              <a:rPr lang="en-US" sz="1200" dirty="0">
                <a:solidFill>
                  <a:srgbClr val="9AA4B2"/>
                </a:solidFill>
                <a:latin typeface="Calibri" pitchFamily="34" charset="0"/>
                <a:ea typeface="Calibri" pitchFamily="34" charset="-122"/>
                <a:cs typeface="Calibri" pitchFamily="34" charset="-120"/>
              </a:rPr>
              <a:t>1/√K keeps K ingredients about as loud as one; curves add as 2-D paths.</a:t>
            </a:r>
            <a:endParaRPr lang="en-US" sz="1200" dirty="0"/>
          </a:p>
        </p:txBody>
      </p:sp>
      <p:sp>
        <p:nvSpPr>
          <p:cNvPr id="7" name="s4-strip"/>
          <p:cNvSpPr/>
          <p:nvPr/>
        </p:nvSpPr>
        <p:spPr>
          <a:xfrm>
            <a:off x="812800" y="4685665"/>
            <a:ext cx="10566400" cy="1244600"/>
          </a:xfrm>
          <a:prstGeom prst="roundRect">
            <a:avLst>
              <a:gd name="adj" fmla="val 8816"/>
            </a:avLst>
          </a:prstGeom>
          <a:solidFill>
            <a:srgbClr val="151A21"/>
          </a:solidFill>
          <a:ln w="9525">
            <a:solidFill>
              <a:srgbClr val="2B333E"/>
            </a:solidFill>
            <a:prstDash val="solid"/>
          </a:ln>
        </p:spPr>
      </p:sp>
      <p:sp>
        <p:nvSpPr>
          <p:cNvPr id="8" name="s4-l1"/>
          <p:cNvSpPr txBox="1"/>
          <p:nvPr/>
        </p:nvSpPr>
        <p:spPr>
          <a:xfrm>
            <a:off x="1016000" y="4787265"/>
            <a:ext cx="2387600" cy="215900"/>
          </a:xfrm>
          <a:prstGeom prst="rect">
            <a:avLst/>
          </a:prstGeom>
          <a:noFill/>
          <a:ln/>
        </p:spPr>
        <p:txBody>
          <a:bodyPr wrap="square" lIns="0" tIns="0" rIns="0" bIns="0" rtlCol="0" anchor="ctr"/>
          <a:lstStyle/>
          <a:p>
            <a:pPr marL="0" indent="0">
              <a:buNone/>
            </a:pPr>
            <a:r>
              <a:rPr lang="en-US" sz="1200" dirty="0">
                <a:solidFill>
                  <a:srgbClr val="9AA4B2"/>
                </a:solidFill>
                <a:latin typeface="Calibri" pitchFamily="34" charset="0"/>
                <a:ea typeface="Calibri" pitchFamily="34" charset="-122"/>
                <a:cs typeface="Calibri" pitchFamily="34" charset="-120"/>
              </a:rPr>
              <a:t>square: odd harmonics, 1/k</a:t>
            </a:r>
            <a:endParaRPr lang="en-US" sz="1200" dirty="0"/>
          </a:p>
        </p:txBody>
      </p:sp>
      <p:pic>
        <p:nvPicPr>
          <p:cNvPr id="9" name="s4-t1" descr="square: odd harmonics, 1/k"/>
          <p:cNvPicPr>
            <a:picLocks noChangeAspect="1"/>
          </p:cNvPicPr>
          <p:nvPr/>
        </p:nvPicPr>
        <p:blipFill>
          <a:blip r:embed="rId4"/>
          <a:stretch>
            <a:fillRect/>
          </a:stretch>
        </p:blipFill>
        <p:spPr>
          <a:xfrm>
            <a:off x="1016000" y="5079365"/>
            <a:ext cx="2286000" cy="698500"/>
          </a:xfrm>
          <a:prstGeom prst="rect">
            <a:avLst/>
          </a:prstGeom>
        </p:spPr>
      </p:pic>
      <p:sp>
        <p:nvSpPr>
          <p:cNvPr id="10" name="s4-l2"/>
          <p:cNvSpPr txBox="1"/>
          <p:nvPr/>
        </p:nvSpPr>
        <p:spPr>
          <a:xfrm>
            <a:off x="3606800" y="4787265"/>
            <a:ext cx="2387600" cy="215900"/>
          </a:xfrm>
          <a:prstGeom prst="rect">
            <a:avLst/>
          </a:prstGeom>
          <a:noFill/>
          <a:ln/>
        </p:spPr>
        <p:txBody>
          <a:bodyPr wrap="square" lIns="0" tIns="0" rIns="0" bIns="0" rtlCol="0" anchor="ctr"/>
          <a:lstStyle/>
          <a:p>
            <a:pPr marL="0" indent="0">
              <a:buNone/>
            </a:pPr>
            <a:r>
              <a:rPr lang="en-US" sz="1200" dirty="0">
                <a:solidFill>
                  <a:srgbClr val="9AA4B2"/>
                </a:solidFill>
                <a:latin typeface="Calibri" pitchFamily="34" charset="0"/>
                <a:ea typeface="Calibri" pitchFamily="34" charset="-122"/>
                <a:cs typeface="Calibri" pitchFamily="34" charset="-120"/>
              </a:rPr>
              <a:t>triangle: odd harmonics, 1/k²</a:t>
            </a:r>
            <a:endParaRPr lang="en-US" sz="1200" dirty="0"/>
          </a:p>
        </p:txBody>
      </p:sp>
      <p:pic>
        <p:nvPicPr>
          <p:cNvPr id="11" name="s4-t2" descr="triangle: odd harmonics, 1/k²"/>
          <p:cNvPicPr>
            <a:picLocks noChangeAspect="1"/>
          </p:cNvPicPr>
          <p:nvPr/>
        </p:nvPicPr>
        <p:blipFill>
          <a:blip r:embed="rId5"/>
          <a:stretch>
            <a:fillRect/>
          </a:stretch>
        </p:blipFill>
        <p:spPr>
          <a:xfrm>
            <a:off x="3606800" y="5079365"/>
            <a:ext cx="2286000" cy="698500"/>
          </a:xfrm>
          <a:prstGeom prst="rect">
            <a:avLst/>
          </a:prstGeom>
        </p:spPr>
      </p:pic>
      <p:sp>
        <p:nvSpPr>
          <p:cNvPr id="12" name="s4-l3"/>
          <p:cNvSpPr txBox="1"/>
          <p:nvPr/>
        </p:nvSpPr>
        <p:spPr>
          <a:xfrm>
            <a:off x="6197600" y="4787265"/>
            <a:ext cx="2387600" cy="215900"/>
          </a:xfrm>
          <a:prstGeom prst="rect">
            <a:avLst/>
          </a:prstGeom>
          <a:noFill/>
          <a:ln/>
        </p:spPr>
        <p:txBody>
          <a:bodyPr wrap="square" lIns="0" tIns="0" rIns="0" bIns="0" rtlCol="0" anchor="ctr"/>
          <a:lstStyle/>
          <a:p>
            <a:pPr marL="0" indent="0">
              <a:buNone/>
            </a:pPr>
            <a:r>
              <a:rPr lang="en-US" sz="1200" dirty="0">
                <a:solidFill>
                  <a:srgbClr val="9AA4B2"/>
                </a:solidFill>
                <a:latin typeface="Calibri" pitchFamily="34" charset="0"/>
                <a:ea typeface="Calibri" pitchFamily="34" charset="-122"/>
                <a:cs typeface="Calibri" pitchFamily="34" charset="-120"/>
              </a:rPr>
              <a:t>dirty: x(t) + n(t)</a:t>
            </a:r>
            <a:endParaRPr lang="en-US" sz="1200" dirty="0"/>
          </a:p>
        </p:txBody>
      </p:sp>
      <p:pic>
        <p:nvPicPr>
          <p:cNvPr id="13" name="s4-t3" descr="dirty: x(t) + n(t)"/>
          <p:cNvPicPr>
            <a:picLocks noChangeAspect="1"/>
          </p:cNvPicPr>
          <p:nvPr/>
        </p:nvPicPr>
        <p:blipFill>
          <a:blip r:embed="rId6"/>
          <a:stretch>
            <a:fillRect/>
          </a:stretch>
        </p:blipFill>
        <p:spPr>
          <a:xfrm>
            <a:off x="6197600" y="5079365"/>
            <a:ext cx="2286000" cy="698500"/>
          </a:xfrm>
          <a:prstGeom prst="rect">
            <a:avLst/>
          </a:prstGeom>
        </p:spPr>
      </p:pic>
      <p:sp>
        <p:nvSpPr>
          <p:cNvPr id="14" name="s4-l4"/>
          <p:cNvSpPr txBox="1"/>
          <p:nvPr/>
        </p:nvSpPr>
        <p:spPr>
          <a:xfrm>
            <a:off x="8788400" y="4787265"/>
            <a:ext cx="2387600" cy="215900"/>
          </a:xfrm>
          <a:prstGeom prst="rect">
            <a:avLst/>
          </a:prstGeom>
          <a:noFill/>
          <a:ln/>
        </p:spPr>
        <p:txBody>
          <a:bodyPr wrap="square" lIns="0" tIns="0" rIns="0" bIns="0" rtlCol="0" anchor="ctr"/>
          <a:lstStyle/>
          <a:p>
            <a:pPr marL="0" indent="0">
              <a:buNone/>
            </a:pPr>
            <a:r>
              <a:rPr lang="en-US" sz="1200" dirty="0">
                <a:solidFill>
                  <a:srgbClr val="9AA4B2"/>
                </a:solidFill>
                <a:latin typeface="Calibri" pitchFamily="34" charset="0"/>
                <a:ea typeface="Calibri" pitchFamily="34" charset="-122"/>
                <a:cs typeface="Calibri" pitchFamily="34" charset="-120"/>
              </a:rPr>
              <a:t>washed: H·X, noise removed</a:t>
            </a:r>
            <a:endParaRPr lang="en-US" sz="1200" dirty="0"/>
          </a:p>
        </p:txBody>
      </p:sp>
      <p:pic>
        <p:nvPicPr>
          <p:cNvPr id="15" name="s4-t4" descr="washed: H·X, noise removed"/>
          <p:cNvPicPr>
            <a:picLocks noChangeAspect="1"/>
          </p:cNvPicPr>
          <p:nvPr/>
        </p:nvPicPr>
        <p:blipFill>
          <a:blip r:embed="rId7"/>
          <a:stretch>
            <a:fillRect/>
          </a:stretch>
        </p:blipFill>
        <p:spPr>
          <a:xfrm>
            <a:off x="8788400" y="5079365"/>
            <a:ext cx="2286000" cy="698500"/>
          </a:xfrm>
          <a:prstGeom prst="rect">
            <a:avLst/>
          </a:prstGeom>
        </p:spPr>
      </p:pic>
      <p:sp>
        <p:nvSpPr>
          <p:cNvPr id="16" name="!!footer"/>
          <p:cNvSpPr txBox="1"/>
          <p:nvPr/>
        </p:nvSpPr>
        <p:spPr>
          <a:xfrm>
            <a:off x="812800" y="6248400"/>
            <a:ext cx="5715000" cy="215900"/>
          </a:xfrm>
          <a:prstGeom prst="rect">
            <a:avLst/>
          </a:prstGeom>
          <a:noFill/>
          <a:ln/>
        </p:spPr>
        <p:txBody>
          <a:bodyPr wrap="square" lIns="0" tIns="0" rIns="0" bIns="0" rtlCol="0" anchor="ctr"/>
          <a:lstStyle/>
          <a:p>
            <a:pPr marL="0" indent="0">
              <a:buNone/>
            </a:pPr>
            <a:r>
              <a:rPr lang="en-US" sz="1200" dirty="0">
                <a:solidFill>
                  <a:srgbClr val="5B6270"/>
                </a:solidFill>
                <a:latin typeface="Calibri" pitchFamily="34" charset="0"/>
                <a:ea typeface="Calibri" pitchFamily="34" charset="-122"/>
                <a:cs typeface="Calibri" pitchFamily="34" charset="-120"/>
              </a:rPr>
              <a:t>WaveKitchen · Cooking with Signals</a:t>
            </a:r>
            <a:endParaRPr lang="en-US" sz="1200" dirty="0"/>
          </a:p>
        </p:txBody>
      </p:sp>
      <p:sp>
        <p:nvSpPr>
          <p:cNvPr id="17" name="!!page"/>
          <p:cNvSpPr txBox="1"/>
          <p:nvPr/>
        </p:nvSpPr>
        <p:spPr>
          <a:xfrm>
            <a:off x="9474200" y="6248400"/>
            <a:ext cx="1905000" cy="215900"/>
          </a:xfrm>
          <a:prstGeom prst="rect">
            <a:avLst/>
          </a:prstGeom>
          <a:noFill/>
          <a:ln/>
        </p:spPr>
        <p:txBody>
          <a:bodyPr wrap="square" lIns="0" tIns="0" rIns="0" bIns="0" rtlCol="0" anchor="ctr"/>
          <a:lstStyle/>
          <a:p>
            <a:pPr marL="0" indent="0" algn="r">
              <a:buNone/>
            </a:pPr>
            <a:r>
              <a:rPr lang="en-US" sz="1200" dirty="0">
                <a:solidFill>
                  <a:srgbClr val="5B6270"/>
                </a:solidFill>
                <a:latin typeface="Calibri" pitchFamily="34" charset="0"/>
                <a:ea typeface="Calibri" pitchFamily="34" charset="-122"/>
                <a:cs typeface="Calibri" pitchFamily="34" charset="-120"/>
              </a:rPr>
              <a:t>4 / 10</a:t>
            </a:r>
            <a:endParaRPr lang="en-US" sz="1200" dirty="0"/>
          </a:p>
        </p:txBody>
      </p:sp>
      <p:sp>
        <p:nvSpPr>
          <p:cNvPr id="18" name="!!track"/>
          <p:cNvSpPr/>
          <p:nvPr/>
        </p:nvSpPr>
        <p:spPr>
          <a:xfrm>
            <a:off x="0" y="6807200"/>
            <a:ext cx="12192000" cy="50800"/>
          </a:xfrm>
          <a:prstGeom prst="rect">
            <a:avLst/>
          </a:prstGeom>
          <a:solidFill>
            <a:srgbClr val="E2DACB"/>
          </a:solidFill>
          <a:ln/>
        </p:spPr>
      </p:sp>
      <p:sp>
        <p:nvSpPr>
          <p:cNvPr id="19" name="!!progress"/>
          <p:cNvSpPr/>
          <p:nvPr/>
        </p:nvSpPr>
        <p:spPr>
          <a:xfrm>
            <a:off x="0" y="6807200"/>
            <a:ext cx="4876800" cy="50800"/>
          </a:xfrm>
          <a:prstGeom prst="rect">
            <a:avLst/>
          </a:prstGeom>
          <a:solidFill>
            <a:srgbClr val="E8792B"/>
          </a:solidFill>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450" decel="100000" fill="hold"/>
                                        <p:tgtEl>
                                          <p:spTgt spid="4"/>
                                        </p:tgtEl>
                                        <p:attrNameLst>
                                          <p:attrName>ppt_y</p:attrName>
                                        </p:attrNameLst>
                                      </p:cBhvr>
                                      <p:tavLst>
                                        <p:tav tm="0">
                                          <p:val>
                                            <p:strVal val="#ppt_y+1"/>
                                          </p:val>
                                        </p:tav>
                                        <p:tav tm="100000">
                                          <p:val>
                                            <p:strVal val="#ppt_y-.03"/>
                                          </p:val>
                                        </p:tav>
                                      </p:tavLst>
                                    </p:anim>
                                    <p:anim calcmode="lin" valueType="num">
                                      <p:cBhvr>
                                        <p:cTn id="10" dur="50" accel="100000" fill="hold">
                                          <p:stCondLst>
                                            <p:cond delay="450"/>
                                          </p:stCondLst>
                                        </p:cTn>
                                        <p:tgtEl>
                                          <p:spTgt spid="4"/>
                                        </p:tgtEl>
                                        <p:attrNameLst>
                                          <p:attrName>ppt_y</p:attrName>
                                        </p:attrNameLst>
                                      </p:cBhvr>
                                      <p:tavLst>
                                        <p:tav tm="0">
                                          <p:val>
                                            <p:strVal val="#ppt_y-.03"/>
                                          </p:val>
                                        </p:tav>
                                        <p:tav tm="100000">
                                          <p:val>
                                            <p:strVal val="#ppt_y"/>
                                          </p:val>
                                        </p:tav>
                                      </p:tavLst>
                                    </p:anim>
                                  </p:childTnLst>
                                </p:cTn>
                              </p:par>
                            </p:childTnLst>
                          </p:cTn>
                        </p:par>
                        <p:par>
                          <p:cTn id="11" fill="hold">
                            <p:stCondLst>
                              <p:cond delay="500"/>
                            </p:stCondLst>
                            <p:childTnLst>
                              <p:par>
                                <p:cTn id="12" presetID="37"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anim calcmode="lin" valueType="num">
                                      <p:cBhvr>
                                        <p:cTn id="15" dur="500" fill="hold"/>
                                        <p:tgtEl>
                                          <p:spTgt spid="5"/>
                                        </p:tgtEl>
                                        <p:attrNameLst>
                                          <p:attrName>ppt_x</p:attrName>
                                        </p:attrNameLst>
                                      </p:cBhvr>
                                      <p:tavLst>
                                        <p:tav tm="0">
                                          <p:val>
                                            <p:strVal val="#ppt_x"/>
                                          </p:val>
                                        </p:tav>
                                        <p:tav tm="100000">
                                          <p:val>
                                            <p:strVal val="#ppt_x"/>
                                          </p:val>
                                        </p:tav>
                                      </p:tavLst>
                                    </p:anim>
                                    <p:anim calcmode="lin" valueType="num">
                                      <p:cBhvr>
                                        <p:cTn id="16" dur="450" decel="100000" fill="hold"/>
                                        <p:tgtEl>
                                          <p:spTgt spid="5"/>
                                        </p:tgtEl>
                                        <p:attrNameLst>
                                          <p:attrName>ppt_y</p:attrName>
                                        </p:attrNameLst>
                                      </p:cBhvr>
                                      <p:tavLst>
                                        <p:tav tm="0">
                                          <p:val>
                                            <p:strVal val="#ppt_y+1"/>
                                          </p:val>
                                        </p:tav>
                                        <p:tav tm="100000">
                                          <p:val>
                                            <p:strVal val="#ppt_y-.03"/>
                                          </p:val>
                                        </p:tav>
                                      </p:tavLst>
                                    </p:anim>
                                    <p:anim calcmode="lin" valueType="num">
                                      <p:cBhvr>
                                        <p:cTn id="17" dur="50" accel="100000" fill="hold">
                                          <p:stCondLst>
                                            <p:cond delay="450"/>
                                          </p:stCondLst>
                                        </p:cTn>
                                        <p:tgtEl>
                                          <p:spTgt spid="5"/>
                                        </p:tgtEl>
                                        <p:attrNameLst>
                                          <p:attrName>ppt_y</p:attrName>
                                        </p:attrNameLst>
                                      </p:cBhvr>
                                      <p:tavLst>
                                        <p:tav tm="0">
                                          <p:val>
                                            <p:strVal val="#ppt_y-.03"/>
                                          </p:val>
                                        </p:tav>
                                        <p:tav tm="100000">
                                          <p:val>
                                            <p:strVal val="#ppt_y"/>
                                          </p:val>
                                        </p:tav>
                                      </p:tavLst>
                                    </p:anim>
                                  </p:childTnLst>
                                </p:cTn>
                              </p:par>
                            </p:childTnLst>
                          </p:cTn>
                        </p:par>
                        <p:par>
                          <p:cTn id="18" fill="hold">
                            <p:stCondLst>
                              <p:cond delay="1000"/>
                            </p:stCondLst>
                            <p:childTnLst>
                              <p:par>
                                <p:cTn id="19" presetID="37" presetClass="entr" presetSubtype="0"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anim calcmode="lin" valueType="num">
                                      <p:cBhvr>
                                        <p:cTn id="22" dur="500" fill="hold"/>
                                        <p:tgtEl>
                                          <p:spTgt spid="6"/>
                                        </p:tgtEl>
                                        <p:attrNameLst>
                                          <p:attrName>ppt_x</p:attrName>
                                        </p:attrNameLst>
                                      </p:cBhvr>
                                      <p:tavLst>
                                        <p:tav tm="0">
                                          <p:val>
                                            <p:strVal val="#ppt_x"/>
                                          </p:val>
                                        </p:tav>
                                        <p:tav tm="100000">
                                          <p:val>
                                            <p:strVal val="#ppt_x"/>
                                          </p:val>
                                        </p:tav>
                                      </p:tavLst>
                                    </p:anim>
                                    <p:anim calcmode="lin" valueType="num">
                                      <p:cBhvr>
                                        <p:cTn id="23" dur="450" decel="100000" fill="hold"/>
                                        <p:tgtEl>
                                          <p:spTgt spid="6"/>
                                        </p:tgtEl>
                                        <p:attrNameLst>
                                          <p:attrName>ppt_y</p:attrName>
                                        </p:attrNameLst>
                                      </p:cBhvr>
                                      <p:tavLst>
                                        <p:tav tm="0">
                                          <p:val>
                                            <p:strVal val="#ppt_y+1"/>
                                          </p:val>
                                        </p:tav>
                                        <p:tav tm="100000">
                                          <p:val>
                                            <p:strVal val="#ppt_y-.03"/>
                                          </p:val>
                                        </p:tav>
                                      </p:tavLst>
                                    </p:anim>
                                    <p:anim calcmode="lin" valueType="num">
                                      <p:cBhvr>
                                        <p:cTn id="24" dur="50" accel="100000" fill="hold">
                                          <p:stCondLst>
                                            <p:cond delay="450"/>
                                          </p:stCondLst>
                                        </p:cTn>
                                        <p:tgtEl>
                                          <p:spTgt spid="6"/>
                                        </p:tgtEl>
                                        <p:attrNameLst>
                                          <p:attrName>ppt_y</p:attrName>
                                        </p:attrNameLst>
                                      </p:cBhvr>
                                      <p:tavLst>
                                        <p:tav tm="0">
                                          <p:val>
                                            <p:strVal val="#ppt_y-.03"/>
                                          </p:val>
                                        </p:tav>
                                        <p:tav tm="100000">
                                          <p:val>
                                            <p:strVal val="#ppt_y"/>
                                          </p:val>
                                        </p:tav>
                                      </p:tavLst>
                                    </p:anim>
                                  </p:childTnLst>
                                </p:cTn>
                              </p:par>
                            </p:childTnLst>
                          </p:cTn>
                        </p:par>
                        <p:par>
                          <p:cTn id="25" fill="hold">
                            <p:stCondLst>
                              <p:cond delay="1500"/>
                            </p:stCondLst>
                            <p:childTnLst>
                              <p:par>
                                <p:cTn id="26" presetID="10" presetClass="entr" presetSubtype="0" fill="hold"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300"/>
                                        <p:tgtEl>
                                          <p:spTgt spid="7"/>
                                        </p:tgtEl>
                                      </p:cBhvr>
                                    </p:animEffect>
                                  </p:childTnLst>
                                </p:cTn>
                              </p:par>
                            </p:childTnLst>
                          </p:cTn>
                        </p:par>
                        <p:par>
                          <p:cTn id="29" fill="hold">
                            <p:stCondLst>
                              <p:cond delay="1800"/>
                            </p:stCondLst>
                            <p:childTnLst>
                              <p:par>
                                <p:cTn id="30" presetID="10" presetClass="entr" presetSubtype="0" fill="hold" grpId="0" nodeType="after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200"/>
                                        <p:tgtEl>
                                          <p:spTgt spid="8"/>
                                        </p:tgtEl>
                                      </p:cBhvr>
                                    </p:animEffect>
                                  </p:childTnLst>
                                </p:cTn>
                              </p:par>
                              <p:par>
                                <p:cTn id="33" presetID="22" presetClass="entr" presetSubtype="8" fill="hold"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left)">
                                      <p:cBhvr>
                                        <p:cTn id="35" dur="500"/>
                                        <p:tgtEl>
                                          <p:spTgt spid="9"/>
                                        </p:tgtEl>
                                      </p:cBhvr>
                                    </p:animEffect>
                                  </p:childTnLst>
                                </p:cTn>
                              </p:par>
                            </p:childTnLst>
                          </p:cTn>
                        </p:par>
                        <p:par>
                          <p:cTn id="36" fill="hold">
                            <p:stCondLst>
                              <p:cond delay="2300"/>
                            </p:stCondLst>
                            <p:childTnLst>
                              <p:par>
                                <p:cTn id="37" presetID="10" presetClass="entr" presetSubtype="0" fill="hold" grpId="0" nodeType="after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200"/>
                                        <p:tgtEl>
                                          <p:spTgt spid="10"/>
                                        </p:tgtEl>
                                      </p:cBhvr>
                                    </p:animEffect>
                                  </p:childTnLst>
                                </p:cTn>
                              </p:par>
                              <p:par>
                                <p:cTn id="40" presetID="22" presetClass="entr" presetSubtype="8" fill="hold"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500"/>
                                        <p:tgtEl>
                                          <p:spTgt spid="11"/>
                                        </p:tgtEl>
                                      </p:cBhvr>
                                    </p:animEffect>
                                  </p:childTnLst>
                                </p:cTn>
                              </p:par>
                            </p:childTnLst>
                          </p:cTn>
                        </p:par>
                        <p:par>
                          <p:cTn id="43" fill="hold">
                            <p:stCondLst>
                              <p:cond delay="2800"/>
                            </p:stCondLst>
                            <p:childTnLst>
                              <p:par>
                                <p:cTn id="44" presetID="10" presetClass="entr" presetSubtype="0" fill="hold" grpId="0"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200"/>
                                        <p:tgtEl>
                                          <p:spTgt spid="12"/>
                                        </p:tgtEl>
                                      </p:cBhvr>
                                    </p:animEffect>
                                  </p:childTnLst>
                                </p:cTn>
                              </p:par>
                              <p:par>
                                <p:cTn id="47" presetID="22" presetClass="entr" presetSubtype="8" fill="hold"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wipe(left)">
                                      <p:cBhvr>
                                        <p:cTn id="49" dur="500"/>
                                        <p:tgtEl>
                                          <p:spTgt spid="13"/>
                                        </p:tgtEl>
                                      </p:cBhvr>
                                    </p:animEffect>
                                  </p:childTnLst>
                                </p:cTn>
                              </p:par>
                            </p:childTnLst>
                          </p:cTn>
                        </p:par>
                        <p:par>
                          <p:cTn id="50" fill="hold">
                            <p:stCondLst>
                              <p:cond delay="3300"/>
                            </p:stCondLst>
                            <p:childTnLst>
                              <p:par>
                                <p:cTn id="51" presetID="10" presetClass="entr" presetSubtype="0" fill="hold" grpId="0" nodeType="after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200"/>
                                        <p:tgtEl>
                                          <p:spTgt spid="14"/>
                                        </p:tgtEl>
                                      </p:cBhvr>
                                    </p:animEffect>
                                  </p:childTnLst>
                                </p:cTn>
                              </p:par>
                              <p:par>
                                <p:cTn id="54" presetID="22" presetClass="entr" presetSubtype="8" fill="hold" nodeType="with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wipe(left)">
                                      <p:cBhvr>
                                        <p:cTn id="5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10" grpId="0" animBg="1"/>
      <p:bldP spid="12" grpId="0" animBg="1"/>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eyebrow"/>
          <p:cNvSpPr txBox="1"/>
          <p:nvPr/>
        </p:nvSpPr>
        <p:spPr>
          <a:xfrm>
            <a:off x="812800" y="774700"/>
            <a:ext cx="8890000" cy="254000"/>
          </a:xfrm>
          <a:prstGeom prst="rect">
            <a:avLst/>
          </a:prstGeom>
          <a:noFill/>
          <a:ln/>
        </p:spPr>
        <p:txBody>
          <a:bodyPr wrap="square" lIns="0" tIns="0" rIns="0" bIns="0" rtlCol="0" anchor="ctr"/>
          <a:lstStyle/>
          <a:p>
            <a:pPr marL="0" indent="0">
              <a:buNone/>
            </a:pPr>
            <a:r>
              <a:rPr lang="en-US" sz="1200" b="1" kern="0" spc="300" dirty="0">
                <a:solidFill>
                  <a:srgbClr val="A84A14"/>
                </a:solidFill>
                <a:latin typeface="Calibri" pitchFamily="34" charset="0"/>
                <a:ea typeface="Calibri" pitchFamily="34" charset="-122"/>
                <a:cs typeface="Calibri" pitchFamily="34" charset="-120"/>
              </a:rPr>
              <a:t>THEORY · STATIONS 4–6</a:t>
            </a:r>
            <a:endParaRPr lang="en-US" sz="1200" dirty="0"/>
          </a:p>
        </p:txBody>
      </p:sp>
      <p:sp>
        <p:nvSpPr>
          <p:cNvPr id="3" name="!!title"/>
          <p:cNvSpPr txBox="1"/>
          <p:nvPr/>
        </p:nvSpPr>
        <p:spPr>
          <a:xfrm>
            <a:off x="812800" y="1054100"/>
            <a:ext cx="10566400" cy="558800"/>
          </a:xfrm>
          <a:prstGeom prst="rect">
            <a:avLst/>
          </a:prstGeom>
          <a:noFill/>
          <a:ln/>
        </p:spPr>
        <p:txBody>
          <a:bodyPr wrap="square" lIns="0" tIns="0" rIns="0" bIns="0" rtlCol="0" anchor="ctr"/>
          <a:lstStyle/>
          <a:p>
            <a:pPr marL="0" indent="0">
              <a:buNone/>
            </a:pPr>
            <a:r>
              <a:rPr lang="en-US" sz="3200" b="1" dirty="0">
                <a:solidFill>
                  <a:srgbClr val="14171C"/>
                </a:solidFill>
                <a:latin typeface="Arial" pitchFamily="34" charset="0"/>
                <a:ea typeface="Arial" pitchFamily="34" charset="-122"/>
                <a:cs typeface="Arial" pitchFamily="34" charset="-120"/>
              </a:rPr>
              <a:t>Season, marinate, cook</a:t>
            </a:r>
            <a:endParaRPr lang="en-US" sz="3200" dirty="0"/>
          </a:p>
        </p:txBody>
      </p:sp>
      <p:sp>
        <p:nvSpPr>
          <p:cNvPr id="4" name="s5-p1"/>
          <p:cNvSpPr txBox="1"/>
          <p:nvPr/>
        </p:nvSpPr>
        <p:spPr>
          <a:xfrm>
            <a:off x="812800" y="1879600"/>
            <a:ext cx="3384550" cy="2384425"/>
          </a:xfrm>
          <a:prstGeom prst="roundRect">
            <a:avLst>
              <a:gd name="adj" fmla="val 4602"/>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04 · SEASON</a:t>
            </a:r>
            <a:endParaRPr lang="en-US" sz="1200" dirty="0"/>
          </a:p>
          <a:p>
            <a:pPr marL="0" indent="0">
              <a:spcAft>
                <a:spcPts val="500"/>
              </a:spcAft>
              <a:buNone/>
            </a:pPr>
            <a:r>
              <a:rPr lang="en-US" sz="1300" dirty="0">
                <a:solidFill>
                  <a:srgbClr val="E9E4DA"/>
                </a:solidFill>
                <a:latin typeface="Calibri" pitchFamily="34" charset="0"/>
                <a:ea typeface="Calibri" pitchFamily="34" charset="-122"/>
                <a:cs typeface="Calibri" pitchFamily="34" charset="-120"/>
              </a:rPr>
              <a:t>Amplitude and time scaling</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s(t) = A·m(αt)</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S(f) = (A/|α|)·M(f/α)</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α &gt; 1: compressed, higher f</a:t>
            </a:r>
            <a:endParaRPr lang="en-US" sz="1200" dirty="0"/>
          </a:p>
          <a:p>
            <a:pPr marL="0" indent="0">
              <a:lnSpc>
                <a:spcPct val="120000"/>
              </a:lnSpc>
              <a:spcAft>
                <a:spcPts val="600"/>
              </a:spcAft>
              <a:buNone/>
            </a:pPr>
            <a:r>
              <a:rPr lang="en-US" sz="1200" dirty="0">
                <a:solidFill>
                  <a:srgbClr val="7FE0D3"/>
                </a:solidFill>
                <a:latin typeface="Consolas" pitchFamily="34" charset="0"/>
                <a:ea typeface="Consolas" pitchFamily="34" charset="-122"/>
                <a:cs typeface="Consolas" pitchFamily="34" charset="-120"/>
              </a:rPr>
              <a:t>acc = 100 − 70·(ΔA/A* + Δα/α*)</a:t>
            </a:r>
            <a:endParaRPr lang="en-US" sz="1200" dirty="0"/>
          </a:p>
          <a:p>
            <a:pPr marL="0" indent="0">
              <a:buNone/>
            </a:pPr>
            <a:r>
              <a:rPr lang="en-US" sz="1200" dirty="0">
                <a:solidFill>
                  <a:srgbClr val="9AA4B2"/>
                </a:solidFill>
                <a:latin typeface="Calibri" pitchFamily="34" charset="0"/>
                <a:ea typeface="Calibri" pitchFamily="34" charset="-122"/>
                <a:cs typeface="Calibri" pitchFamily="34" charset="-120"/>
              </a:rPr>
              <a:t>Resampled by linear interpolation; no rescaling afterwards.</a:t>
            </a:r>
            <a:endParaRPr lang="en-US" sz="1200" dirty="0"/>
          </a:p>
        </p:txBody>
      </p:sp>
      <p:sp>
        <p:nvSpPr>
          <p:cNvPr id="5" name="s5-p2"/>
          <p:cNvSpPr txBox="1"/>
          <p:nvPr/>
        </p:nvSpPr>
        <p:spPr>
          <a:xfrm>
            <a:off x="4400550" y="1879600"/>
            <a:ext cx="3384550" cy="2384425"/>
          </a:xfrm>
          <a:prstGeom prst="roundRect">
            <a:avLst>
              <a:gd name="adj" fmla="val 4602"/>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05 · MARINATE</a:t>
            </a:r>
            <a:endParaRPr lang="en-US" sz="1200" dirty="0"/>
          </a:p>
          <a:p>
            <a:pPr marL="0" indent="0">
              <a:spcAft>
                <a:spcPts val="500"/>
              </a:spcAft>
              <a:buNone/>
            </a:pPr>
            <a:r>
              <a:rPr lang="en-US" sz="1300" dirty="0">
                <a:solidFill>
                  <a:srgbClr val="E9E4DA"/>
                </a:solidFill>
                <a:latin typeface="Calibri" pitchFamily="34" charset="0"/>
                <a:ea typeface="Calibri" pitchFamily="34" charset="-122"/>
                <a:cs typeface="Calibri" pitchFamily="34" charset="-120"/>
              </a:rPr>
              <a:t>Time shift</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r(t) = m(t − t₀)</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R(f) = M(f)·e^(−j2πft₀)</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d = round(t₀/3 · N) samples</a:t>
            </a:r>
            <a:endParaRPr lang="en-US" sz="1200" dirty="0"/>
          </a:p>
          <a:p>
            <a:pPr marL="0" indent="0">
              <a:lnSpc>
                <a:spcPct val="120000"/>
              </a:lnSpc>
              <a:spcAft>
                <a:spcPts val="600"/>
              </a:spcAft>
              <a:buNone/>
            </a:pPr>
            <a:r>
              <a:rPr lang="en-US" sz="1200" dirty="0">
                <a:solidFill>
                  <a:srgbClr val="7FE0D3"/>
                </a:solidFill>
                <a:latin typeface="Consolas" pitchFamily="34" charset="0"/>
                <a:ea typeface="Consolas" pitchFamily="34" charset="-122"/>
                <a:cs typeface="Consolas" pitchFamily="34" charset="-120"/>
              </a:rPr>
              <a:t>acc = 100 − 150·Δt₀/t₀*</a:t>
            </a:r>
            <a:endParaRPr lang="en-US" sz="1200" dirty="0"/>
          </a:p>
          <a:p>
            <a:pPr marL="0" indent="0">
              <a:buNone/>
            </a:pPr>
            <a:r>
              <a:rPr lang="en-US" sz="1200" dirty="0">
                <a:solidFill>
                  <a:srgbClr val="9AA4B2"/>
                </a:solidFill>
                <a:latin typeface="Calibri" pitchFamily="34" charset="0"/>
                <a:ea typeface="Calibri" pitchFamily="34" charset="-122"/>
                <a:cs typeface="Calibri" pitchFamily="34" charset="-120"/>
              </a:rPr>
              <a:t>The server delays by fractional samples with this linear phase ramp.</a:t>
            </a:r>
            <a:endParaRPr lang="en-US" sz="1200" dirty="0"/>
          </a:p>
        </p:txBody>
      </p:sp>
      <p:sp>
        <p:nvSpPr>
          <p:cNvPr id="6" name="s5-p3"/>
          <p:cNvSpPr txBox="1"/>
          <p:nvPr/>
        </p:nvSpPr>
        <p:spPr>
          <a:xfrm>
            <a:off x="7988300" y="1879600"/>
            <a:ext cx="3384550" cy="2826385"/>
          </a:xfrm>
          <a:prstGeom prst="roundRect">
            <a:avLst>
              <a:gd name="adj" fmla="val 3882"/>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06 · COOK</a:t>
            </a:r>
            <a:endParaRPr lang="en-US" sz="1200" dirty="0"/>
          </a:p>
          <a:p>
            <a:pPr marL="0" indent="0">
              <a:spcAft>
                <a:spcPts val="500"/>
              </a:spcAft>
              <a:buNone/>
            </a:pPr>
            <a:r>
              <a:rPr lang="en-US" sz="1300" dirty="0">
                <a:solidFill>
                  <a:srgbClr val="E9E4DA"/>
                </a:solidFill>
                <a:latin typeface="Calibri" pitchFamily="34" charset="0"/>
                <a:ea typeface="Calibri" pitchFamily="34" charset="-122"/>
                <a:cs typeface="Calibri" pitchFamily="34" charset="-120"/>
              </a:rPr>
              <a:t>Cooking is LTI convolution</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y[n] = Σₖ x[(n−k−s) mod N]·h[k]</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k = 0…95,  Σ|h[k]| = 1</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s = round(30τ),  τ = depth</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out = (1 − w)·x + w·y</a:t>
            </a:r>
            <a:endParaRPr lang="en-US" sz="1200" dirty="0"/>
          </a:p>
          <a:p>
            <a:pPr marL="0" indent="0">
              <a:lnSpc>
                <a:spcPct val="120000"/>
              </a:lnSpc>
              <a:spcAft>
                <a:spcPts val="600"/>
              </a:spcAft>
              <a:buNone/>
            </a:pPr>
            <a:r>
              <a:rPr lang="en-US" sz="1200" dirty="0">
                <a:solidFill>
                  <a:srgbClr val="7FE0D3"/>
                </a:solidFill>
                <a:latin typeface="Consolas" pitchFamily="34" charset="0"/>
                <a:ea typeface="Consolas" pitchFamily="34" charset="-122"/>
                <a:cs typeface="Consolas" pitchFamily="34" charset="-120"/>
              </a:rPr>
              <a:t>w = min(1, 1.15τ)</a:t>
            </a:r>
            <a:endParaRPr lang="en-US" sz="1200" dirty="0"/>
          </a:p>
          <a:p>
            <a:pPr marL="0" indent="0">
              <a:buNone/>
            </a:pPr>
            <a:r>
              <a:rPr lang="en-US" sz="1200" dirty="0">
                <a:solidFill>
                  <a:srgbClr val="9AA4B2"/>
                </a:solidFill>
                <a:latin typeface="Calibri" pitchFamily="34" charset="0"/>
                <a:ea typeface="Calibri" pitchFamily="34" charset="-122"/>
                <a:cs typeface="Calibri" pitchFamily="34" charset="-120"/>
              </a:rPr>
              <a:t>grill = echo comb · fry = bright burst · bake = smooth tail · boil = damped resonator</a:t>
            </a:r>
            <a:endParaRPr lang="en-US" sz="1200" dirty="0"/>
          </a:p>
        </p:txBody>
      </p:sp>
      <p:sp>
        <p:nvSpPr>
          <p:cNvPr id="7" name="s5-strip"/>
          <p:cNvSpPr/>
          <p:nvPr/>
        </p:nvSpPr>
        <p:spPr>
          <a:xfrm>
            <a:off x="812800" y="4871085"/>
            <a:ext cx="10566400" cy="1270000"/>
          </a:xfrm>
          <a:prstGeom prst="roundRect">
            <a:avLst>
              <a:gd name="adj" fmla="val 8640"/>
            </a:avLst>
          </a:prstGeom>
          <a:solidFill>
            <a:srgbClr val="151A21"/>
          </a:solidFill>
          <a:ln w="9525">
            <a:solidFill>
              <a:srgbClr val="2B333E"/>
            </a:solidFill>
            <a:prstDash val="solid"/>
          </a:ln>
        </p:spPr>
      </p:sp>
      <p:sp>
        <p:nvSpPr>
          <p:cNvPr id="8" name="s5-cap"/>
          <p:cNvSpPr txBox="1"/>
          <p:nvPr/>
        </p:nvSpPr>
        <p:spPr>
          <a:xfrm>
            <a:off x="1016000" y="4947285"/>
            <a:ext cx="10160000" cy="215900"/>
          </a:xfrm>
          <a:prstGeom prst="rect">
            <a:avLst/>
          </a:prstGeom>
          <a:noFill/>
          <a:ln/>
        </p:spPr>
        <p:txBody>
          <a:bodyPr wrap="square" lIns="0" tIns="0" rIns="0" bIns="0" rtlCol="0" anchor="ctr"/>
          <a:lstStyle/>
          <a:p>
            <a:pPr marL="0" indent="0">
              <a:buNone/>
            </a:pPr>
            <a:r>
              <a:rPr lang="en-US" sz="1200" dirty="0">
                <a:solidFill>
                  <a:srgbClr val="9AA4B2"/>
                </a:solidFill>
                <a:latin typeface="Calibri" pitchFamily="34" charset="0"/>
                <a:ea typeface="Calibri" pitchFamily="34" charset="-122"/>
                <a:cs typeface="Calibri" pitchFamily="34" charset="-120"/>
              </a:rPr>
              <a:t>Convolution in motion: the flipped kernel h slides across the dish x, and the output y = x * h builds behind it</a:t>
            </a:r>
            <a:endParaRPr lang="en-US" sz="1200" dirty="0"/>
          </a:p>
        </p:txBody>
      </p:sp>
      <p:sp>
        <p:nvSpPr>
          <p:cNvPr id="9" name="s5-tx"/>
          <p:cNvSpPr txBox="1"/>
          <p:nvPr/>
        </p:nvSpPr>
        <p:spPr>
          <a:xfrm>
            <a:off x="927100" y="5264785"/>
            <a:ext cx="190500" cy="215900"/>
          </a:xfrm>
          <a:prstGeom prst="rect">
            <a:avLst/>
          </a:prstGeom>
          <a:noFill/>
          <a:ln/>
        </p:spPr>
        <p:txBody>
          <a:bodyPr wrap="square" lIns="0" tIns="0" rIns="0" bIns="0" rtlCol="0" anchor="ctr"/>
          <a:lstStyle/>
          <a:p>
            <a:pPr marL="0" indent="0">
              <a:buNone/>
            </a:pPr>
            <a:r>
              <a:rPr lang="en-US" sz="1200" b="1" dirty="0">
                <a:solidFill>
                  <a:srgbClr val="7FE0D3"/>
                </a:solidFill>
                <a:latin typeface="Consolas" pitchFamily="34" charset="0"/>
                <a:ea typeface="Consolas" pitchFamily="34" charset="-122"/>
                <a:cs typeface="Consolas" pitchFamily="34" charset="-120"/>
              </a:rPr>
              <a:t>x</a:t>
            </a:r>
            <a:endParaRPr lang="en-US" sz="1200" dirty="0"/>
          </a:p>
        </p:txBody>
      </p:sp>
      <p:sp>
        <p:nvSpPr>
          <p:cNvPr id="10" name="s5-ty"/>
          <p:cNvSpPr txBox="1"/>
          <p:nvPr/>
        </p:nvSpPr>
        <p:spPr>
          <a:xfrm>
            <a:off x="927100" y="5760085"/>
            <a:ext cx="190500" cy="215900"/>
          </a:xfrm>
          <a:prstGeom prst="rect">
            <a:avLst/>
          </a:prstGeom>
          <a:noFill/>
          <a:ln/>
        </p:spPr>
        <p:txBody>
          <a:bodyPr wrap="square" lIns="0" tIns="0" rIns="0" bIns="0" rtlCol="0" anchor="ctr"/>
          <a:lstStyle/>
          <a:p>
            <a:pPr marL="0" indent="0">
              <a:buNone/>
            </a:pPr>
            <a:r>
              <a:rPr lang="en-US" sz="1200" b="1" dirty="0">
                <a:solidFill>
                  <a:srgbClr val="E8792B"/>
                </a:solidFill>
                <a:latin typeface="Consolas" pitchFamily="34" charset="0"/>
                <a:ea typeface="Consolas" pitchFamily="34" charset="-122"/>
                <a:cs typeface="Consolas" pitchFamily="34" charset="-120"/>
              </a:rPr>
              <a:t>y</a:t>
            </a:r>
            <a:endParaRPr lang="en-US" sz="1200" dirty="0"/>
          </a:p>
        </p:txBody>
      </p:sp>
      <p:pic>
        <p:nvPicPr>
          <p:cNvPr id="11" name="s5-x" descr="input dish x"/>
          <p:cNvPicPr>
            <a:picLocks noChangeAspect="1"/>
          </p:cNvPicPr>
          <p:nvPr/>
        </p:nvPicPr>
        <p:blipFill>
          <a:blip r:embed="rId4"/>
          <a:stretch>
            <a:fillRect/>
          </a:stretch>
        </p:blipFill>
        <p:spPr>
          <a:xfrm>
            <a:off x="1143000" y="5175885"/>
            <a:ext cx="9398000" cy="406400"/>
          </a:xfrm>
          <a:prstGeom prst="rect">
            <a:avLst/>
          </a:prstGeom>
        </p:spPr>
      </p:pic>
      <p:pic>
        <p:nvPicPr>
          <p:cNvPr id="12" name="s5-y" descr="output y = x * h"/>
          <p:cNvPicPr>
            <a:picLocks noChangeAspect="1"/>
          </p:cNvPicPr>
          <p:nvPr/>
        </p:nvPicPr>
        <p:blipFill>
          <a:blip r:embed="rId5"/>
          <a:stretch>
            <a:fillRect/>
          </a:stretch>
        </p:blipFill>
        <p:spPr>
          <a:xfrm>
            <a:off x="1143000" y="5671185"/>
            <a:ext cx="9398000" cy="406400"/>
          </a:xfrm>
          <a:prstGeom prst="rect">
            <a:avLst/>
          </a:prstGeom>
        </p:spPr>
      </p:pic>
      <p:pic>
        <p:nvPicPr>
          <p:cNvPr id="13" name="s5-h" descr="flipped kernel h"/>
          <p:cNvPicPr>
            <a:picLocks noChangeAspect="1"/>
          </p:cNvPicPr>
          <p:nvPr/>
        </p:nvPicPr>
        <p:blipFill>
          <a:blip r:embed="rId6"/>
          <a:stretch>
            <a:fillRect/>
          </a:stretch>
        </p:blipFill>
        <p:spPr>
          <a:xfrm>
            <a:off x="1143000" y="5175885"/>
            <a:ext cx="2254250" cy="406400"/>
          </a:xfrm>
          <a:prstGeom prst="rect">
            <a:avLst/>
          </a:prstGeom>
        </p:spPr>
      </p:pic>
      <p:sp>
        <p:nvSpPr>
          <p:cNvPr id="14" name="!!footer"/>
          <p:cNvSpPr txBox="1"/>
          <p:nvPr/>
        </p:nvSpPr>
        <p:spPr>
          <a:xfrm>
            <a:off x="812800" y="6248400"/>
            <a:ext cx="5715000" cy="215900"/>
          </a:xfrm>
          <a:prstGeom prst="rect">
            <a:avLst/>
          </a:prstGeom>
          <a:noFill/>
          <a:ln/>
        </p:spPr>
        <p:txBody>
          <a:bodyPr wrap="square" lIns="0" tIns="0" rIns="0" bIns="0" rtlCol="0" anchor="ctr"/>
          <a:lstStyle/>
          <a:p>
            <a:pPr marL="0" indent="0">
              <a:buNone/>
            </a:pPr>
            <a:r>
              <a:rPr lang="en-US" sz="1200" dirty="0">
                <a:solidFill>
                  <a:srgbClr val="5B6270"/>
                </a:solidFill>
                <a:latin typeface="Calibri" pitchFamily="34" charset="0"/>
                <a:ea typeface="Calibri" pitchFamily="34" charset="-122"/>
                <a:cs typeface="Calibri" pitchFamily="34" charset="-120"/>
              </a:rPr>
              <a:t>WaveKitchen · Cooking with Signals</a:t>
            </a:r>
            <a:endParaRPr lang="en-US" sz="1200" dirty="0"/>
          </a:p>
        </p:txBody>
      </p:sp>
      <p:sp>
        <p:nvSpPr>
          <p:cNvPr id="15" name="!!page"/>
          <p:cNvSpPr txBox="1"/>
          <p:nvPr/>
        </p:nvSpPr>
        <p:spPr>
          <a:xfrm>
            <a:off x="9474200" y="6248400"/>
            <a:ext cx="1905000" cy="215900"/>
          </a:xfrm>
          <a:prstGeom prst="rect">
            <a:avLst/>
          </a:prstGeom>
          <a:noFill/>
          <a:ln/>
        </p:spPr>
        <p:txBody>
          <a:bodyPr wrap="square" lIns="0" tIns="0" rIns="0" bIns="0" rtlCol="0" anchor="ctr"/>
          <a:lstStyle/>
          <a:p>
            <a:pPr marL="0" indent="0" algn="r">
              <a:buNone/>
            </a:pPr>
            <a:r>
              <a:rPr lang="en-US" sz="1200" dirty="0">
                <a:solidFill>
                  <a:srgbClr val="5B6270"/>
                </a:solidFill>
                <a:latin typeface="Calibri" pitchFamily="34" charset="0"/>
                <a:ea typeface="Calibri" pitchFamily="34" charset="-122"/>
                <a:cs typeface="Calibri" pitchFamily="34" charset="-120"/>
              </a:rPr>
              <a:t>5 / 10</a:t>
            </a:r>
            <a:endParaRPr lang="en-US" sz="1200" dirty="0"/>
          </a:p>
        </p:txBody>
      </p:sp>
      <p:sp>
        <p:nvSpPr>
          <p:cNvPr id="16" name="!!track"/>
          <p:cNvSpPr/>
          <p:nvPr/>
        </p:nvSpPr>
        <p:spPr>
          <a:xfrm>
            <a:off x="0" y="6807200"/>
            <a:ext cx="12192000" cy="50800"/>
          </a:xfrm>
          <a:prstGeom prst="rect">
            <a:avLst/>
          </a:prstGeom>
          <a:solidFill>
            <a:srgbClr val="E2DACB"/>
          </a:solidFill>
          <a:ln/>
        </p:spPr>
      </p:sp>
      <p:sp>
        <p:nvSpPr>
          <p:cNvPr id="17" name="!!progress"/>
          <p:cNvSpPr/>
          <p:nvPr/>
        </p:nvSpPr>
        <p:spPr>
          <a:xfrm>
            <a:off x="0" y="6807200"/>
            <a:ext cx="6096000" cy="50800"/>
          </a:xfrm>
          <a:prstGeom prst="rect">
            <a:avLst/>
          </a:prstGeom>
          <a:solidFill>
            <a:srgbClr val="E8792B"/>
          </a:solidFill>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450" decel="100000" fill="hold"/>
                                        <p:tgtEl>
                                          <p:spTgt spid="4"/>
                                        </p:tgtEl>
                                        <p:attrNameLst>
                                          <p:attrName>ppt_y</p:attrName>
                                        </p:attrNameLst>
                                      </p:cBhvr>
                                      <p:tavLst>
                                        <p:tav tm="0">
                                          <p:val>
                                            <p:strVal val="#ppt_y+1"/>
                                          </p:val>
                                        </p:tav>
                                        <p:tav tm="100000">
                                          <p:val>
                                            <p:strVal val="#ppt_y-.03"/>
                                          </p:val>
                                        </p:tav>
                                      </p:tavLst>
                                    </p:anim>
                                    <p:anim calcmode="lin" valueType="num">
                                      <p:cBhvr>
                                        <p:cTn id="10" dur="50" accel="100000" fill="hold">
                                          <p:stCondLst>
                                            <p:cond delay="450"/>
                                          </p:stCondLst>
                                        </p:cTn>
                                        <p:tgtEl>
                                          <p:spTgt spid="4"/>
                                        </p:tgtEl>
                                        <p:attrNameLst>
                                          <p:attrName>ppt_y</p:attrName>
                                        </p:attrNameLst>
                                      </p:cBhvr>
                                      <p:tavLst>
                                        <p:tav tm="0">
                                          <p:val>
                                            <p:strVal val="#ppt_y-.03"/>
                                          </p:val>
                                        </p:tav>
                                        <p:tav tm="100000">
                                          <p:val>
                                            <p:strVal val="#ppt_y"/>
                                          </p:val>
                                        </p:tav>
                                      </p:tavLst>
                                    </p:anim>
                                  </p:childTnLst>
                                </p:cTn>
                              </p:par>
                            </p:childTnLst>
                          </p:cTn>
                        </p:par>
                        <p:par>
                          <p:cTn id="11" fill="hold">
                            <p:stCondLst>
                              <p:cond delay="500"/>
                            </p:stCondLst>
                            <p:childTnLst>
                              <p:par>
                                <p:cTn id="12" presetID="37"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anim calcmode="lin" valueType="num">
                                      <p:cBhvr>
                                        <p:cTn id="15" dur="500" fill="hold"/>
                                        <p:tgtEl>
                                          <p:spTgt spid="5"/>
                                        </p:tgtEl>
                                        <p:attrNameLst>
                                          <p:attrName>ppt_x</p:attrName>
                                        </p:attrNameLst>
                                      </p:cBhvr>
                                      <p:tavLst>
                                        <p:tav tm="0">
                                          <p:val>
                                            <p:strVal val="#ppt_x"/>
                                          </p:val>
                                        </p:tav>
                                        <p:tav tm="100000">
                                          <p:val>
                                            <p:strVal val="#ppt_x"/>
                                          </p:val>
                                        </p:tav>
                                      </p:tavLst>
                                    </p:anim>
                                    <p:anim calcmode="lin" valueType="num">
                                      <p:cBhvr>
                                        <p:cTn id="16" dur="450" decel="100000" fill="hold"/>
                                        <p:tgtEl>
                                          <p:spTgt spid="5"/>
                                        </p:tgtEl>
                                        <p:attrNameLst>
                                          <p:attrName>ppt_y</p:attrName>
                                        </p:attrNameLst>
                                      </p:cBhvr>
                                      <p:tavLst>
                                        <p:tav tm="0">
                                          <p:val>
                                            <p:strVal val="#ppt_y+1"/>
                                          </p:val>
                                        </p:tav>
                                        <p:tav tm="100000">
                                          <p:val>
                                            <p:strVal val="#ppt_y-.03"/>
                                          </p:val>
                                        </p:tav>
                                      </p:tavLst>
                                    </p:anim>
                                    <p:anim calcmode="lin" valueType="num">
                                      <p:cBhvr>
                                        <p:cTn id="17" dur="50" accel="100000" fill="hold">
                                          <p:stCondLst>
                                            <p:cond delay="450"/>
                                          </p:stCondLst>
                                        </p:cTn>
                                        <p:tgtEl>
                                          <p:spTgt spid="5"/>
                                        </p:tgtEl>
                                        <p:attrNameLst>
                                          <p:attrName>ppt_y</p:attrName>
                                        </p:attrNameLst>
                                      </p:cBhvr>
                                      <p:tavLst>
                                        <p:tav tm="0">
                                          <p:val>
                                            <p:strVal val="#ppt_y-.03"/>
                                          </p:val>
                                        </p:tav>
                                        <p:tav tm="100000">
                                          <p:val>
                                            <p:strVal val="#ppt_y"/>
                                          </p:val>
                                        </p:tav>
                                      </p:tavLst>
                                    </p:anim>
                                  </p:childTnLst>
                                </p:cTn>
                              </p:par>
                            </p:childTnLst>
                          </p:cTn>
                        </p:par>
                        <p:par>
                          <p:cTn id="18" fill="hold">
                            <p:stCondLst>
                              <p:cond delay="1000"/>
                            </p:stCondLst>
                            <p:childTnLst>
                              <p:par>
                                <p:cTn id="19" presetID="37" presetClass="entr" presetSubtype="0"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anim calcmode="lin" valueType="num">
                                      <p:cBhvr>
                                        <p:cTn id="22" dur="500" fill="hold"/>
                                        <p:tgtEl>
                                          <p:spTgt spid="6"/>
                                        </p:tgtEl>
                                        <p:attrNameLst>
                                          <p:attrName>ppt_x</p:attrName>
                                        </p:attrNameLst>
                                      </p:cBhvr>
                                      <p:tavLst>
                                        <p:tav tm="0">
                                          <p:val>
                                            <p:strVal val="#ppt_x"/>
                                          </p:val>
                                        </p:tav>
                                        <p:tav tm="100000">
                                          <p:val>
                                            <p:strVal val="#ppt_x"/>
                                          </p:val>
                                        </p:tav>
                                      </p:tavLst>
                                    </p:anim>
                                    <p:anim calcmode="lin" valueType="num">
                                      <p:cBhvr>
                                        <p:cTn id="23" dur="450" decel="100000" fill="hold"/>
                                        <p:tgtEl>
                                          <p:spTgt spid="6"/>
                                        </p:tgtEl>
                                        <p:attrNameLst>
                                          <p:attrName>ppt_y</p:attrName>
                                        </p:attrNameLst>
                                      </p:cBhvr>
                                      <p:tavLst>
                                        <p:tav tm="0">
                                          <p:val>
                                            <p:strVal val="#ppt_y+1"/>
                                          </p:val>
                                        </p:tav>
                                        <p:tav tm="100000">
                                          <p:val>
                                            <p:strVal val="#ppt_y-.03"/>
                                          </p:val>
                                        </p:tav>
                                      </p:tavLst>
                                    </p:anim>
                                    <p:anim calcmode="lin" valueType="num">
                                      <p:cBhvr>
                                        <p:cTn id="24" dur="50" accel="100000" fill="hold">
                                          <p:stCondLst>
                                            <p:cond delay="450"/>
                                          </p:stCondLst>
                                        </p:cTn>
                                        <p:tgtEl>
                                          <p:spTgt spid="6"/>
                                        </p:tgtEl>
                                        <p:attrNameLst>
                                          <p:attrName>ppt_y</p:attrName>
                                        </p:attrNameLst>
                                      </p:cBhvr>
                                      <p:tavLst>
                                        <p:tav tm="0">
                                          <p:val>
                                            <p:strVal val="#ppt_y-.03"/>
                                          </p:val>
                                        </p:tav>
                                        <p:tav tm="100000">
                                          <p:val>
                                            <p:strVal val="#ppt_y"/>
                                          </p:val>
                                        </p:tav>
                                      </p:tavLst>
                                    </p:anim>
                                  </p:childTnLst>
                                </p:cTn>
                              </p:par>
                            </p:childTnLst>
                          </p:cTn>
                        </p:par>
                        <p:par>
                          <p:cTn id="25" fill="hold">
                            <p:stCondLst>
                              <p:cond delay="1500"/>
                            </p:stCondLst>
                            <p:childTnLst>
                              <p:par>
                                <p:cTn id="26" presetID="10" presetClass="entr" presetSubtype="0" fill="hold"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300"/>
                                        <p:tgtEl>
                                          <p:spTgt spid="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00"/>
                                        <p:tgtEl>
                                          <p:spTgt spid="8"/>
                                        </p:tgtEl>
                                      </p:cBhvr>
                                    </p:animEffect>
                                  </p:childTnLst>
                                </p:cTn>
                              </p:par>
                            </p:childTnLst>
                          </p:cTn>
                        </p:par>
                        <p:par>
                          <p:cTn id="32" fill="hold">
                            <p:stCondLst>
                              <p:cond delay="1900"/>
                            </p:stCondLst>
                            <p:childTnLst>
                              <p:par>
                                <p:cTn id="33" presetID="10" presetClass="entr" presetSubtype="0"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200"/>
                                        <p:tgtEl>
                                          <p:spTgt spid="9"/>
                                        </p:tgtEl>
                                      </p:cBhvr>
                                    </p:animEffect>
                                  </p:childTnLst>
                                </p:cTn>
                              </p:par>
                              <p:par>
                                <p:cTn id="36" presetID="22" presetClass="entr" presetSubtype="8" fill="hold"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left)">
                                      <p:cBhvr>
                                        <p:cTn id="38" dur="500"/>
                                        <p:tgtEl>
                                          <p:spTgt spid="11"/>
                                        </p:tgtEl>
                                      </p:cBhvr>
                                    </p:animEffect>
                                  </p:childTnLst>
                                </p:cTn>
                              </p:par>
                            </p:childTnLst>
                          </p:cTn>
                        </p:par>
                        <p:par>
                          <p:cTn id="39" fill="hold">
                            <p:stCondLst>
                              <p:cond delay="2400"/>
                            </p:stCondLst>
                            <p:childTnLst>
                              <p:par>
                                <p:cTn id="40" presetID="10" presetClass="entr" presetSubtype="0" fill="hold" grpId="0" nodeType="after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200"/>
                                        <p:tgtEl>
                                          <p:spTgt spid="10"/>
                                        </p:tgtEl>
                                      </p:cBhvr>
                                    </p:animEffect>
                                  </p:childTnLst>
                                </p:cTn>
                              </p:par>
                            </p:childTnLst>
                          </p:cTn>
                        </p:par>
                        <p:par>
                          <p:cTn id="43" fill="hold">
                            <p:stCondLst>
                              <p:cond delay="2600"/>
                            </p:stCondLst>
                            <p:childTnLst>
                              <p:par>
                                <p:cTn id="44" presetID="10" presetClass="entr" presetSubtype="0" fill="hold"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300"/>
                                        <p:tgtEl>
                                          <p:spTgt spid="13"/>
                                        </p:tgtEl>
                                      </p:cBhvr>
                                    </p:animEffect>
                                  </p:childTnLst>
                                </p:cTn>
                              </p:par>
                            </p:childTnLst>
                          </p:cTn>
                        </p:par>
                        <p:par>
                          <p:cTn id="47" fill="hold">
                            <p:stCondLst>
                              <p:cond delay="2900"/>
                            </p:stCondLst>
                            <p:childTnLst>
                              <p:par>
                                <p:cTn id="48" presetID="63" presetClass="path" presetSubtype="0" fill="hold" nodeType="afterEffect">
                                  <p:stCondLst>
                                    <p:cond delay="0"/>
                                  </p:stCondLst>
                                  <p:childTnLst>
                                    <p:animMotion origin="layout" path="M 0 0 L 0.5859 0 E" pathEditMode="relative" ptsTypes="">
                                      <p:cBhvr>
                                        <p:cTn id="49" dur="4500" fill="hold"/>
                                        <p:tgtEl>
                                          <p:spTgt spid="13"/>
                                        </p:tgtEl>
                                        <p:attrNameLst>
                                          <p:attrName>ppt_x</p:attrName>
                                          <p:attrName>ppt_y</p:attrName>
                                        </p:attrNameLst>
                                      </p:cBhvr>
                                    </p:animMotion>
                                  </p:childTnLst>
                                </p:cTn>
                              </p:par>
                              <p:par>
                                <p:cTn id="50" presetID="22" presetClass="entr" presetSubtype="8" fill="hold" nodeType="with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left)">
                                      <p:cBhvr>
                                        <p:cTn id="5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eyebrow"/>
          <p:cNvSpPr txBox="1"/>
          <p:nvPr/>
        </p:nvSpPr>
        <p:spPr>
          <a:xfrm>
            <a:off x="812800" y="774700"/>
            <a:ext cx="8890000" cy="254000"/>
          </a:xfrm>
          <a:prstGeom prst="rect">
            <a:avLst/>
          </a:prstGeom>
          <a:noFill/>
          <a:ln/>
        </p:spPr>
        <p:txBody>
          <a:bodyPr wrap="square" lIns="0" tIns="0" rIns="0" bIns="0" rtlCol="0" anchor="ctr"/>
          <a:lstStyle/>
          <a:p>
            <a:pPr marL="0" indent="0">
              <a:buNone/>
            </a:pPr>
            <a:r>
              <a:rPr lang="en-US" sz="1200" b="1" kern="0" spc="300" dirty="0">
                <a:solidFill>
                  <a:srgbClr val="A84A14"/>
                </a:solidFill>
                <a:latin typeface="Calibri" pitchFamily="34" charset="0"/>
                <a:ea typeface="Calibri" pitchFamily="34" charset="-122"/>
                <a:cs typeface="Calibri" pitchFamily="34" charset="-120"/>
              </a:rPr>
              <a:t>THEORY · STATION 7</a:t>
            </a:r>
            <a:endParaRPr lang="en-US" sz="1200" dirty="0"/>
          </a:p>
        </p:txBody>
      </p:sp>
      <p:sp>
        <p:nvSpPr>
          <p:cNvPr id="3" name="!!title"/>
          <p:cNvSpPr txBox="1"/>
          <p:nvPr/>
        </p:nvSpPr>
        <p:spPr>
          <a:xfrm>
            <a:off x="812800" y="1054100"/>
            <a:ext cx="10566400" cy="558800"/>
          </a:xfrm>
          <a:prstGeom prst="rect">
            <a:avLst/>
          </a:prstGeom>
          <a:noFill/>
          <a:ln/>
        </p:spPr>
        <p:txBody>
          <a:bodyPr wrap="square" lIns="0" tIns="0" rIns="0" bIns="0" rtlCol="0" anchor="ctr"/>
          <a:lstStyle/>
          <a:p>
            <a:pPr marL="0" indent="0">
              <a:buNone/>
            </a:pPr>
            <a:r>
              <a:rPr lang="en-US" sz="3200" b="1" dirty="0">
                <a:solidFill>
                  <a:srgbClr val="14171C"/>
                </a:solidFill>
                <a:latin typeface="Arial" pitchFamily="34" charset="0"/>
                <a:ea typeface="Arial" pitchFamily="34" charset="-122"/>
                <a:cs typeface="Arial" pitchFamily="34" charset="-120"/>
              </a:rPr>
              <a:t>Precision Oven: sampling, DFT and the notch</a:t>
            </a:r>
            <a:endParaRPr lang="en-US" sz="3200" dirty="0"/>
          </a:p>
        </p:txBody>
      </p:sp>
      <p:pic>
        <p:nvPicPr>
          <p:cNvPr id="4" name="s6-oven" descr="Precision Oven illustration"/>
          <p:cNvPicPr>
            <a:picLocks noChangeAspect="1"/>
          </p:cNvPicPr>
          <p:nvPr/>
        </p:nvPicPr>
        <p:blipFill>
          <a:blip r:embed="rId4"/>
          <a:stretch>
            <a:fillRect/>
          </a:stretch>
        </p:blipFill>
        <p:spPr>
          <a:xfrm>
            <a:off x="10617200" y="749300"/>
            <a:ext cx="762000" cy="762000"/>
          </a:xfrm>
          <a:prstGeom prst="rect">
            <a:avLst/>
          </a:prstGeom>
        </p:spPr>
      </p:pic>
      <p:sp>
        <p:nvSpPr>
          <p:cNvPr id="5" name="s6-p1"/>
          <p:cNvSpPr txBox="1"/>
          <p:nvPr/>
        </p:nvSpPr>
        <p:spPr>
          <a:xfrm>
            <a:off x="812800" y="1879600"/>
            <a:ext cx="5181600" cy="2153920"/>
          </a:xfrm>
          <a:prstGeom prst="roundRect">
            <a:avLst>
              <a:gd name="adj" fmla="val 5094"/>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07 · SAMPLE AND TRANSFORM</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b[n] = a_d·max|x|·sin(2π·f_d·n/400)</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f_d = ρ·f₀   (between two harmonics)</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f_s ≥ 2·f_max   (Nyquist)</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f_alias = |f − round(f/f_s)·f_s|</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X[k] = Σₘ x[m]·e^(−j2πkm/N)</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f_k = k·f_s / N</a:t>
            </a:r>
            <a:endParaRPr lang="en-US" sz="1200" dirty="0"/>
          </a:p>
        </p:txBody>
      </p:sp>
      <p:sp>
        <p:nvSpPr>
          <p:cNvPr id="6" name="s6-p2"/>
          <p:cNvSpPr txBox="1"/>
          <p:nvPr/>
        </p:nvSpPr>
        <p:spPr>
          <a:xfrm>
            <a:off x="6197600" y="1879600"/>
            <a:ext cx="5181600" cy="2153920"/>
          </a:xfrm>
          <a:prstGeom prst="roundRect">
            <a:avLst>
              <a:gd name="adj" fmla="val 5094"/>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07 · FILTER AND REBUILD</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X'[k] = X[k]·G_band·C(f_k)·Q(f_k)</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Q(f) = 1 − 0.98 / (1 + ((f − f_n)/1.5)²)</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C(f) = e^(−((f − f_c)/4)²),  f &gt; f_c</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X'[N−k] = conj(X'[k])   (real output)</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x'[m] = (1/N)·Σₖ X'[k]·e^(j2πkm/N)</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x_out(t) = Σₘ x'[m]·D_N(t − m/N)</a:t>
            </a:r>
            <a:endParaRPr lang="en-US" sz="1200" dirty="0"/>
          </a:p>
        </p:txBody>
      </p:sp>
      <p:sp>
        <p:nvSpPr>
          <p:cNvPr id="7" name="s6-strip"/>
          <p:cNvSpPr/>
          <p:nvPr/>
        </p:nvSpPr>
        <p:spPr>
          <a:xfrm>
            <a:off x="812800" y="4185920"/>
            <a:ext cx="10566400" cy="1663700"/>
          </a:xfrm>
          <a:prstGeom prst="roundRect">
            <a:avLst>
              <a:gd name="adj" fmla="val 6595"/>
            </a:avLst>
          </a:prstGeom>
          <a:solidFill>
            <a:srgbClr val="151A21"/>
          </a:solidFill>
          <a:ln w="9525">
            <a:solidFill>
              <a:srgbClr val="2B333E"/>
            </a:solidFill>
            <a:prstDash val="solid"/>
          </a:ln>
        </p:spPr>
      </p:sp>
      <p:sp>
        <p:nvSpPr>
          <p:cNvPr id="8" name="s6-cap"/>
          <p:cNvSpPr txBox="1"/>
          <p:nvPr/>
        </p:nvSpPr>
        <p:spPr>
          <a:xfrm>
            <a:off x="1016000" y="4287520"/>
            <a:ext cx="10160000" cy="228600"/>
          </a:xfrm>
          <a:prstGeom prst="rect">
            <a:avLst/>
          </a:prstGeom>
          <a:noFill/>
          <a:ln/>
        </p:spPr>
        <p:txBody>
          <a:bodyPr wrap="square" lIns="0" tIns="0" rIns="0" bIns="0" rtlCol="0" anchor="ctr"/>
          <a:lstStyle/>
          <a:p>
            <a:pPr marL="0" indent="0">
              <a:buNone/>
            </a:pPr>
            <a:r>
              <a:rPr lang="en-US" sz="1200" dirty="0">
                <a:solidFill>
                  <a:srgbClr val="3FB6A8"/>
                </a:solidFill>
                <a:latin typeface="Calibri" pitchFamily="34" charset="0"/>
                <a:ea typeface="Calibri" pitchFamily="34" charset="-122"/>
                <a:cs typeface="Calibri" pitchFamily="34" charset="-120"/>
              </a:rPr>
              <a:t>harmonics every 4 Hz</a:t>
            </a:r>
            <a:r>
              <a:rPr lang="en-US" sz="1200" dirty="0">
                <a:solidFill>
                  <a:srgbClr val="9AA4B2"/>
                </a:solidFill>
                <a:latin typeface="Calibri" pitchFamily="34" charset="0"/>
                <a:ea typeface="Calibri" pitchFamily="34" charset="-122"/>
                <a:cs typeface="Calibri" pitchFamily="34" charset="-120"/>
              </a:rPr>
              <a:t>  ·  </a:t>
            </a:r>
            <a:r>
              <a:rPr lang="en-US" sz="1200" dirty="0">
                <a:solidFill>
                  <a:srgbClr val="E8792B"/>
                </a:solidFill>
                <a:latin typeface="Calibri" pitchFamily="34" charset="0"/>
                <a:ea typeface="Calibri" pitchFamily="34" charset="-122"/>
                <a:cs typeface="Calibri" pitchFamily="34" charset="-120"/>
              </a:rPr>
              <a:t>burnt overtone at 18 Hz</a:t>
            </a:r>
            <a:r>
              <a:rPr lang="en-US" sz="1200" dirty="0">
                <a:solidFill>
                  <a:srgbClr val="9AA4B2"/>
                </a:solidFill>
                <a:latin typeface="Calibri" pitchFamily="34" charset="0"/>
                <a:ea typeface="Calibri" pitchFamily="34" charset="-122"/>
                <a:cs typeface="Calibri" pitchFamily="34" charset="-120"/>
              </a:rPr>
              <a:t>  ·  dashed: the notch gain Q(f)  ·  0 → 32 game Hz</a:t>
            </a:r>
            <a:endParaRPr lang="en-US" sz="1200" dirty="0"/>
          </a:p>
        </p:txBody>
      </p:sp>
      <p:sp>
        <p:nvSpPr>
          <p:cNvPr id="9" name="s6-axis"/>
          <p:cNvSpPr/>
          <p:nvPr/>
        </p:nvSpPr>
        <p:spPr>
          <a:xfrm>
            <a:off x="1143000" y="5659120"/>
            <a:ext cx="9906000" cy="0"/>
          </a:xfrm>
          <a:prstGeom prst="line">
            <a:avLst/>
          </a:prstGeom>
          <a:noFill/>
          <a:ln w="19050">
            <a:solidFill>
              <a:srgbClr val="3A4452"/>
            </a:solidFill>
            <a:prstDash val="solid"/>
          </a:ln>
        </p:spPr>
      </p:sp>
      <p:sp>
        <p:nvSpPr>
          <p:cNvPr id="10" name="s6-bar1"/>
          <p:cNvSpPr/>
          <p:nvPr/>
        </p:nvSpPr>
        <p:spPr>
          <a:xfrm>
            <a:off x="2381250" y="4706620"/>
            <a:ext cx="114300" cy="952500"/>
          </a:xfrm>
          <a:prstGeom prst="rect">
            <a:avLst/>
          </a:prstGeom>
          <a:solidFill>
            <a:srgbClr val="3FB6A8"/>
          </a:solidFill>
          <a:ln/>
        </p:spPr>
      </p:sp>
      <p:sp>
        <p:nvSpPr>
          <p:cNvPr id="11" name="s6-bar2"/>
          <p:cNvSpPr/>
          <p:nvPr/>
        </p:nvSpPr>
        <p:spPr>
          <a:xfrm>
            <a:off x="3549650" y="4947920"/>
            <a:ext cx="114300" cy="711200"/>
          </a:xfrm>
          <a:prstGeom prst="rect">
            <a:avLst/>
          </a:prstGeom>
          <a:solidFill>
            <a:srgbClr val="3FB6A8"/>
          </a:solidFill>
          <a:ln/>
        </p:spPr>
      </p:sp>
      <p:sp>
        <p:nvSpPr>
          <p:cNvPr id="12" name="s6-bar3"/>
          <p:cNvSpPr/>
          <p:nvPr/>
        </p:nvSpPr>
        <p:spPr>
          <a:xfrm>
            <a:off x="4718050" y="5125720"/>
            <a:ext cx="114300" cy="533400"/>
          </a:xfrm>
          <a:prstGeom prst="rect">
            <a:avLst/>
          </a:prstGeom>
          <a:solidFill>
            <a:srgbClr val="3FB6A8"/>
          </a:solidFill>
          <a:ln/>
        </p:spPr>
      </p:sp>
      <p:sp>
        <p:nvSpPr>
          <p:cNvPr id="13" name="s6-bar4"/>
          <p:cNvSpPr/>
          <p:nvPr/>
        </p:nvSpPr>
        <p:spPr>
          <a:xfrm>
            <a:off x="5886450" y="5265420"/>
            <a:ext cx="114300" cy="393700"/>
          </a:xfrm>
          <a:prstGeom prst="rect">
            <a:avLst/>
          </a:prstGeom>
          <a:solidFill>
            <a:srgbClr val="3FB6A8"/>
          </a:solidFill>
          <a:ln/>
        </p:spPr>
      </p:sp>
      <p:sp>
        <p:nvSpPr>
          <p:cNvPr id="14" name="s6-bar5"/>
          <p:cNvSpPr/>
          <p:nvPr/>
        </p:nvSpPr>
        <p:spPr>
          <a:xfrm>
            <a:off x="7054850" y="5367020"/>
            <a:ext cx="114300" cy="292100"/>
          </a:xfrm>
          <a:prstGeom prst="rect">
            <a:avLst/>
          </a:prstGeom>
          <a:solidFill>
            <a:srgbClr val="3FB6A8"/>
          </a:solidFill>
          <a:ln/>
        </p:spPr>
      </p:sp>
      <p:sp>
        <p:nvSpPr>
          <p:cNvPr id="15" name="s6-bar6"/>
          <p:cNvSpPr/>
          <p:nvPr/>
        </p:nvSpPr>
        <p:spPr>
          <a:xfrm>
            <a:off x="8223250" y="5443220"/>
            <a:ext cx="114300" cy="215900"/>
          </a:xfrm>
          <a:prstGeom prst="rect">
            <a:avLst/>
          </a:prstGeom>
          <a:solidFill>
            <a:srgbClr val="3FB6A8"/>
          </a:solidFill>
          <a:ln/>
        </p:spPr>
      </p:sp>
      <p:sp>
        <p:nvSpPr>
          <p:cNvPr id="16" name="s6-bar7"/>
          <p:cNvSpPr/>
          <p:nvPr/>
        </p:nvSpPr>
        <p:spPr>
          <a:xfrm>
            <a:off x="9391650" y="5494020"/>
            <a:ext cx="114300" cy="165100"/>
          </a:xfrm>
          <a:prstGeom prst="rect">
            <a:avLst/>
          </a:prstGeom>
          <a:solidFill>
            <a:srgbClr val="3FB6A8"/>
          </a:solidFill>
          <a:ln/>
        </p:spPr>
      </p:sp>
      <p:sp>
        <p:nvSpPr>
          <p:cNvPr id="17" name="s6-bar8"/>
          <p:cNvSpPr/>
          <p:nvPr/>
        </p:nvSpPr>
        <p:spPr>
          <a:xfrm>
            <a:off x="10560050" y="5532120"/>
            <a:ext cx="114300" cy="127000"/>
          </a:xfrm>
          <a:prstGeom prst="rect">
            <a:avLst/>
          </a:prstGeom>
          <a:solidFill>
            <a:srgbClr val="3FB6A8"/>
          </a:solidFill>
          <a:ln/>
        </p:spPr>
      </p:sp>
      <p:sp>
        <p:nvSpPr>
          <p:cNvPr id="18" name="s6-overtone"/>
          <p:cNvSpPr/>
          <p:nvPr/>
        </p:nvSpPr>
        <p:spPr>
          <a:xfrm>
            <a:off x="6470650" y="4871720"/>
            <a:ext cx="114300" cy="787400"/>
          </a:xfrm>
          <a:prstGeom prst="rect">
            <a:avLst/>
          </a:prstGeom>
          <a:solidFill>
            <a:srgbClr val="E8792B"/>
          </a:solidFill>
          <a:ln/>
        </p:spPr>
      </p:sp>
      <p:sp>
        <p:nvSpPr>
          <p:cNvPr id="19" name="s6-stub"/>
          <p:cNvSpPr/>
          <p:nvPr/>
        </p:nvSpPr>
        <p:spPr>
          <a:xfrm>
            <a:off x="6470650" y="5621020"/>
            <a:ext cx="114300" cy="38100"/>
          </a:xfrm>
          <a:prstGeom prst="rect">
            <a:avLst/>
          </a:prstGeom>
          <a:solidFill>
            <a:srgbClr val="E8792B"/>
          </a:solidFill>
          <a:ln/>
        </p:spPr>
      </p:sp>
      <p:pic>
        <p:nvPicPr>
          <p:cNvPr id="20" name="s6-notch" descr="notch gain curve"/>
          <p:cNvPicPr>
            <a:picLocks noChangeAspect="1"/>
          </p:cNvPicPr>
          <p:nvPr/>
        </p:nvPicPr>
        <p:blipFill>
          <a:blip r:embed="rId5"/>
          <a:stretch>
            <a:fillRect/>
          </a:stretch>
        </p:blipFill>
        <p:spPr>
          <a:xfrm>
            <a:off x="1016000" y="4579620"/>
            <a:ext cx="10160000" cy="1143000"/>
          </a:xfrm>
          <a:prstGeom prst="rect">
            <a:avLst/>
          </a:prstGeom>
        </p:spPr>
      </p:pic>
      <p:sp>
        <p:nvSpPr>
          <p:cNvPr id="21" name="!!footer"/>
          <p:cNvSpPr txBox="1"/>
          <p:nvPr/>
        </p:nvSpPr>
        <p:spPr>
          <a:xfrm>
            <a:off x="812800" y="6248400"/>
            <a:ext cx="5715000" cy="215900"/>
          </a:xfrm>
          <a:prstGeom prst="rect">
            <a:avLst/>
          </a:prstGeom>
          <a:noFill/>
          <a:ln/>
        </p:spPr>
        <p:txBody>
          <a:bodyPr wrap="square" lIns="0" tIns="0" rIns="0" bIns="0" rtlCol="0" anchor="ctr"/>
          <a:lstStyle/>
          <a:p>
            <a:pPr marL="0" indent="0">
              <a:buNone/>
            </a:pPr>
            <a:r>
              <a:rPr lang="en-US" sz="1200" dirty="0">
                <a:solidFill>
                  <a:srgbClr val="5B6270"/>
                </a:solidFill>
                <a:latin typeface="Calibri" pitchFamily="34" charset="0"/>
                <a:ea typeface="Calibri" pitchFamily="34" charset="-122"/>
                <a:cs typeface="Calibri" pitchFamily="34" charset="-120"/>
              </a:rPr>
              <a:t>WaveKitchen · Cooking with Signals</a:t>
            </a:r>
            <a:endParaRPr lang="en-US" sz="1200" dirty="0"/>
          </a:p>
        </p:txBody>
      </p:sp>
      <p:sp>
        <p:nvSpPr>
          <p:cNvPr id="22" name="!!page"/>
          <p:cNvSpPr txBox="1"/>
          <p:nvPr/>
        </p:nvSpPr>
        <p:spPr>
          <a:xfrm>
            <a:off x="9474200" y="6248400"/>
            <a:ext cx="1905000" cy="215900"/>
          </a:xfrm>
          <a:prstGeom prst="rect">
            <a:avLst/>
          </a:prstGeom>
          <a:noFill/>
          <a:ln/>
        </p:spPr>
        <p:txBody>
          <a:bodyPr wrap="square" lIns="0" tIns="0" rIns="0" bIns="0" rtlCol="0" anchor="ctr"/>
          <a:lstStyle/>
          <a:p>
            <a:pPr marL="0" indent="0" algn="r">
              <a:buNone/>
            </a:pPr>
            <a:r>
              <a:rPr lang="en-US" sz="1200" dirty="0">
                <a:solidFill>
                  <a:srgbClr val="5B6270"/>
                </a:solidFill>
                <a:latin typeface="Calibri" pitchFamily="34" charset="0"/>
                <a:ea typeface="Calibri" pitchFamily="34" charset="-122"/>
                <a:cs typeface="Calibri" pitchFamily="34" charset="-120"/>
              </a:rPr>
              <a:t>6 / 10</a:t>
            </a:r>
            <a:endParaRPr lang="en-US" sz="1200" dirty="0"/>
          </a:p>
        </p:txBody>
      </p:sp>
      <p:sp>
        <p:nvSpPr>
          <p:cNvPr id="23" name="!!track"/>
          <p:cNvSpPr/>
          <p:nvPr/>
        </p:nvSpPr>
        <p:spPr>
          <a:xfrm>
            <a:off x="0" y="6807200"/>
            <a:ext cx="12192000" cy="50800"/>
          </a:xfrm>
          <a:prstGeom prst="rect">
            <a:avLst/>
          </a:prstGeom>
          <a:solidFill>
            <a:srgbClr val="E2DACB"/>
          </a:solidFill>
          <a:ln/>
        </p:spPr>
      </p:sp>
      <p:sp>
        <p:nvSpPr>
          <p:cNvPr id="24" name="!!progress"/>
          <p:cNvSpPr/>
          <p:nvPr/>
        </p:nvSpPr>
        <p:spPr>
          <a:xfrm>
            <a:off x="0" y="6807200"/>
            <a:ext cx="7315200" cy="50800"/>
          </a:xfrm>
          <a:prstGeom prst="rect">
            <a:avLst/>
          </a:prstGeom>
          <a:solidFill>
            <a:srgbClr val="E8792B"/>
          </a:solidFill>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37" presetClass="entr" presetSubtype="0"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anim calcmode="lin" valueType="num">
                                      <p:cBhvr>
                                        <p:cTn id="13" dur="500" fill="hold"/>
                                        <p:tgtEl>
                                          <p:spTgt spid="5"/>
                                        </p:tgtEl>
                                        <p:attrNameLst>
                                          <p:attrName>ppt_x</p:attrName>
                                        </p:attrNameLst>
                                      </p:cBhvr>
                                      <p:tavLst>
                                        <p:tav tm="0">
                                          <p:val>
                                            <p:strVal val="#ppt_x"/>
                                          </p:val>
                                        </p:tav>
                                        <p:tav tm="100000">
                                          <p:val>
                                            <p:strVal val="#ppt_x"/>
                                          </p:val>
                                        </p:tav>
                                      </p:tavLst>
                                    </p:anim>
                                    <p:anim calcmode="lin" valueType="num">
                                      <p:cBhvr>
                                        <p:cTn id="14" dur="450" decel="100000" fill="hold"/>
                                        <p:tgtEl>
                                          <p:spTgt spid="5"/>
                                        </p:tgtEl>
                                        <p:attrNameLst>
                                          <p:attrName>ppt_y</p:attrName>
                                        </p:attrNameLst>
                                      </p:cBhvr>
                                      <p:tavLst>
                                        <p:tav tm="0">
                                          <p:val>
                                            <p:strVal val="#ppt_y+1"/>
                                          </p:val>
                                        </p:tav>
                                        <p:tav tm="100000">
                                          <p:val>
                                            <p:strVal val="#ppt_y-.03"/>
                                          </p:val>
                                        </p:tav>
                                      </p:tavLst>
                                    </p:anim>
                                    <p:anim calcmode="lin" valueType="num">
                                      <p:cBhvr>
                                        <p:cTn id="15" dur="50" accel="100000" fill="hold">
                                          <p:stCondLst>
                                            <p:cond delay="450"/>
                                          </p:stCondLst>
                                        </p:cTn>
                                        <p:tgtEl>
                                          <p:spTgt spid="5"/>
                                        </p:tgtEl>
                                        <p:attrNameLst>
                                          <p:attrName>ppt_y</p:attrName>
                                        </p:attrNameLst>
                                      </p:cBhvr>
                                      <p:tavLst>
                                        <p:tav tm="0">
                                          <p:val>
                                            <p:strVal val="#ppt_y-.03"/>
                                          </p:val>
                                        </p:tav>
                                        <p:tav tm="100000">
                                          <p:val>
                                            <p:strVal val="#ppt_y"/>
                                          </p:val>
                                        </p:tav>
                                      </p:tavLst>
                                    </p:anim>
                                  </p:childTnLst>
                                </p:cTn>
                              </p:par>
                            </p:childTnLst>
                          </p:cTn>
                        </p:par>
                        <p:par>
                          <p:cTn id="16" fill="hold">
                            <p:stCondLst>
                              <p:cond delay="1000"/>
                            </p:stCondLst>
                            <p:childTnLst>
                              <p:par>
                                <p:cTn id="17" presetID="37"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anim calcmode="lin" valueType="num">
                                      <p:cBhvr>
                                        <p:cTn id="20" dur="500" fill="hold"/>
                                        <p:tgtEl>
                                          <p:spTgt spid="6"/>
                                        </p:tgtEl>
                                        <p:attrNameLst>
                                          <p:attrName>ppt_x</p:attrName>
                                        </p:attrNameLst>
                                      </p:cBhvr>
                                      <p:tavLst>
                                        <p:tav tm="0">
                                          <p:val>
                                            <p:strVal val="#ppt_x"/>
                                          </p:val>
                                        </p:tav>
                                        <p:tav tm="100000">
                                          <p:val>
                                            <p:strVal val="#ppt_x"/>
                                          </p:val>
                                        </p:tav>
                                      </p:tavLst>
                                    </p:anim>
                                    <p:anim calcmode="lin" valueType="num">
                                      <p:cBhvr>
                                        <p:cTn id="21" dur="450" decel="100000" fill="hold"/>
                                        <p:tgtEl>
                                          <p:spTgt spid="6"/>
                                        </p:tgtEl>
                                        <p:attrNameLst>
                                          <p:attrName>ppt_y</p:attrName>
                                        </p:attrNameLst>
                                      </p:cBhvr>
                                      <p:tavLst>
                                        <p:tav tm="0">
                                          <p:val>
                                            <p:strVal val="#ppt_y+1"/>
                                          </p:val>
                                        </p:tav>
                                        <p:tav tm="100000">
                                          <p:val>
                                            <p:strVal val="#ppt_y-.03"/>
                                          </p:val>
                                        </p:tav>
                                      </p:tavLst>
                                    </p:anim>
                                    <p:anim calcmode="lin" valueType="num">
                                      <p:cBhvr>
                                        <p:cTn id="22" dur="50" accel="100000" fill="hold">
                                          <p:stCondLst>
                                            <p:cond delay="450"/>
                                          </p:stCondLst>
                                        </p:cTn>
                                        <p:tgtEl>
                                          <p:spTgt spid="6"/>
                                        </p:tgtEl>
                                        <p:attrNameLst>
                                          <p:attrName>ppt_y</p:attrName>
                                        </p:attrNameLst>
                                      </p:cBhvr>
                                      <p:tavLst>
                                        <p:tav tm="0">
                                          <p:val>
                                            <p:strVal val="#ppt_y-.03"/>
                                          </p:val>
                                        </p:tav>
                                        <p:tav tm="100000">
                                          <p:val>
                                            <p:strVal val="#ppt_y"/>
                                          </p:val>
                                        </p:tav>
                                      </p:tavLst>
                                    </p:anim>
                                  </p:childTnLst>
                                </p:cTn>
                              </p:par>
                            </p:childTnLst>
                          </p:cTn>
                        </p:par>
                        <p:par>
                          <p:cTn id="23" fill="hold">
                            <p:stCondLst>
                              <p:cond delay="15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300"/>
                                        <p:tgtEl>
                                          <p:spTgt spid="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400"/>
                                        <p:tgtEl>
                                          <p:spTgt spid="8"/>
                                        </p:tgtEl>
                                      </p:cBhvr>
                                    </p:animEffect>
                                  </p:childTnLst>
                                </p:cTn>
                              </p:par>
                            </p:childTnLst>
                          </p:cTn>
                        </p:par>
                        <p:par>
                          <p:cTn id="30" fill="hold">
                            <p:stCondLst>
                              <p:cond delay="1900"/>
                            </p:stCondLst>
                            <p:childTnLst>
                              <p:par>
                                <p:cTn id="31" presetID="22" presetClass="entr" presetSubtype="8" fill="hold"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left)">
                                      <p:cBhvr>
                                        <p:cTn id="33" dur="500"/>
                                        <p:tgtEl>
                                          <p:spTgt spid="9"/>
                                        </p:tgtEl>
                                      </p:cBhvr>
                                    </p:animEffect>
                                  </p:childTnLst>
                                </p:cTn>
                              </p:par>
                              <p:par>
                                <p:cTn id="34" presetID="22" presetClass="entr" presetSubtype="1" fill="hold"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up)">
                                      <p:cBhvr>
                                        <p:cTn id="36" dur="500"/>
                                        <p:tgtEl>
                                          <p:spTgt spid="10"/>
                                        </p:tgtEl>
                                      </p:cBhvr>
                                    </p:animEffect>
                                  </p:childTnLst>
                                </p:cTn>
                              </p:par>
                              <p:par>
                                <p:cTn id="37" presetID="22" presetClass="entr" presetSubtype="1" fill="hold" nodeType="withEffect">
                                  <p:stCondLst>
                                    <p:cond delay="80"/>
                                  </p:stCondLst>
                                  <p:childTnLst>
                                    <p:set>
                                      <p:cBhvr>
                                        <p:cTn id="38" dur="1" fill="hold">
                                          <p:stCondLst>
                                            <p:cond delay="0"/>
                                          </p:stCondLst>
                                        </p:cTn>
                                        <p:tgtEl>
                                          <p:spTgt spid="11"/>
                                        </p:tgtEl>
                                        <p:attrNameLst>
                                          <p:attrName>style.visibility</p:attrName>
                                        </p:attrNameLst>
                                      </p:cBhvr>
                                      <p:to>
                                        <p:strVal val="visible"/>
                                      </p:to>
                                    </p:set>
                                    <p:animEffect transition="in" filter="wipe(up)">
                                      <p:cBhvr>
                                        <p:cTn id="39" dur="500"/>
                                        <p:tgtEl>
                                          <p:spTgt spid="11"/>
                                        </p:tgtEl>
                                      </p:cBhvr>
                                    </p:animEffect>
                                  </p:childTnLst>
                                </p:cTn>
                              </p:par>
                              <p:par>
                                <p:cTn id="40" presetID="22" presetClass="entr" presetSubtype="1" fill="hold" nodeType="withEffect">
                                  <p:stCondLst>
                                    <p:cond delay="160"/>
                                  </p:stCondLst>
                                  <p:childTnLst>
                                    <p:set>
                                      <p:cBhvr>
                                        <p:cTn id="41" dur="1" fill="hold">
                                          <p:stCondLst>
                                            <p:cond delay="0"/>
                                          </p:stCondLst>
                                        </p:cTn>
                                        <p:tgtEl>
                                          <p:spTgt spid="12"/>
                                        </p:tgtEl>
                                        <p:attrNameLst>
                                          <p:attrName>style.visibility</p:attrName>
                                        </p:attrNameLst>
                                      </p:cBhvr>
                                      <p:to>
                                        <p:strVal val="visible"/>
                                      </p:to>
                                    </p:set>
                                    <p:animEffect transition="in" filter="wipe(up)">
                                      <p:cBhvr>
                                        <p:cTn id="42" dur="500"/>
                                        <p:tgtEl>
                                          <p:spTgt spid="12"/>
                                        </p:tgtEl>
                                      </p:cBhvr>
                                    </p:animEffect>
                                  </p:childTnLst>
                                </p:cTn>
                              </p:par>
                              <p:par>
                                <p:cTn id="43" presetID="22" presetClass="entr" presetSubtype="1" fill="hold" nodeType="withEffect">
                                  <p:stCondLst>
                                    <p:cond delay="240"/>
                                  </p:stCondLst>
                                  <p:childTnLst>
                                    <p:set>
                                      <p:cBhvr>
                                        <p:cTn id="44" dur="1" fill="hold">
                                          <p:stCondLst>
                                            <p:cond delay="0"/>
                                          </p:stCondLst>
                                        </p:cTn>
                                        <p:tgtEl>
                                          <p:spTgt spid="13"/>
                                        </p:tgtEl>
                                        <p:attrNameLst>
                                          <p:attrName>style.visibility</p:attrName>
                                        </p:attrNameLst>
                                      </p:cBhvr>
                                      <p:to>
                                        <p:strVal val="visible"/>
                                      </p:to>
                                    </p:set>
                                    <p:animEffect transition="in" filter="wipe(up)">
                                      <p:cBhvr>
                                        <p:cTn id="45" dur="500"/>
                                        <p:tgtEl>
                                          <p:spTgt spid="13"/>
                                        </p:tgtEl>
                                      </p:cBhvr>
                                    </p:animEffect>
                                  </p:childTnLst>
                                </p:cTn>
                              </p:par>
                              <p:par>
                                <p:cTn id="46" presetID="22" presetClass="entr" presetSubtype="1" fill="hold" nodeType="withEffect">
                                  <p:stCondLst>
                                    <p:cond delay="320"/>
                                  </p:stCondLst>
                                  <p:childTnLst>
                                    <p:set>
                                      <p:cBhvr>
                                        <p:cTn id="47" dur="1" fill="hold">
                                          <p:stCondLst>
                                            <p:cond delay="0"/>
                                          </p:stCondLst>
                                        </p:cTn>
                                        <p:tgtEl>
                                          <p:spTgt spid="14"/>
                                        </p:tgtEl>
                                        <p:attrNameLst>
                                          <p:attrName>style.visibility</p:attrName>
                                        </p:attrNameLst>
                                      </p:cBhvr>
                                      <p:to>
                                        <p:strVal val="visible"/>
                                      </p:to>
                                    </p:set>
                                    <p:animEffect transition="in" filter="wipe(up)">
                                      <p:cBhvr>
                                        <p:cTn id="48" dur="500"/>
                                        <p:tgtEl>
                                          <p:spTgt spid="14"/>
                                        </p:tgtEl>
                                      </p:cBhvr>
                                    </p:animEffect>
                                  </p:childTnLst>
                                </p:cTn>
                              </p:par>
                              <p:par>
                                <p:cTn id="49" presetID="22" presetClass="entr" presetSubtype="1" fill="hold" nodeType="withEffect">
                                  <p:stCondLst>
                                    <p:cond delay="400"/>
                                  </p:stCondLst>
                                  <p:childTnLst>
                                    <p:set>
                                      <p:cBhvr>
                                        <p:cTn id="50" dur="1" fill="hold">
                                          <p:stCondLst>
                                            <p:cond delay="0"/>
                                          </p:stCondLst>
                                        </p:cTn>
                                        <p:tgtEl>
                                          <p:spTgt spid="15"/>
                                        </p:tgtEl>
                                        <p:attrNameLst>
                                          <p:attrName>style.visibility</p:attrName>
                                        </p:attrNameLst>
                                      </p:cBhvr>
                                      <p:to>
                                        <p:strVal val="visible"/>
                                      </p:to>
                                    </p:set>
                                    <p:animEffect transition="in" filter="wipe(up)">
                                      <p:cBhvr>
                                        <p:cTn id="51" dur="500"/>
                                        <p:tgtEl>
                                          <p:spTgt spid="15"/>
                                        </p:tgtEl>
                                      </p:cBhvr>
                                    </p:animEffect>
                                  </p:childTnLst>
                                </p:cTn>
                              </p:par>
                              <p:par>
                                <p:cTn id="52" presetID="22" presetClass="entr" presetSubtype="1" fill="hold" nodeType="withEffect">
                                  <p:stCondLst>
                                    <p:cond delay="480"/>
                                  </p:stCondLst>
                                  <p:childTnLst>
                                    <p:set>
                                      <p:cBhvr>
                                        <p:cTn id="53" dur="1" fill="hold">
                                          <p:stCondLst>
                                            <p:cond delay="0"/>
                                          </p:stCondLst>
                                        </p:cTn>
                                        <p:tgtEl>
                                          <p:spTgt spid="16"/>
                                        </p:tgtEl>
                                        <p:attrNameLst>
                                          <p:attrName>style.visibility</p:attrName>
                                        </p:attrNameLst>
                                      </p:cBhvr>
                                      <p:to>
                                        <p:strVal val="visible"/>
                                      </p:to>
                                    </p:set>
                                    <p:animEffect transition="in" filter="wipe(up)">
                                      <p:cBhvr>
                                        <p:cTn id="54" dur="500"/>
                                        <p:tgtEl>
                                          <p:spTgt spid="16"/>
                                        </p:tgtEl>
                                      </p:cBhvr>
                                    </p:animEffect>
                                  </p:childTnLst>
                                </p:cTn>
                              </p:par>
                              <p:par>
                                <p:cTn id="55" presetID="22" presetClass="entr" presetSubtype="1" fill="hold" nodeType="withEffect">
                                  <p:stCondLst>
                                    <p:cond delay="560"/>
                                  </p:stCondLst>
                                  <p:childTnLst>
                                    <p:set>
                                      <p:cBhvr>
                                        <p:cTn id="56" dur="1" fill="hold">
                                          <p:stCondLst>
                                            <p:cond delay="0"/>
                                          </p:stCondLst>
                                        </p:cTn>
                                        <p:tgtEl>
                                          <p:spTgt spid="17"/>
                                        </p:tgtEl>
                                        <p:attrNameLst>
                                          <p:attrName>style.visibility</p:attrName>
                                        </p:attrNameLst>
                                      </p:cBhvr>
                                      <p:to>
                                        <p:strVal val="visible"/>
                                      </p:to>
                                    </p:set>
                                    <p:animEffect transition="in" filter="wipe(up)">
                                      <p:cBhvr>
                                        <p:cTn id="57" dur="500"/>
                                        <p:tgtEl>
                                          <p:spTgt spid="17"/>
                                        </p:tgtEl>
                                      </p:cBhvr>
                                    </p:animEffect>
                                  </p:childTnLst>
                                </p:cTn>
                              </p:par>
                            </p:childTnLst>
                          </p:cTn>
                        </p:par>
                        <p:par>
                          <p:cTn id="58" fill="hold">
                            <p:stCondLst>
                              <p:cond delay="2960"/>
                            </p:stCondLst>
                            <p:childTnLst>
                              <p:par>
                                <p:cTn id="59" presetID="22" presetClass="entr" presetSubtype="1" fill="hold" nodeType="after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wipe(up)">
                                      <p:cBhvr>
                                        <p:cTn id="61" dur="500"/>
                                        <p:tgtEl>
                                          <p:spTgt spid="18"/>
                                        </p:tgtEl>
                                      </p:cBhvr>
                                    </p:animEffect>
                                  </p:childTnLst>
                                </p:cTn>
                              </p:par>
                            </p:childTnLst>
                          </p:cTn>
                        </p:par>
                        <p:par>
                          <p:cTn id="62" fill="hold">
                            <p:stCondLst>
                              <p:cond delay="3460"/>
                            </p:stCondLst>
                            <p:childTnLst>
                              <p:par>
                                <p:cTn id="63" presetID="27" presetClass="emph" presetSubtype="0" repeatCount="2000" fill="remove" nodeType="afterEffect">
                                  <p:stCondLst>
                                    <p:cond delay="0"/>
                                  </p:stCondLst>
                                  <p:childTnLst>
                                    <p:animClr clrSpc="rgb" dir="cw">
                                      <p:cBhvr override="childStyle">
                                        <p:cTn id="64" dur="300" autoRev="1" fill="remove"/>
                                        <p:tgtEl>
                                          <p:spTgt spid="18"/>
                                        </p:tgtEl>
                                        <p:attrNameLst>
                                          <p:attrName>style.color</p:attrName>
                                        </p:attrNameLst>
                                      </p:cBhvr>
                                      <p:to>
                                        <a:schemeClr val="bg1"/>
                                      </p:to>
                                    </p:animClr>
                                    <p:animClr clrSpc="rgb" dir="cw">
                                      <p:cBhvr>
                                        <p:cTn id="65" dur="300" autoRev="1" fill="remove"/>
                                        <p:tgtEl>
                                          <p:spTgt spid="18"/>
                                        </p:tgtEl>
                                        <p:attrNameLst>
                                          <p:attrName>fillcolor</p:attrName>
                                        </p:attrNameLst>
                                      </p:cBhvr>
                                      <p:to>
                                        <a:schemeClr val="bg1"/>
                                      </p:to>
                                    </p:animClr>
                                    <p:set>
                                      <p:cBhvr>
                                        <p:cTn id="66" dur="300" autoRev="1" fill="remove"/>
                                        <p:tgtEl>
                                          <p:spTgt spid="18"/>
                                        </p:tgtEl>
                                        <p:attrNameLst>
                                          <p:attrName>fill.type</p:attrName>
                                        </p:attrNameLst>
                                      </p:cBhvr>
                                      <p:to>
                                        <p:strVal val="solid"/>
                                      </p:to>
                                    </p:set>
                                    <p:set>
                                      <p:cBhvr>
                                        <p:cTn id="67" dur="300" autoRev="1" fill="remove"/>
                                        <p:tgtEl>
                                          <p:spTgt spid="18"/>
                                        </p:tgtEl>
                                        <p:attrNameLst>
                                          <p:attrName>fill.on</p:attrName>
                                        </p:attrNameLst>
                                      </p:cBhvr>
                                      <p:to>
                                        <p:strVal val="true"/>
                                      </p:to>
                                    </p:set>
                                  </p:childTnLst>
                                </p:cTn>
                              </p:par>
                            </p:childTnLst>
                          </p:cTn>
                        </p:par>
                        <p:par>
                          <p:cTn id="68" fill="hold">
                            <p:stCondLst>
                              <p:cond delay="4660"/>
                            </p:stCondLst>
                            <p:childTnLst>
                              <p:par>
                                <p:cTn id="69" presetID="22" presetClass="entr" presetSubtype="8" fill="hold" nodeType="after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wipe(left)">
                                      <p:cBhvr>
                                        <p:cTn id="71" dur="500"/>
                                        <p:tgtEl>
                                          <p:spTgt spid="20"/>
                                        </p:tgtEl>
                                      </p:cBhvr>
                                    </p:animEffect>
                                  </p:childTnLst>
                                </p:cTn>
                              </p:par>
                            </p:childTnLst>
                          </p:cTn>
                        </p:par>
                        <p:par>
                          <p:cTn id="72" fill="hold">
                            <p:stCondLst>
                              <p:cond delay="5160"/>
                            </p:stCondLst>
                            <p:childTnLst>
                              <p:par>
                                <p:cTn id="73" presetID="22" presetClass="exit" presetSubtype="4" fill="hold" nodeType="afterEffect">
                                  <p:stCondLst>
                                    <p:cond delay="0"/>
                                  </p:stCondLst>
                                  <p:childTnLst>
                                    <p:animEffect transition="out" filter="wipe(down)">
                                      <p:cBhvr>
                                        <p:cTn id="74" dur="500"/>
                                        <p:tgtEl>
                                          <p:spTgt spid="18"/>
                                        </p:tgtEl>
                                      </p:cBhvr>
                                    </p:animEffect>
                                    <p:set>
                                      <p:cBhvr>
                                        <p:cTn id="75" dur="1" fill="hold">
                                          <p:stCondLst>
                                            <p:cond delay="499"/>
                                          </p:stCondLst>
                                        </p:cTn>
                                        <p:tgtEl>
                                          <p:spTgt spid="18"/>
                                        </p:tgtEl>
                                        <p:attrNameLst>
                                          <p:attrName>style.visibility</p:attrName>
                                        </p:attrNameLst>
                                      </p:cBhvr>
                                      <p:to>
                                        <p:strVal val="hidden"/>
                                      </p:to>
                                    </p:set>
                                  </p:childTnLst>
                                </p:cTn>
                              </p:par>
                              <p:par>
                                <p:cTn id="76" presetID="10" presetClass="entr" presetSubtype="0" fill="hold" nodeType="withEffect">
                                  <p:stCondLst>
                                    <p:cond delay="30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300"/>
                                        <p:tgtEl>
                                          <p:spTgt spid="19"/>
                                        </p:tgtEl>
                                      </p:cBhvr>
                                    </p:animEffect>
                                  </p:childTnLst>
                                </p:cTn>
                              </p:par>
                            </p:childTnLst>
                          </p:cTn>
                        </p:par>
                        <p:par>
                          <p:cTn id="79" fill="hold">
                            <p:stCondLst>
                              <p:cond delay="5760"/>
                            </p:stCondLst>
                            <p:childTnLst>
                              <p:par>
                                <p:cTn id="80" presetID="32" presetClass="emph" presetSubtype="0" fill="hold" nodeType="afterEffect">
                                  <p:stCondLst>
                                    <p:cond delay="0"/>
                                  </p:stCondLst>
                                  <p:childTnLst>
                                    <p:animRot by="120000">
                                      <p:cBhvr>
                                        <p:cTn id="81" dur="80" fill="hold">
                                          <p:stCondLst>
                                            <p:cond delay="0"/>
                                          </p:stCondLst>
                                        </p:cTn>
                                        <p:tgtEl>
                                          <p:spTgt spid="4"/>
                                        </p:tgtEl>
                                        <p:attrNameLst>
                                          <p:attrName>r</p:attrName>
                                        </p:attrNameLst>
                                      </p:cBhvr>
                                    </p:animRot>
                                    <p:animRot by="-240000">
                                      <p:cBhvr>
                                        <p:cTn id="82" dur="160" fill="hold">
                                          <p:stCondLst>
                                            <p:cond delay="160"/>
                                          </p:stCondLst>
                                        </p:cTn>
                                        <p:tgtEl>
                                          <p:spTgt spid="4"/>
                                        </p:tgtEl>
                                        <p:attrNameLst>
                                          <p:attrName>r</p:attrName>
                                        </p:attrNameLst>
                                      </p:cBhvr>
                                    </p:animRot>
                                    <p:animRot by="240000">
                                      <p:cBhvr>
                                        <p:cTn id="83" dur="160" fill="hold">
                                          <p:stCondLst>
                                            <p:cond delay="320"/>
                                          </p:stCondLst>
                                        </p:cTn>
                                        <p:tgtEl>
                                          <p:spTgt spid="4"/>
                                        </p:tgtEl>
                                        <p:attrNameLst>
                                          <p:attrName>r</p:attrName>
                                        </p:attrNameLst>
                                      </p:cBhvr>
                                    </p:animRot>
                                    <p:animRot by="-240000">
                                      <p:cBhvr>
                                        <p:cTn id="84" dur="160" fill="hold">
                                          <p:stCondLst>
                                            <p:cond delay="480"/>
                                          </p:stCondLst>
                                        </p:cTn>
                                        <p:tgtEl>
                                          <p:spTgt spid="4"/>
                                        </p:tgtEl>
                                        <p:attrNameLst>
                                          <p:attrName>r</p:attrName>
                                        </p:attrNameLst>
                                      </p:cBhvr>
                                    </p:animRot>
                                    <p:animRot by="120000">
                                      <p:cBhvr>
                                        <p:cTn id="85" dur="160" fill="hold">
                                          <p:stCondLst>
                                            <p:cond delay="640"/>
                                          </p:stCondLst>
                                        </p:cTn>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eyebrow"/>
          <p:cNvSpPr txBox="1"/>
          <p:nvPr/>
        </p:nvSpPr>
        <p:spPr>
          <a:xfrm>
            <a:off x="812800" y="774700"/>
            <a:ext cx="8890000" cy="254000"/>
          </a:xfrm>
          <a:prstGeom prst="rect">
            <a:avLst/>
          </a:prstGeom>
          <a:noFill/>
          <a:ln/>
        </p:spPr>
        <p:txBody>
          <a:bodyPr wrap="square" lIns="0" tIns="0" rIns="0" bIns="0" rtlCol="0" anchor="ctr"/>
          <a:lstStyle/>
          <a:p>
            <a:pPr marL="0" indent="0">
              <a:buNone/>
            </a:pPr>
            <a:r>
              <a:rPr lang="en-US" sz="1200" b="1" kern="0" spc="300" dirty="0">
                <a:solidFill>
                  <a:srgbClr val="A84A14"/>
                </a:solidFill>
                <a:latin typeface="Calibri" pitchFamily="34" charset="0"/>
                <a:ea typeface="Calibri" pitchFamily="34" charset="-122"/>
                <a:cs typeface="Calibri" pitchFamily="34" charset="-120"/>
              </a:rPr>
              <a:t>THEORY · STATION 8</a:t>
            </a:r>
            <a:endParaRPr lang="en-US" sz="1200" dirty="0"/>
          </a:p>
        </p:txBody>
      </p:sp>
      <p:sp>
        <p:nvSpPr>
          <p:cNvPr id="3" name="!!title"/>
          <p:cNvSpPr txBox="1"/>
          <p:nvPr/>
        </p:nvSpPr>
        <p:spPr>
          <a:xfrm>
            <a:off x="812800" y="1054100"/>
            <a:ext cx="10566400" cy="558800"/>
          </a:xfrm>
          <a:prstGeom prst="rect">
            <a:avLst/>
          </a:prstGeom>
          <a:noFill/>
          <a:ln/>
        </p:spPr>
        <p:txBody>
          <a:bodyPr wrap="square" lIns="0" tIns="0" rIns="0" bIns="0" rtlCol="0" anchor="ctr"/>
          <a:lstStyle/>
          <a:p>
            <a:pPr marL="0" indent="0">
              <a:buNone/>
            </a:pPr>
            <a:r>
              <a:rPr lang="en-US" sz="3200" b="1" dirty="0">
                <a:solidFill>
                  <a:srgbClr val="14171C"/>
                </a:solidFill>
                <a:latin typeface="Arial" pitchFamily="34" charset="0"/>
                <a:ea typeface="Arial" pitchFamily="34" charset="-122"/>
                <a:cs typeface="Arial" pitchFamily="34" charset="-120"/>
              </a:rPr>
              <a:t>System Delivery: poles, zeros and stability</a:t>
            </a:r>
            <a:endParaRPr lang="en-US" sz="3200" dirty="0"/>
          </a:p>
        </p:txBody>
      </p:sp>
      <p:sp>
        <p:nvSpPr>
          <p:cNvPr id="4" name="s7-p1"/>
          <p:cNvSpPr txBox="1"/>
          <p:nvPr/>
        </p:nvSpPr>
        <p:spPr>
          <a:xfrm>
            <a:off x="812800" y="1879600"/>
            <a:ext cx="6350000" cy="2896870"/>
          </a:xfrm>
          <a:prstGeom prst="roundRect">
            <a:avLst>
              <a:gd name="adj" fmla="val 3788"/>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08 · THE CART AS A FILTER</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v[n] = x[n] + a_r·max|x|·cos(ω_r·n)</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ω_r = 2π·f_r / 8000   (burger: 2600 Hz → 2.04 rad)</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H(z) = g·(z − e^{jω₀})(z − e^{−jω₀})</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     / (z − 0.85e^{jω₀})(z − 0.85e^{−jω₀})</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y[n] = Σₖ bₖ·x[n−k] − Σₖ aₖ·y[n−k]</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|H(e^{jω})| = g·Πᵢ|e^{jω} − zᵢ| / Πⱼ|e^{jω} − pⱼ|</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stable ⇔ every |pⱼ| &lt; 1   (BIBO)</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low-pass: H(z) = (1 − r)·z / (z − r)</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sensor: f_a = |f_r mod f_s|, folded to [0, f_s/2]</a:t>
            </a:r>
            <a:endParaRPr lang="en-US" sz="1200" dirty="0"/>
          </a:p>
        </p:txBody>
      </p:sp>
      <p:pic>
        <p:nvPicPr>
          <p:cNvPr id="5" name="s7-road" descr="a bumpy road"/>
          <p:cNvPicPr>
            <a:picLocks noChangeAspect="1"/>
          </p:cNvPicPr>
          <p:nvPr/>
        </p:nvPicPr>
        <p:blipFill>
          <a:blip r:embed="rId4"/>
          <a:stretch>
            <a:fillRect/>
          </a:stretch>
        </p:blipFill>
        <p:spPr>
          <a:xfrm>
            <a:off x="812800" y="5652770"/>
            <a:ext cx="6350000" cy="381000"/>
          </a:xfrm>
          <a:prstGeom prst="rect">
            <a:avLst/>
          </a:prstGeom>
        </p:spPr>
      </p:pic>
      <p:pic>
        <p:nvPicPr>
          <p:cNvPr id="6" name="s7-cart" descr="the delivery cart"/>
          <p:cNvPicPr>
            <a:picLocks noChangeAspect="1"/>
          </p:cNvPicPr>
          <p:nvPr/>
        </p:nvPicPr>
        <p:blipFill>
          <a:blip r:embed="rId5"/>
          <a:stretch>
            <a:fillRect/>
          </a:stretch>
        </p:blipFill>
        <p:spPr>
          <a:xfrm>
            <a:off x="812800" y="4903470"/>
            <a:ext cx="1333500" cy="889000"/>
          </a:xfrm>
          <a:prstGeom prst="rect">
            <a:avLst/>
          </a:prstGeom>
        </p:spPr>
      </p:pic>
      <p:sp>
        <p:nvSpPr>
          <p:cNvPr id="7" name="s7-roadlabel"/>
          <p:cNvSpPr txBox="1"/>
          <p:nvPr/>
        </p:nvSpPr>
        <p:spPr>
          <a:xfrm>
            <a:off x="5080000" y="5157470"/>
            <a:ext cx="2032000" cy="215900"/>
          </a:xfrm>
          <a:prstGeom prst="rect">
            <a:avLst/>
          </a:prstGeom>
          <a:noFill/>
          <a:ln/>
        </p:spPr>
        <p:txBody>
          <a:bodyPr wrap="square" lIns="0" tIns="0" rIns="0" bIns="0" rtlCol="0" anchor="ctr"/>
          <a:lstStyle/>
          <a:p>
            <a:pPr marL="0" indent="0" algn="r">
              <a:buNone/>
            </a:pPr>
            <a:r>
              <a:rPr lang="en-US" sz="1200" dirty="0">
                <a:solidFill>
                  <a:srgbClr val="A84A14"/>
                </a:solidFill>
                <a:latin typeface="Calibri" pitchFamily="34" charset="0"/>
                <a:ea typeface="Calibri" pitchFamily="34" charset="-122"/>
                <a:cs typeface="Calibri" pitchFamily="34" charset="-120"/>
              </a:rPr>
              <a:t>road vibration at ω_r</a:t>
            </a:r>
            <a:endParaRPr lang="en-US" sz="1200" dirty="0"/>
          </a:p>
        </p:txBody>
      </p:sp>
      <p:sp>
        <p:nvSpPr>
          <p:cNvPr id="8" name="s7-zpanel"/>
          <p:cNvSpPr/>
          <p:nvPr/>
        </p:nvSpPr>
        <p:spPr>
          <a:xfrm>
            <a:off x="7366000" y="1879600"/>
            <a:ext cx="4013200" cy="4064000"/>
          </a:xfrm>
          <a:prstGeom prst="roundRect">
            <a:avLst>
              <a:gd name="adj" fmla="val 2734"/>
            </a:avLst>
          </a:prstGeom>
          <a:solidFill>
            <a:srgbClr val="151A21"/>
          </a:solidFill>
          <a:ln w="9525">
            <a:solidFill>
              <a:srgbClr val="2B333E"/>
            </a:solidFill>
            <a:prstDash val="solid"/>
          </a:ln>
        </p:spPr>
      </p:sp>
      <p:sp>
        <p:nvSpPr>
          <p:cNvPr id="9" name="s7-ztitle"/>
          <p:cNvSpPr txBox="1"/>
          <p:nvPr/>
        </p:nvSpPr>
        <p:spPr>
          <a:xfrm>
            <a:off x="7366000" y="2032000"/>
            <a:ext cx="4013200" cy="215900"/>
          </a:xfrm>
          <a:prstGeom prst="rect">
            <a:avLst/>
          </a:prstGeom>
          <a:noFill/>
          <a:ln/>
        </p:spPr>
        <p:txBody>
          <a:bodyPr wrap="square" lIns="0" tIns="0" rIns="0" bIns="0" rtlCol="0" anchor="ctr"/>
          <a:lstStyle/>
          <a:p>
            <a:pPr marL="0" indent="0" algn="ctr">
              <a:buNone/>
            </a:pPr>
            <a:r>
              <a:rPr lang="en-US" sz="1200" b="1" kern="0" spc="200" dirty="0">
                <a:solidFill>
                  <a:srgbClr val="E8792B"/>
                </a:solidFill>
                <a:latin typeface="Calibri" pitchFamily="34" charset="0"/>
                <a:ea typeface="Calibri" pitchFamily="34" charset="-122"/>
                <a:cs typeface="Calibri" pitchFamily="34" charset="-120"/>
              </a:rPr>
              <a:t>THE Z-PLANE</a:t>
            </a:r>
            <a:endParaRPr lang="en-US" sz="1200" dirty="0"/>
          </a:p>
        </p:txBody>
      </p:sp>
      <p:pic>
        <p:nvPicPr>
          <p:cNvPr id="10" name="s7-zbase" descr="unit circle and axes"/>
          <p:cNvPicPr>
            <a:picLocks noChangeAspect="1"/>
          </p:cNvPicPr>
          <p:nvPr/>
        </p:nvPicPr>
        <p:blipFill>
          <a:blip r:embed="rId6"/>
          <a:stretch>
            <a:fillRect/>
          </a:stretch>
        </p:blipFill>
        <p:spPr>
          <a:xfrm>
            <a:off x="8039100" y="2349500"/>
            <a:ext cx="2667000" cy="2667000"/>
          </a:xfrm>
          <a:prstGeom prst="rect">
            <a:avLst/>
          </a:prstGeom>
        </p:spPr>
      </p:pic>
      <p:pic>
        <p:nvPicPr>
          <p:cNvPr id="11" name="s7-zero1" descr="zero"/>
          <p:cNvPicPr>
            <a:picLocks noChangeAspect="1"/>
          </p:cNvPicPr>
          <p:nvPr/>
        </p:nvPicPr>
        <p:blipFill>
          <a:blip r:embed="rId7"/>
          <a:stretch>
            <a:fillRect/>
          </a:stretch>
        </p:blipFill>
        <p:spPr>
          <a:xfrm>
            <a:off x="8797290" y="2663190"/>
            <a:ext cx="228600" cy="228600"/>
          </a:xfrm>
          <a:prstGeom prst="rect">
            <a:avLst/>
          </a:prstGeom>
        </p:spPr>
      </p:pic>
      <p:pic>
        <p:nvPicPr>
          <p:cNvPr id="12" name="s7-zero2" descr="zero"/>
          <p:cNvPicPr>
            <a:picLocks noChangeAspect="1"/>
          </p:cNvPicPr>
          <p:nvPr/>
        </p:nvPicPr>
        <p:blipFill>
          <a:blip r:embed="rId7"/>
          <a:stretch>
            <a:fillRect/>
          </a:stretch>
        </p:blipFill>
        <p:spPr>
          <a:xfrm>
            <a:off x="8797290" y="4474210"/>
            <a:ext cx="228600" cy="228600"/>
          </a:xfrm>
          <a:prstGeom prst="rect">
            <a:avLst/>
          </a:prstGeom>
        </p:spPr>
      </p:pic>
      <p:pic>
        <p:nvPicPr>
          <p:cNvPr id="13" name="s7-pole1" descr="pole"/>
          <p:cNvPicPr>
            <a:picLocks noChangeAspect="1"/>
          </p:cNvPicPr>
          <p:nvPr/>
        </p:nvPicPr>
        <p:blipFill>
          <a:blip r:embed="rId8"/>
          <a:stretch>
            <a:fillRect/>
          </a:stretch>
        </p:blipFill>
        <p:spPr>
          <a:xfrm>
            <a:off x="8866505" y="2799080"/>
            <a:ext cx="228600" cy="228600"/>
          </a:xfrm>
          <a:prstGeom prst="rect">
            <a:avLst/>
          </a:prstGeom>
        </p:spPr>
      </p:pic>
      <p:pic>
        <p:nvPicPr>
          <p:cNvPr id="14" name="s7-pole2" descr="pole"/>
          <p:cNvPicPr>
            <a:picLocks noChangeAspect="1"/>
          </p:cNvPicPr>
          <p:nvPr/>
        </p:nvPicPr>
        <p:blipFill>
          <a:blip r:embed="rId8"/>
          <a:stretch>
            <a:fillRect/>
          </a:stretch>
        </p:blipFill>
        <p:spPr>
          <a:xfrm>
            <a:off x="8866505" y="4338320"/>
            <a:ext cx="228600" cy="228600"/>
          </a:xfrm>
          <a:prstGeom prst="rect">
            <a:avLst/>
          </a:prstGeom>
        </p:spPr>
      </p:pic>
      <p:pic>
        <p:nvPicPr>
          <p:cNvPr id="15" name="s7-ray" descr="aliased sensor reading"/>
          <p:cNvPicPr>
            <a:picLocks noChangeAspect="1"/>
          </p:cNvPicPr>
          <p:nvPr/>
        </p:nvPicPr>
        <p:blipFill>
          <a:blip r:embed="rId9"/>
          <a:stretch>
            <a:fillRect/>
          </a:stretch>
        </p:blipFill>
        <p:spPr>
          <a:xfrm>
            <a:off x="9372600" y="2800350"/>
            <a:ext cx="508000" cy="882650"/>
          </a:xfrm>
          <a:prstGeom prst="rect">
            <a:avLst/>
          </a:prstGeom>
        </p:spPr>
      </p:pic>
      <p:sp>
        <p:nvSpPr>
          <p:cNvPr id="16" name="s7-zcap"/>
          <p:cNvSpPr txBox="1"/>
          <p:nvPr/>
        </p:nvSpPr>
        <p:spPr>
          <a:xfrm>
            <a:off x="7493000" y="5143500"/>
            <a:ext cx="3759200" cy="571500"/>
          </a:xfrm>
          <a:prstGeom prst="rect">
            <a:avLst/>
          </a:prstGeom>
          <a:noFill/>
          <a:ln/>
        </p:spPr>
        <p:txBody>
          <a:bodyPr wrap="square" lIns="0" tIns="0" rIns="0" bIns="0" rtlCol="0" anchor="ctr"/>
          <a:lstStyle/>
          <a:p>
            <a:pPr marL="0" indent="0" algn="ctr">
              <a:buNone/>
            </a:pPr>
            <a:r>
              <a:rPr lang="en-US" sz="1200" dirty="0">
                <a:solidFill>
                  <a:srgbClr val="3FB6A8"/>
                </a:solidFill>
                <a:latin typeface="Calibri" pitchFamily="34" charset="0"/>
                <a:ea typeface="Calibri" pitchFamily="34" charset="-122"/>
                <a:cs typeface="Calibri" pitchFamily="34" charset="-120"/>
              </a:rPr>
              <a:t>zeros</a:t>
            </a:r>
            <a:r>
              <a:rPr lang="en-US" sz="1200" dirty="0">
                <a:solidFill>
                  <a:srgbClr val="9AA4B2"/>
                </a:solidFill>
                <a:latin typeface="Calibri" pitchFamily="34" charset="0"/>
                <a:ea typeface="Calibri" pitchFamily="34" charset="-122"/>
                <a:cs typeface="Calibri" pitchFamily="34" charset="-120"/>
              </a:rPr>
              <a:t> cancel the road  ·  </a:t>
            </a:r>
            <a:r>
              <a:rPr lang="en-US" sz="1200" dirty="0">
                <a:solidFill>
                  <a:srgbClr val="F6F1E7"/>
                </a:solidFill>
                <a:latin typeface="Calibri" pitchFamily="34" charset="0"/>
                <a:ea typeface="Calibri" pitchFamily="34" charset="-122"/>
                <a:cs typeface="Calibri" pitchFamily="34" charset="-120"/>
              </a:rPr>
              <a:t>poles</a:t>
            </a:r>
            <a:r>
              <a:rPr lang="en-US" sz="1200" dirty="0">
                <a:solidFill>
                  <a:srgbClr val="9AA4B2"/>
                </a:solidFill>
                <a:latin typeface="Calibri" pitchFamily="34" charset="0"/>
                <a:ea typeface="Calibri" pitchFamily="34" charset="-122"/>
                <a:cs typeface="Calibri" pitchFamily="34" charset="-120"/>
              </a:rPr>
              <a:t> at 0.85 keep it narrow</a:t>
            </a:r>
            <a:endParaRPr lang="en-US" sz="1200" dirty="0"/>
          </a:p>
          <a:p>
            <a:pPr marL="0" indent="0" algn="ctr">
              <a:buNone/>
            </a:pPr>
            <a:r>
              <a:rPr lang="en-US" sz="1200" dirty="0">
                <a:solidFill>
                  <a:srgbClr val="E8792B"/>
                </a:solidFill>
                <a:latin typeface="Calibri" pitchFamily="34" charset="0"/>
                <a:ea typeface="Calibri" pitchFamily="34" charset="-122"/>
                <a:cs typeface="Calibri" pitchFamily="34" charset="-120"/>
              </a:rPr>
              <a:t>dashed</a:t>
            </a:r>
            <a:r>
              <a:rPr lang="en-US" sz="1200" dirty="0">
                <a:solidFill>
                  <a:srgbClr val="9AA4B2"/>
                </a:solidFill>
                <a:latin typeface="Calibri" pitchFamily="34" charset="0"/>
                <a:ea typeface="Calibri" pitchFamily="34" charset="-122"/>
                <a:cs typeface="Calibri" pitchFamily="34" charset="-120"/>
              </a:rPr>
              <a:t>: the aliased reading of a 1.2 kHz sensor</a:t>
            </a:r>
            <a:endParaRPr lang="en-US" sz="1200" dirty="0"/>
          </a:p>
        </p:txBody>
      </p:sp>
      <p:sp>
        <p:nvSpPr>
          <p:cNvPr id="17" name="!!footer"/>
          <p:cNvSpPr txBox="1"/>
          <p:nvPr/>
        </p:nvSpPr>
        <p:spPr>
          <a:xfrm>
            <a:off x="812800" y="6248400"/>
            <a:ext cx="5715000" cy="215900"/>
          </a:xfrm>
          <a:prstGeom prst="rect">
            <a:avLst/>
          </a:prstGeom>
          <a:noFill/>
          <a:ln/>
        </p:spPr>
        <p:txBody>
          <a:bodyPr wrap="square" lIns="0" tIns="0" rIns="0" bIns="0" rtlCol="0" anchor="ctr"/>
          <a:lstStyle/>
          <a:p>
            <a:pPr marL="0" indent="0">
              <a:buNone/>
            </a:pPr>
            <a:r>
              <a:rPr lang="en-US" sz="1200" dirty="0">
                <a:solidFill>
                  <a:srgbClr val="5B6270"/>
                </a:solidFill>
                <a:latin typeface="Calibri" pitchFamily="34" charset="0"/>
                <a:ea typeface="Calibri" pitchFamily="34" charset="-122"/>
                <a:cs typeface="Calibri" pitchFamily="34" charset="-120"/>
              </a:rPr>
              <a:t>WaveKitchen · Cooking with Signals</a:t>
            </a:r>
            <a:endParaRPr lang="en-US" sz="1200" dirty="0"/>
          </a:p>
        </p:txBody>
      </p:sp>
      <p:sp>
        <p:nvSpPr>
          <p:cNvPr id="18" name="!!page"/>
          <p:cNvSpPr txBox="1"/>
          <p:nvPr/>
        </p:nvSpPr>
        <p:spPr>
          <a:xfrm>
            <a:off x="9474200" y="6248400"/>
            <a:ext cx="1905000" cy="215900"/>
          </a:xfrm>
          <a:prstGeom prst="rect">
            <a:avLst/>
          </a:prstGeom>
          <a:noFill/>
          <a:ln/>
        </p:spPr>
        <p:txBody>
          <a:bodyPr wrap="square" lIns="0" tIns="0" rIns="0" bIns="0" rtlCol="0" anchor="ctr"/>
          <a:lstStyle/>
          <a:p>
            <a:pPr marL="0" indent="0" algn="r">
              <a:buNone/>
            </a:pPr>
            <a:r>
              <a:rPr lang="en-US" sz="1200" dirty="0">
                <a:solidFill>
                  <a:srgbClr val="5B6270"/>
                </a:solidFill>
                <a:latin typeface="Calibri" pitchFamily="34" charset="0"/>
                <a:ea typeface="Calibri" pitchFamily="34" charset="-122"/>
                <a:cs typeface="Calibri" pitchFamily="34" charset="-120"/>
              </a:rPr>
              <a:t>7 / 10</a:t>
            </a:r>
            <a:endParaRPr lang="en-US" sz="1200" dirty="0"/>
          </a:p>
        </p:txBody>
      </p:sp>
      <p:sp>
        <p:nvSpPr>
          <p:cNvPr id="19" name="!!track"/>
          <p:cNvSpPr/>
          <p:nvPr/>
        </p:nvSpPr>
        <p:spPr>
          <a:xfrm>
            <a:off x="0" y="6807200"/>
            <a:ext cx="12192000" cy="50800"/>
          </a:xfrm>
          <a:prstGeom prst="rect">
            <a:avLst/>
          </a:prstGeom>
          <a:solidFill>
            <a:srgbClr val="E2DACB"/>
          </a:solidFill>
          <a:ln/>
        </p:spPr>
      </p:sp>
      <p:sp>
        <p:nvSpPr>
          <p:cNvPr id="20" name="!!progress"/>
          <p:cNvSpPr/>
          <p:nvPr/>
        </p:nvSpPr>
        <p:spPr>
          <a:xfrm>
            <a:off x="0" y="6807200"/>
            <a:ext cx="8534400" cy="50800"/>
          </a:xfrm>
          <a:prstGeom prst="rect">
            <a:avLst/>
          </a:prstGeom>
          <a:solidFill>
            <a:srgbClr val="E8792B"/>
          </a:solidFill>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p:cTn id="8" dur="600" fill="hold"/>
                                        <p:tgtEl>
                                          <p:spTgt spid="4"/>
                                        </p:tgtEl>
                                        <p:attrNameLst>
                                          <p:attrName>ppt_x</p:attrName>
                                        </p:attrNameLst>
                                      </p:cBhvr>
                                      <p:tavLst>
                                        <p:tav tm="0">
                                          <p:val>
                                            <p:strVal val="#ppt_x"/>
                                          </p:val>
                                        </p:tav>
                                        <p:tav tm="100000">
                                          <p:val>
                                            <p:strVal val="#ppt_x"/>
                                          </p:val>
                                        </p:tav>
                                      </p:tavLst>
                                    </p:anim>
                                    <p:anim calcmode="lin" valueType="num">
                                      <p:cBhvr>
                                        <p:cTn id="9" dur="540" decel="100000" fill="hold"/>
                                        <p:tgtEl>
                                          <p:spTgt spid="4"/>
                                        </p:tgtEl>
                                        <p:attrNameLst>
                                          <p:attrName>ppt_y</p:attrName>
                                        </p:attrNameLst>
                                      </p:cBhvr>
                                      <p:tavLst>
                                        <p:tav tm="0">
                                          <p:val>
                                            <p:strVal val="#ppt_y+1"/>
                                          </p:val>
                                        </p:tav>
                                        <p:tav tm="100000">
                                          <p:val>
                                            <p:strVal val="#ppt_y-.03"/>
                                          </p:val>
                                        </p:tav>
                                      </p:tavLst>
                                    </p:anim>
                                    <p:anim calcmode="lin" valueType="num">
                                      <p:cBhvr>
                                        <p:cTn id="10" dur="60" accel="100000" fill="hold">
                                          <p:stCondLst>
                                            <p:cond delay="540"/>
                                          </p:stCondLst>
                                        </p:cTn>
                                        <p:tgtEl>
                                          <p:spTgt spid="4"/>
                                        </p:tgtEl>
                                        <p:attrNameLst>
                                          <p:attrName>ppt_y</p:attrName>
                                        </p:attrNameLst>
                                      </p:cBhvr>
                                      <p:tavLst>
                                        <p:tav tm="0">
                                          <p:val>
                                            <p:strVal val="#ppt_y-.03"/>
                                          </p:val>
                                        </p:tav>
                                        <p:tav tm="100000">
                                          <p:val>
                                            <p:strVal val="#ppt_y"/>
                                          </p:val>
                                        </p:tav>
                                      </p:tavLst>
                                    </p:anim>
                                  </p:childTnLst>
                                </p:cTn>
                              </p:par>
                            </p:childTnLst>
                          </p:cTn>
                        </p:par>
                        <p:par>
                          <p:cTn id="11" fill="hold">
                            <p:stCondLst>
                              <p:cond delay="600"/>
                            </p:stCondLst>
                            <p:childTnLst>
                              <p:par>
                                <p:cTn id="12" presetID="10" presetClass="entr" presetSubtype="0" fill="hold"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childTnLst>
                          </p:cTn>
                        </p:par>
                        <p:par>
                          <p:cTn id="18" fill="hold">
                            <p:stCondLst>
                              <p:cond delay="1000"/>
                            </p:stCondLst>
                            <p:childTnLst>
                              <p:par>
                                <p:cTn id="19" presetID="23" presetClass="entr" presetSubtype="16" fill="hold" nodeType="after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p:cTn id="21" dur="600" fill="hold"/>
                                        <p:tgtEl>
                                          <p:spTgt spid="10"/>
                                        </p:tgtEl>
                                        <p:attrNameLst>
                                          <p:attrName>ppt_w</p:attrName>
                                        </p:attrNameLst>
                                      </p:cBhvr>
                                      <p:tavLst>
                                        <p:tav tm="0">
                                          <p:val>
                                            <p:fltVal val="0"/>
                                          </p:val>
                                        </p:tav>
                                        <p:tav tm="100000">
                                          <p:val>
                                            <p:strVal val="#ppt_w"/>
                                          </p:val>
                                        </p:tav>
                                      </p:tavLst>
                                    </p:anim>
                                    <p:anim calcmode="lin" valueType="num">
                                      <p:cBhvr>
                                        <p:cTn id="22" dur="600" fill="hold"/>
                                        <p:tgtEl>
                                          <p:spTgt spid="10"/>
                                        </p:tgtEl>
                                        <p:attrNameLst>
                                          <p:attrName>ppt_h</p:attrName>
                                        </p:attrNameLst>
                                      </p:cBhvr>
                                      <p:tavLst>
                                        <p:tav tm="0">
                                          <p:val>
                                            <p:fltVal val="0"/>
                                          </p:val>
                                        </p:tav>
                                        <p:tav tm="100000">
                                          <p:val>
                                            <p:strVal val="#ppt_h"/>
                                          </p:val>
                                        </p:tav>
                                      </p:tavLst>
                                    </p:anim>
                                  </p:childTnLst>
                                </p:cTn>
                              </p:par>
                            </p:childTnLst>
                          </p:cTn>
                        </p:par>
                        <p:par>
                          <p:cTn id="23" fill="hold">
                            <p:stCondLst>
                              <p:cond delay="1600"/>
                            </p:stCondLst>
                            <p:childTnLst>
                              <p:par>
                                <p:cTn id="24" presetID="23" presetClass="entr" presetSubtype="16" fill="hold" nodeType="after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p:cTn id="26" dur="400" fill="hold"/>
                                        <p:tgtEl>
                                          <p:spTgt spid="11"/>
                                        </p:tgtEl>
                                        <p:attrNameLst>
                                          <p:attrName>ppt_w</p:attrName>
                                        </p:attrNameLst>
                                      </p:cBhvr>
                                      <p:tavLst>
                                        <p:tav tm="0">
                                          <p:val>
                                            <p:fltVal val="0"/>
                                          </p:val>
                                        </p:tav>
                                        <p:tav tm="100000">
                                          <p:val>
                                            <p:strVal val="#ppt_w"/>
                                          </p:val>
                                        </p:tav>
                                      </p:tavLst>
                                    </p:anim>
                                    <p:anim calcmode="lin" valueType="num">
                                      <p:cBhvr>
                                        <p:cTn id="27" dur="400" fill="hold"/>
                                        <p:tgtEl>
                                          <p:spTgt spid="11"/>
                                        </p:tgtEl>
                                        <p:attrNameLst>
                                          <p:attrName>ppt_h</p:attrName>
                                        </p:attrNameLst>
                                      </p:cBhvr>
                                      <p:tavLst>
                                        <p:tav tm="0">
                                          <p:val>
                                            <p:fltVal val="0"/>
                                          </p:val>
                                        </p:tav>
                                        <p:tav tm="100000">
                                          <p:val>
                                            <p:strVal val="#ppt_h"/>
                                          </p:val>
                                        </p:tav>
                                      </p:tavLst>
                                    </p:anim>
                                  </p:childTnLst>
                                </p:cTn>
                              </p:par>
                              <p:par>
                                <p:cTn id="28" presetID="23" presetClass="entr" presetSubtype="16"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p:cTn id="30" dur="400" fill="hold"/>
                                        <p:tgtEl>
                                          <p:spTgt spid="12"/>
                                        </p:tgtEl>
                                        <p:attrNameLst>
                                          <p:attrName>ppt_w</p:attrName>
                                        </p:attrNameLst>
                                      </p:cBhvr>
                                      <p:tavLst>
                                        <p:tav tm="0">
                                          <p:val>
                                            <p:fltVal val="0"/>
                                          </p:val>
                                        </p:tav>
                                        <p:tav tm="100000">
                                          <p:val>
                                            <p:strVal val="#ppt_w"/>
                                          </p:val>
                                        </p:tav>
                                      </p:tavLst>
                                    </p:anim>
                                    <p:anim calcmode="lin" valueType="num">
                                      <p:cBhvr>
                                        <p:cTn id="31" dur="400" fill="hold"/>
                                        <p:tgtEl>
                                          <p:spTgt spid="12"/>
                                        </p:tgtEl>
                                        <p:attrNameLst>
                                          <p:attrName>ppt_h</p:attrName>
                                        </p:attrNameLst>
                                      </p:cBhvr>
                                      <p:tavLst>
                                        <p:tav tm="0">
                                          <p:val>
                                            <p:fltVal val="0"/>
                                          </p:val>
                                        </p:tav>
                                        <p:tav tm="100000">
                                          <p:val>
                                            <p:strVal val="#ppt_h"/>
                                          </p:val>
                                        </p:tav>
                                      </p:tavLst>
                                    </p:anim>
                                  </p:childTnLst>
                                </p:cTn>
                              </p:par>
                            </p:childTnLst>
                          </p:cTn>
                        </p:par>
                        <p:par>
                          <p:cTn id="32" fill="hold">
                            <p:stCondLst>
                              <p:cond delay="2000"/>
                            </p:stCondLst>
                            <p:childTnLst>
                              <p:par>
                                <p:cTn id="33" presetID="23" presetClass="entr" presetSubtype="16" fill="hold" nodeType="after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p:cTn id="35" dur="400" fill="hold"/>
                                        <p:tgtEl>
                                          <p:spTgt spid="13"/>
                                        </p:tgtEl>
                                        <p:attrNameLst>
                                          <p:attrName>ppt_w</p:attrName>
                                        </p:attrNameLst>
                                      </p:cBhvr>
                                      <p:tavLst>
                                        <p:tav tm="0">
                                          <p:val>
                                            <p:fltVal val="0"/>
                                          </p:val>
                                        </p:tav>
                                        <p:tav tm="100000">
                                          <p:val>
                                            <p:strVal val="#ppt_w"/>
                                          </p:val>
                                        </p:tav>
                                      </p:tavLst>
                                    </p:anim>
                                    <p:anim calcmode="lin" valueType="num">
                                      <p:cBhvr>
                                        <p:cTn id="36" dur="400" fill="hold"/>
                                        <p:tgtEl>
                                          <p:spTgt spid="13"/>
                                        </p:tgtEl>
                                        <p:attrNameLst>
                                          <p:attrName>ppt_h</p:attrName>
                                        </p:attrNameLst>
                                      </p:cBhvr>
                                      <p:tavLst>
                                        <p:tav tm="0">
                                          <p:val>
                                            <p:fltVal val="0"/>
                                          </p:val>
                                        </p:tav>
                                        <p:tav tm="100000">
                                          <p:val>
                                            <p:strVal val="#ppt_h"/>
                                          </p:val>
                                        </p:tav>
                                      </p:tavLst>
                                    </p:anim>
                                  </p:childTnLst>
                                </p:cTn>
                              </p:par>
                              <p:par>
                                <p:cTn id="37" presetID="23" presetClass="entr" presetSubtype="16"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400" fill="hold"/>
                                        <p:tgtEl>
                                          <p:spTgt spid="14"/>
                                        </p:tgtEl>
                                        <p:attrNameLst>
                                          <p:attrName>ppt_w</p:attrName>
                                        </p:attrNameLst>
                                      </p:cBhvr>
                                      <p:tavLst>
                                        <p:tav tm="0">
                                          <p:val>
                                            <p:fltVal val="0"/>
                                          </p:val>
                                        </p:tav>
                                        <p:tav tm="100000">
                                          <p:val>
                                            <p:strVal val="#ppt_w"/>
                                          </p:val>
                                        </p:tav>
                                      </p:tavLst>
                                    </p:anim>
                                    <p:anim calcmode="lin" valueType="num">
                                      <p:cBhvr>
                                        <p:cTn id="40" dur="400" fill="hold"/>
                                        <p:tgtEl>
                                          <p:spTgt spid="14"/>
                                        </p:tgtEl>
                                        <p:attrNameLst>
                                          <p:attrName>ppt_h</p:attrName>
                                        </p:attrNameLst>
                                      </p:cBhvr>
                                      <p:tavLst>
                                        <p:tav tm="0">
                                          <p:val>
                                            <p:fltVal val="0"/>
                                          </p:val>
                                        </p:tav>
                                        <p:tav tm="100000">
                                          <p:val>
                                            <p:strVal val="#ppt_h"/>
                                          </p:val>
                                        </p:tav>
                                      </p:tavLst>
                                    </p:anim>
                                  </p:childTnLst>
                                </p:cTn>
                              </p:par>
                            </p:childTnLst>
                          </p:cTn>
                        </p:par>
                        <p:par>
                          <p:cTn id="41" fill="hold">
                            <p:stCondLst>
                              <p:cond delay="2400"/>
                            </p:stCondLst>
                            <p:childTnLst>
                              <p:par>
                                <p:cTn id="42" presetID="22" presetClass="entr" presetSubtype="1" fill="hold" nodeType="after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up)">
                                      <p:cBhvr>
                                        <p:cTn id="44" dur="500"/>
                                        <p:tgtEl>
                                          <p:spTgt spid="15"/>
                                        </p:tgtEl>
                                      </p:cBhvr>
                                    </p:animEffect>
                                  </p:childTnLst>
                                </p:cTn>
                              </p:par>
                            </p:childTnLst>
                          </p:cTn>
                        </p:par>
                        <p:par>
                          <p:cTn id="45" fill="hold">
                            <p:stCondLst>
                              <p:cond delay="2900"/>
                            </p:stCondLst>
                            <p:childTnLst>
                              <p:par>
                                <p:cTn id="46" presetID="10" presetClass="entr" presetSubtype="0" fill="hold" grpId="0" nodeType="after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childTnLst>
                          </p:cTn>
                        </p:par>
                        <p:par>
                          <p:cTn id="49" fill="hold">
                            <p:stCondLst>
                              <p:cond delay="3400"/>
                            </p:stCondLst>
                            <p:childTnLst>
                              <p:par>
                                <p:cTn id="50" presetID="22" presetClass="entr" presetSubtype="8" fill="hold" nodeType="after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wipe(left)">
                                      <p:cBhvr>
                                        <p:cTn id="52" dur="500"/>
                                        <p:tgtEl>
                                          <p:spTgt spid="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7"/>
                                        </p:tgtEl>
                                        <p:attrNameLst>
                                          <p:attrName>style.visibility</p:attrName>
                                        </p:attrNameLst>
                                      </p:cBhvr>
                                      <p:to>
                                        <p:strVal val="visible"/>
                                      </p:to>
                                    </p:set>
                                    <p:animEffect transition="in" filter="fade">
                                      <p:cBhvr>
                                        <p:cTn id="55" dur="500"/>
                                        <p:tgtEl>
                                          <p:spTgt spid="7"/>
                                        </p:tgtEl>
                                      </p:cBhvr>
                                    </p:animEffect>
                                  </p:childTnLst>
                                </p:cTn>
                              </p:par>
                            </p:childTnLst>
                          </p:cTn>
                        </p:par>
                        <p:par>
                          <p:cTn id="56" fill="hold">
                            <p:stCondLst>
                              <p:cond delay="3900"/>
                            </p:stCondLst>
                            <p:childTnLst>
                              <p:par>
                                <p:cTn id="57" presetID="2" presetClass="entr" presetSubtype="8" fill="hold" nodeType="afterEffect">
                                  <p:stCondLst>
                                    <p:cond delay="0"/>
                                  </p:stCondLst>
                                  <p:childTnLst>
                                    <p:set>
                                      <p:cBhvr>
                                        <p:cTn id="58" dur="1" fill="hold">
                                          <p:stCondLst>
                                            <p:cond delay="0"/>
                                          </p:stCondLst>
                                        </p:cTn>
                                        <p:tgtEl>
                                          <p:spTgt spid="6"/>
                                        </p:tgtEl>
                                        <p:attrNameLst>
                                          <p:attrName>style.visibility</p:attrName>
                                        </p:attrNameLst>
                                      </p:cBhvr>
                                      <p:to>
                                        <p:strVal val="visible"/>
                                      </p:to>
                                    </p:set>
                                    <p:anim calcmode="lin" valueType="num">
                                      <p:cBhvr additive="base">
                                        <p:cTn id="59" dur="500" fill="hold"/>
                                        <p:tgtEl>
                                          <p:spTgt spid="6"/>
                                        </p:tgtEl>
                                        <p:attrNameLst>
                                          <p:attrName>ppt_x</p:attrName>
                                        </p:attrNameLst>
                                      </p:cBhvr>
                                      <p:tavLst>
                                        <p:tav tm="0">
                                          <p:val>
                                            <p:strVal val="0-#ppt_w/2"/>
                                          </p:val>
                                        </p:tav>
                                        <p:tav tm="100000">
                                          <p:val>
                                            <p:strVal val="#ppt_x"/>
                                          </p:val>
                                        </p:tav>
                                      </p:tavLst>
                                    </p:anim>
                                    <p:anim calcmode="lin" valueType="num">
                                      <p:cBhvr additive="base">
                                        <p:cTn id="60" dur="500" fill="hold"/>
                                        <p:tgtEl>
                                          <p:spTgt spid="6"/>
                                        </p:tgtEl>
                                        <p:attrNameLst>
                                          <p:attrName>ppt_y</p:attrName>
                                        </p:attrNameLst>
                                      </p:cBhvr>
                                      <p:tavLst>
                                        <p:tav tm="0">
                                          <p:val>
                                            <p:strVal val="#ppt_y"/>
                                          </p:val>
                                        </p:tav>
                                        <p:tav tm="100000">
                                          <p:val>
                                            <p:strVal val="#ppt_y"/>
                                          </p:val>
                                        </p:tav>
                                      </p:tavLst>
                                    </p:anim>
                                  </p:childTnLst>
                                </p:cTn>
                              </p:par>
                            </p:childTnLst>
                          </p:cTn>
                        </p:par>
                        <p:par>
                          <p:cTn id="61" fill="hold">
                            <p:stCondLst>
                              <p:cond delay="4400"/>
                            </p:stCondLst>
                            <p:childTnLst>
                              <p:par>
                                <p:cTn id="62" presetID="63" presetClass="path" presetSubtype="0" fill="hold" nodeType="afterEffect">
                                  <p:stCondLst>
                                    <p:cond delay="0"/>
                                  </p:stCondLst>
                                  <p:childTnLst>
                                    <p:animMotion origin="layout" path="M 0 0 L 0.3 0 E" pathEditMode="relative" ptsTypes="">
                                      <p:cBhvr>
                                        <p:cTn id="63" dur="4500" fill="hold"/>
                                        <p:tgtEl>
                                          <p:spTgt spid="6"/>
                                        </p:tgtEl>
                                        <p:attrNameLst>
                                          <p:attrName>ppt_x</p:attrName>
                                          <p:attrName>ppt_y</p:attrName>
                                        </p:attrNameLst>
                                      </p:cBhvr>
                                    </p:animMotion>
                                  </p:childTnLst>
                                </p:cTn>
                              </p:par>
                              <p:par>
                                <p:cTn id="64" presetID="32" presetClass="emph" presetSubtype="0" repeatCount="16000" fill="hold" nodeType="withEffect">
                                  <p:stCondLst>
                                    <p:cond delay="0"/>
                                  </p:stCondLst>
                                  <p:childTnLst>
                                    <p:animRot by="120000">
                                      <p:cBhvr>
                                        <p:cTn id="65" dur="28" fill="hold">
                                          <p:stCondLst>
                                            <p:cond delay="0"/>
                                          </p:stCondLst>
                                        </p:cTn>
                                        <p:tgtEl>
                                          <p:spTgt spid="6"/>
                                        </p:tgtEl>
                                        <p:attrNameLst>
                                          <p:attrName>r</p:attrName>
                                        </p:attrNameLst>
                                      </p:cBhvr>
                                    </p:animRot>
                                    <p:animRot by="-240000">
                                      <p:cBhvr>
                                        <p:cTn id="66" dur="56" fill="hold">
                                          <p:stCondLst>
                                            <p:cond delay="56"/>
                                          </p:stCondLst>
                                        </p:cTn>
                                        <p:tgtEl>
                                          <p:spTgt spid="6"/>
                                        </p:tgtEl>
                                        <p:attrNameLst>
                                          <p:attrName>r</p:attrName>
                                        </p:attrNameLst>
                                      </p:cBhvr>
                                    </p:animRot>
                                    <p:animRot by="240000">
                                      <p:cBhvr>
                                        <p:cTn id="67" dur="56" fill="hold">
                                          <p:stCondLst>
                                            <p:cond delay="112"/>
                                          </p:stCondLst>
                                        </p:cTn>
                                        <p:tgtEl>
                                          <p:spTgt spid="6"/>
                                        </p:tgtEl>
                                        <p:attrNameLst>
                                          <p:attrName>r</p:attrName>
                                        </p:attrNameLst>
                                      </p:cBhvr>
                                    </p:animRot>
                                    <p:animRot by="-240000">
                                      <p:cBhvr>
                                        <p:cTn id="68" dur="56" fill="hold">
                                          <p:stCondLst>
                                            <p:cond delay="168"/>
                                          </p:stCondLst>
                                        </p:cTn>
                                        <p:tgtEl>
                                          <p:spTgt spid="6"/>
                                        </p:tgtEl>
                                        <p:attrNameLst>
                                          <p:attrName>r</p:attrName>
                                        </p:attrNameLst>
                                      </p:cBhvr>
                                    </p:animRot>
                                    <p:animRot by="120000">
                                      <p:cBhvr>
                                        <p:cTn id="69" dur="56" fill="hold">
                                          <p:stCondLst>
                                            <p:cond delay="224"/>
                                          </p:stCondLst>
                                        </p:cTn>
                                        <p:tgtEl>
                                          <p:spTgt spid="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9" grpId="0" animBg="1"/>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eyebrow"/>
          <p:cNvSpPr txBox="1"/>
          <p:nvPr/>
        </p:nvSpPr>
        <p:spPr>
          <a:xfrm>
            <a:off x="812800" y="774700"/>
            <a:ext cx="8890000" cy="254000"/>
          </a:xfrm>
          <a:prstGeom prst="rect">
            <a:avLst/>
          </a:prstGeom>
          <a:noFill/>
          <a:ln/>
        </p:spPr>
        <p:txBody>
          <a:bodyPr wrap="square" lIns="0" tIns="0" rIns="0" bIns="0" rtlCol="0" anchor="ctr"/>
          <a:lstStyle/>
          <a:p>
            <a:pPr marL="0" indent="0">
              <a:buNone/>
            </a:pPr>
            <a:r>
              <a:rPr lang="en-US" sz="1200" b="1" kern="0" spc="300" dirty="0">
                <a:solidFill>
                  <a:srgbClr val="A84A14"/>
                </a:solidFill>
                <a:latin typeface="Calibri" pitchFamily="34" charset="0"/>
                <a:ea typeface="Calibri" pitchFamily="34" charset="-122"/>
                <a:cs typeface="Calibri" pitchFamily="34" charset="-120"/>
              </a:rPr>
              <a:t>ARCHITECTURE</a:t>
            </a:r>
            <a:endParaRPr lang="en-US" sz="1200" dirty="0"/>
          </a:p>
        </p:txBody>
      </p:sp>
      <p:sp>
        <p:nvSpPr>
          <p:cNvPr id="3" name="!!title"/>
          <p:cNvSpPr txBox="1"/>
          <p:nvPr/>
        </p:nvSpPr>
        <p:spPr>
          <a:xfrm>
            <a:off x="812800" y="1054100"/>
            <a:ext cx="10566400" cy="558800"/>
          </a:xfrm>
          <a:prstGeom prst="rect">
            <a:avLst/>
          </a:prstGeom>
          <a:noFill/>
          <a:ln/>
        </p:spPr>
        <p:txBody>
          <a:bodyPr wrap="square" lIns="0" tIns="0" rIns="0" bIns="0" rtlCol="0" anchor="ctr"/>
          <a:lstStyle/>
          <a:p>
            <a:pPr marL="0" indent="0">
              <a:buNone/>
            </a:pPr>
            <a:r>
              <a:rPr lang="en-US" sz="3200" b="1" dirty="0">
                <a:solidFill>
                  <a:srgbClr val="14171C"/>
                </a:solidFill>
                <a:latin typeface="Arial" pitchFamily="34" charset="0"/>
                <a:ea typeface="Arial" pitchFamily="34" charset="-122"/>
                <a:cs typeface="Arial" pitchFamily="34" charset="-120"/>
              </a:rPr>
              <a:t>The browser plays, the server judges</a:t>
            </a:r>
            <a:endParaRPr lang="en-US" sz="3200" dirty="0"/>
          </a:p>
        </p:txBody>
      </p:sp>
      <p:sp>
        <p:nvSpPr>
          <p:cNvPr id="4" name="s8-box1"/>
          <p:cNvSpPr txBox="1"/>
          <p:nvPr/>
        </p:nvSpPr>
        <p:spPr>
          <a:xfrm>
            <a:off x="812800" y="1905000"/>
            <a:ext cx="2857500" cy="1905000"/>
          </a:xfrm>
          <a:prstGeom prst="roundRect">
            <a:avLst>
              <a:gd name="adj" fmla="val 5760"/>
            </a:avLst>
          </a:prstGeom>
          <a:solidFill>
            <a:srgbClr val="FFFCF6"/>
          </a:solidFill>
          <a:ln w="9525">
            <a:solidFill>
              <a:srgbClr val="DDD5C7"/>
            </a:solidFill>
          </a:ln>
        </p:spPr>
        <p:txBody>
          <a:bodyPr wrap="square" lIns="203200" tIns="203200" rIns="203200" bIns="203200" rtlCol="0" anchor="t"/>
          <a:lstStyle/>
          <a:p>
            <a:pPr marL="0" indent="0">
              <a:spcAft>
                <a:spcPts val="400"/>
              </a:spcAft>
              <a:buNone/>
            </a:pPr>
            <a:r>
              <a:rPr lang="en-US" sz="2000" b="1" dirty="0">
                <a:solidFill>
                  <a:srgbClr val="14171C"/>
                </a:solidFill>
                <a:latin typeface="Arial" pitchFamily="34" charset="0"/>
                <a:ea typeface="Arial" pitchFamily="34" charset="-122"/>
                <a:cs typeface="Arial" pitchFamily="34" charset="-120"/>
              </a:rPr>
              <a:t>Browser</a:t>
            </a:r>
            <a:endParaRPr lang="en-US" sz="2000" dirty="0"/>
          </a:p>
          <a:p>
            <a:pPr marL="0" indent="0">
              <a:spcAft>
                <a:spcPts val="600"/>
              </a:spcAft>
              <a:buNone/>
            </a:pPr>
            <a:r>
              <a:rPr lang="en-US" sz="1200" dirty="0">
                <a:solidFill>
                  <a:srgbClr val="5B6270"/>
                </a:solidFill>
                <a:latin typeface="Calibri" pitchFamily="34" charset="0"/>
                <a:ea typeface="Calibri" pitchFamily="34" charset="-122"/>
                <a:cs typeface="Calibri" pitchFamily="34" charset="-120"/>
              </a:rPr>
              <a:t>Vercel · React 19 · TanStack Start</a:t>
            </a:r>
            <a:endParaRPr lang="en-US" sz="2000" dirty="0"/>
          </a:p>
          <a:p>
            <a:pPr marL="177800" indent="-177800">
              <a:spcAft>
                <a:spcPts val="400"/>
              </a:spcAft>
              <a:buSzPct val="100000"/>
              <a:buChar char="•"/>
            </a:pPr>
            <a:r>
              <a:rPr lang="en-US" sz="1300" dirty="0">
                <a:solidFill>
                  <a:srgbClr val="3E4451"/>
                </a:solidFill>
                <a:latin typeface="Calibri" pitchFamily="34" charset="0"/>
                <a:ea typeface="Calibri" pitchFamily="34" charset="-122"/>
                <a:cs typeface="Calibri" pitchFamily="34" charset="-120"/>
              </a:rPr>
              <a:t>Every station’s DSP, instantly</a:t>
            </a:r>
            <a:endParaRPr lang="en-US" sz="2000" dirty="0"/>
          </a:p>
          <a:p>
            <a:pPr marL="177800" indent="-177800">
              <a:spcAft>
                <a:spcPts val="400"/>
              </a:spcAft>
              <a:buSzPct val="100000"/>
              <a:buChar char="•"/>
            </a:pPr>
            <a:r>
              <a:rPr lang="en-US" sz="1300" dirty="0">
                <a:solidFill>
                  <a:srgbClr val="3E4451"/>
                </a:solidFill>
                <a:latin typeface="Calibri" pitchFamily="34" charset="0"/>
                <a:ea typeface="Calibri" pitchFamily="34" charset="-122"/>
                <a:cs typeface="Calibri" pitchFamily="34" charset="-120"/>
              </a:rPr>
              <a:t>Graphs and Web Audio</a:t>
            </a:r>
            <a:endParaRPr lang="en-US" sz="2000" dirty="0"/>
          </a:p>
          <a:p>
            <a:pPr marL="177800" indent="-177800">
              <a:spcAft>
                <a:spcPts val="400"/>
              </a:spcAft>
              <a:buSzPct val="100000"/>
              <a:buChar char="•"/>
            </a:pPr>
            <a:r>
              <a:rPr lang="en-US" sz="1300" dirty="0">
                <a:solidFill>
                  <a:srgbClr val="3E4451"/>
                </a:solidFill>
                <a:latin typeface="Calibri" pitchFamily="34" charset="0"/>
                <a:ea typeface="Calibri" pitchFamily="34" charset="-122"/>
                <a:cs typeface="Calibri" pitchFamily="34" charset="-120"/>
              </a:rPr>
              <a:t>Run state in localStorage</a:t>
            </a:r>
            <a:endParaRPr lang="en-US" sz="2000" dirty="0"/>
          </a:p>
        </p:txBody>
      </p:sp>
      <p:sp>
        <p:nvSpPr>
          <p:cNvPr id="5" name="s8-arrow1"/>
          <p:cNvSpPr/>
          <p:nvPr/>
        </p:nvSpPr>
        <p:spPr>
          <a:xfrm>
            <a:off x="3911600" y="2730500"/>
            <a:ext cx="508000" cy="254000"/>
          </a:xfrm>
          <a:prstGeom prst="rightArrow">
            <a:avLst/>
          </a:prstGeom>
          <a:solidFill>
            <a:srgbClr val="E8792B"/>
          </a:solidFill>
          <a:ln/>
        </p:spPr>
      </p:sp>
      <p:sp>
        <p:nvSpPr>
          <p:cNvPr id="6" name="s8-alabel1"/>
          <p:cNvSpPr txBox="1"/>
          <p:nvPr/>
        </p:nvSpPr>
        <p:spPr>
          <a:xfrm>
            <a:off x="3695700" y="3060700"/>
            <a:ext cx="952500" cy="444500"/>
          </a:xfrm>
          <a:prstGeom prst="rect">
            <a:avLst/>
          </a:prstGeom>
          <a:noFill/>
          <a:ln/>
        </p:spPr>
        <p:txBody>
          <a:bodyPr wrap="square" lIns="0" tIns="0" rIns="0" bIns="0" rtlCol="0" anchor="ctr"/>
          <a:lstStyle/>
          <a:p>
            <a:pPr marL="0" indent="0" algn="ctr">
              <a:buNone/>
            </a:pPr>
            <a:r>
              <a:rPr lang="en-US" sz="1200" dirty="0">
                <a:solidFill>
                  <a:srgbClr val="A84A14"/>
                </a:solidFill>
                <a:latin typeface="Calibri" pitchFamily="34" charset="0"/>
                <a:ea typeface="Calibri" pitchFamily="34" charset="-122"/>
                <a:cs typeface="Calibri" pitchFamily="34" charset="-120"/>
              </a:rPr>
              <a:t>settings only</a:t>
            </a:r>
            <a:endParaRPr lang="en-US" sz="1200" dirty="0"/>
          </a:p>
        </p:txBody>
      </p:sp>
      <p:pic>
        <p:nvPicPr>
          <p:cNvPr id="7" name="s8-packet1" descr="request packet"/>
          <p:cNvPicPr>
            <a:picLocks noChangeAspect="1"/>
          </p:cNvPicPr>
          <p:nvPr/>
        </p:nvPicPr>
        <p:blipFill>
          <a:blip r:embed="rId4"/>
          <a:stretch>
            <a:fillRect/>
          </a:stretch>
        </p:blipFill>
        <p:spPr>
          <a:xfrm>
            <a:off x="3543300" y="2743200"/>
            <a:ext cx="228600" cy="228600"/>
          </a:xfrm>
          <a:prstGeom prst="rect">
            <a:avLst/>
          </a:prstGeom>
        </p:spPr>
      </p:pic>
      <p:sp>
        <p:nvSpPr>
          <p:cNvPr id="8" name="s8-box2"/>
          <p:cNvSpPr txBox="1"/>
          <p:nvPr/>
        </p:nvSpPr>
        <p:spPr>
          <a:xfrm>
            <a:off x="4667250" y="1905000"/>
            <a:ext cx="2857500" cy="1905000"/>
          </a:xfrm>
          <a:prstGeom prst="roundRect">
            <a:avLst>
              <a:gd name="adj" fmla="val 5760"/>
            </a:avLst>
          </a:prstGeom>
          <a:solidFill>
            <a:srgbClr val="FFFCF6"/>
          </a:solidFill>
          <a:ln w="9525">
            <a:solidFill>
              <a:srgbClr val="DDD5C7"/>
            </a:solidFill>
          </a:ln>
        </p:spPr>
        <p:txBody>
          <a:bodyPr wrap="square" lIns="203200" tIns="203200" rIns="203200" bIns="203200" rtlCol="0" anchor="t"/>
          <a:lstStyle/>
          <a:p>
            <a:pPr marL="0" indent="0">
              <a:spcAft>
                <a:spcPts val="400"/>
              </a:spcAft>
              <a:buNone/>
            </a:pPr>
            <a:r>
              <a:rPr lang="en-US" sz="2000" b="1" dirty="0">
                <a:solidFill>
                  <a:srgbClr val="14171C"/>
                </a:solidFill>
                <a:latin typeface="Arial" pitchFamily="34" charset="0"/>
                <a:ea typeface="Arial" pitchFamily="34" charset="-122"/>
                <a:cs typeface="Arial" pitchFamily="34" charset="-120"/>
              </a:rPr>
              <a:t>API</a:t>
            </a:r>
            <a:endParaRPr lang="en-US" sz="2000" dirty="0"/>
          </a:p>
          <a:p>
            <a:pPr marL="0" indent="0">
              <a:spcAft>
                <a:spcPts val="600"/>
              </a:spcAft>
              <a:buNone/>
            </a:pPr>
            <a:r>
              <a:rPr lang="en-US" sz="1200" dirty="0">
                <a:solidFill>
                  <a:srgbClr val="5B6270"/>
                </a:solidFill>
                <a:latin typeface="Calibri" pitchFamily="34" charset="0"/>
                <a:ea typeface="Calibri" pitchFamily="34" charset="-122"/>
                <a:cs typeface="Calibri" pitchFamily="34" charset="-120"/>
              </a:rPr>
              <a:t>Vercel Python · FastAPI · Singapore</a:t>
            </a:r>
            <a:endParaRPr lang="en-US" sz="2000" dirty="0"/>
          </a:p>
          <a:p>
            <a:pPr marL="177800" indent="-177800">
              <a:spcAft>
                <a:spcPts val="400"/>
              </a:spcAft>
              <a:buSzPct val="100000"/>
              <a:buChar char="•"/>
            </a:pPr>
            <a:r>
              <a:rPr lang="en-US" sz="1300" dirty="0">
                <a:solidFill>
                  <a:srgbClr val="3E4451"/>
                </a:solidFill>
                <a:latin typeface="Calibri" pitchFamily="34" charset="0"/>
                <a:ea typeface="Calibri" pitchFamily="34" charset="-122"/>
                <a:cs typeface="Calibri" pitchFamily="34" charset="-120"/>
              </a:rPr>
              <a:t>Seeded dirty ingredients</a:t>
            </a:r>
            <a:endParaRPr lang="en-US" sz="2000" dirty="0"/>
          </a:p>
          <a:p>
            <a:pPr marL="177800" indent="-177800">
              <a:spcAft>
                <a:spcPts val="400"/>
              </a:spcAft>
              <a:buSzPct val="100000"/>
              <a:buChar char="•"/>
            </a:pPr>
            <a:r>
              <a:rPr lang="en-US" sz="1300" dirty="0">
                <a:solidFill>
                  <a:srgbClr val="3E4451"/>
                </a:solidFill>
                <a:latin typeface="Calibri" pitchFamily="34" charset="0"/>
                <a:ea typeface="Calibri" pitchFamily="34" charset="-122"/>
                <a:cs typeface="Calibri" pitchFamily="34" charset="-120"/>
              </a:rPr>
              <a:t>Rebuilds and judges the dish</a:t>
            </a:r>
            <a:endParaRPr lang="en-US" sz="2000" dirty="0"/>
          </a:p>
          <a:p>
            <a:pPr marL="177800" indent="-177800">
              <a:spcAft>
                <a:spcPts val="400"/>
              </a:spcAft>
              <a:buSzPct val="100000"/>
              <a:buChar char="•"/>
            </a:pPr>
            <a:r>
              <a:rPr lang="en-US" sz="1300" dirty="0">
                <a:solidFill>
                  <a:srgbClr val="3E4451"/>
                </a:solidFill>
                <a:latin typeface="Calibri" pitchFamily="34" charset="0"/>
                <a:ea typeface="Calibri" pitchFamily="34" charset="-122"/>
                <a:cs typeface="Calibri" pitchFamily="34" charset="-120"/>
              </a:rPr>
              <a:t>Points, tiers, leaderboard</a:t>
            </a:r>
            <a:endParaRPr lang="en-US" sz="2000" dirty="0"/>
          </a:p>
        </p:txBody>
      </p:sp>
      <p:sp>
        <p:nvSpPr>
          <p:cNvPr id="9" name="s8-arrow2"/>
          <p:cNvSpPr/>
          <p:nvPr/>
        </p:nvSpPr>
        <p:spPr>
          <a:xfrm>
            <a:off x="7766050" y="2730500"/>
            <a:ext cx="508000" cy="254000"/>
          </a:xfrm>
          <a:prstGeom prst="rightArrow">
            <a:avLst/>
          </a:prstGeom>
          <a:solidFill>
            <a:srgbClr val="E8792B"/>
          </a:solidFill>
          <a:ln/>
        </p:spPr>
      </p:sp>
      <p:sp>
        <p:nvSpPr>
          <p:cNvPr id="10" name="s8-alabel2"/>
          <p:cNvSpPr txBox="1"/>
          <p:nvPr/>
        </p:nvSpPr>
        <p:spPr>
          <a:xfrm>
            <a:off x="7550150" y="3060700"/>
            <a:ext cx="952500" cy="444500"/>
          </a:xfrm>
          <a:prstGeom prst="rect">
            <a:avLst/>
          </a:prstGeom>
          <a:noFill/>
          <a:ln/>
        </p:spPr>
        <p:txBody>
          <a:bodyPr wrap="square" lIns="0" tIns="0" rIns="0" bIns="0" rtlCol="0" anchor="ctr"/>
          <a:lstStyle/>
          <a:p>
            <a:pPr marL="0" indent="0" algn="ctr">
              <a:buNone/>
            </a:pPr>
            <a:r>
              <a:rPr lang="en-US" sz="1200" dirty="0">
                <a:solidFill>
                  <a:srgbClr val="A84A14"/>
                </a:solidFill>
                <a:latin typeface="Calibri" pitchFamily="34" charset="0"/>
                <a:ea typeface="Calibri" pitchFamily="34" charset="-122"/>
                <a:cs typeface="Calibri" pitchFamily="34" charset="-120"/>
              </a:rPr>
              <a:t>SQL via the pooler</a:t>
            </a:r>
            <a:endParaRPr lang="en-US" sz="1200" dirty="0"/>
          </a:p>
        </p:txBody>
      </p:sp>
      <p:pic>
        <p:nvPicPr>
          <p:cNvPr id="11" name="s8-packet2" descr="request packet"/>
          <p:cNvPicPr>
            <a:picLocks noChangeAspect="1"/>
          </p:cNvPicPr>
          <p:nvPr/>
        </p:nvPicPr>
        <p:blipFill>
          <a:blip r:embed="rId4"/>
          <a:stretch>
            <a:fillRect/>
          </a:stretch>
        </p:blipFill>
        <p:spPr>
          <a:xfrm>
            <a:off x="7397750" y="2743200"/>
            <a:ext cx="228600" cy="228600"/>
          </a:xfrm>
          <a:prstGeom prst="rect">
            <a:avLst/>
          </a:prstGeom>
        </p:spPr>
      </p:pic>
      <p:sp>
        <p:nvSpPr>
          <p:cNvPr id="12" name="s8-box3"/>
          <p:cNvSpPr txBox="1"/>
          <p:nvPr/>
        </p:nvSpPr>
        <p:spPr>
          <a:xfrm>
            <a:off x="8521700" y="1905000"/>
            <a:ext cx="2857500" cy="1905000"/>
          </a:xfrm>
          <a:prstGeom prst="roundRect">
            <a:avLst>
              <a:gd name="adj" fmla="val 5760"/>
            </a:avLst>
          </a:prstGeom>
          <a:solidFill>
            <a:srgbClr val="FFFCF6"/>
          </a:solidFill>
          <a:ln w="9525">
            <a:solidFill>
              <a:srgbClr val="DDD5C7"/>
            </a:solidFill>
          </a:ln>
        </p:spPr>
        <p:txBody>
          <a:bodyPr wrap="square" lIns="203200" tIns="203200" rIns="203200" bIns="203200" rtlCol="0" anchor="t"/>
          <a:lstStyle/>
          <a:p>
            <a:pPr marL="0" indent="0">
              <a:spcAft>
                <a:spcPts val="400"/>
              </a:spcAft>
              <a:buNone/>
            </a:pPr>
            <a:r>
              <a:rPr lang="en-US" sz="2000" b="1" dirty="0">
                <a:solidFill>
                  <a:srgbClr val="14171C"/>
                </a:solidFill>
                <a:latin typeface="Arial" pitchFamily="34" charset="0"/>
                <a:ea typeface="Arial" pitchFamily="34" charset="-122"/>
                <a:cs typeface="Arial" pitchFamily="34" charset="-120"/>
              </a:rPr>
              <a:t>Database</a:t>
            </a:r>
            <a:endParaRPr lang="en-US" sz="2000" dirty="0"/>
          </a:p>
          <a:p>
            <a:pPr marL="0" indent="0">
              <a:spcAft>
                <a:spcPts val="600"/>
              </a:spcAft>
              <a:buNone/>
            </a:pPr>
            <a:r>
              <a:rPr lang="en-US" sz="1200" dirty="0">
                <a:solidFill>
                  <a:srgbClr val="5B6270"/>
                </a:solidFill>
                <a:latin typeface="Calibri" pitchFamily="34" charset="0"/>
                <a:ea typeface="Calibri" pitchFamily="34" charset="-122"/>
                <a:cs typeface="Calibri" pitchFamily="34" charset="-120"/>
              </a:rPr>
              <a:t>Supabase · PostgreSQL</a:t>
            </a:r>
            <a:endParaRPr lang="en-US" sz="2000" dirty="0"/>
          </a:p>
          <a:p>
            <a:pPr marL="177800" indent="-177800">
              <a:spcAft>
                <a:spcPts val="400"/>
              </a:spcAft>
              <a:buSzPct val="100000"/>
              <a:buChar char="•"/>
            </a:pPr>
            <a:r>
              <a:rPr lang="en-US" sz="1300" dirty="0">
                <a:solidFill>
                  <a:srgbClr val="3E4451"/>
                </a:solidFill>
                <a:latin typeface="Calibri" pitchFamily="34" charset="0"/>
                <a:ea typeface="Calibri" pitchFamily="34" charset="-122"/>
                <a:cs typeface="Calibri" pitchFamily="34" charset="-120"/>
              </a:rPr>
              <a:t>Chefs and sessions</a:t>
            </a:r>
            <a:endParaRPr lang="en-US" sz="2000" dirty="0"/>
          </a:p>
          <a:p>
            <a:pPr marL="177800" indent="-177800">
              <a:spcAft>
                <a:spcPts val="400"/>
              </a:spcAft>
              <a:buSzPct val="100000"/>
              <a:buChar char="•"/>
            </a:pPr>
            <a:r>
              <a:rPr lang="en-US" sz="1300" dirty="0">
                <a:solidFill>
                  <a:srgbClr val="3E4451"/>
                </a:solidFill>
                <a:latin typeface="Calibri" pitchFamily="34" charset="0"/>
                <a:ea typeface="Calibri" pitchFamily="34" charset="-122"/>
                <a:cs typeface="Calibri" pitchFamily="34" charset="-120"/>
              </a:rPr>
              <a:t>Every served attempt</a:t>
            </a:r>
            <a:endParaRPr lang="en-US" sz="2000" dirty="0"/>
          </a:p>
          <a:p>
            <a:pPr marL="177800" indent="-177800">
              <a:spcAft>
                <a:spcPts val="400"/>
              </a:spcAft>
              <a:buSzPct val="100000"/>
              <a:buChar char="•"/>
            </a:pPr>
            <a:r>
              <a:rPr lang="en-US" sz="1300" dirty="0">
                <a:solidFill>
                  <a:srgbClr val="3E4451"/>
                </a:solidFill>
                <a:latin typeface="Calibri" pitchFamily="34" charset="0"/>
                <a:ea typeface="Calibri" pitchFamily="34" charset="-122"/>
                <a:cs typeface="Calibri" pitchFamily="34" charset="-120"/>
              </a:rPr>
              <a:t>Scoring seasons</a:t>
            </a:r>
            <a:endParaRPr lang="en-US" sz="2000" dirty="0"/>
          </a:p>
        </p:txBody>
      </p:sp>
      <p:pic>
        <p:nvPicPr>
          <p:cNvPr id="13" name="s8-back" descr="response packet"/>
          <p:cNvPicPr>
            <a:picLocks noChangeAspect="1"/>
          </p:cNvPicPr>
          <p:nvPr/>
        </p:nvPicPr>
        <p:blipFill>
          <a:blip r:embed="rId5"/>
          <a:stretch>
            <a:fillRect/>
          </a:stretch>
        </p:blipFill>
        <p:spPr>
          <a:xfrm>
            <a:off x="4730750" y="2425700"/>
            <a:ext cx="228600" cy="228600"/>
          </a:xfrm>
          <a:prstGeom prst="rect">
            <a:avLst/>
          </a:prstGeom>
        </p:spPr>
      </p:pic>
      <p:sp>
        <p:nvSpPr>
          <p:cNvPr id="14" name="s8-panel"/>
          <p:cNvSpPr txBox="1"/>
          <p:nvPr/>
        </p:nvSpPr>
        <p:spPr>
          <a:xfrm>
            <a:off x="812800" y="4381500"/>
            <a:ext cx="10566400" cy="1452880"/>
          </a:xfrm>
          <a:prstGeom prst="roundRect">
            <a:avLst>
              <a:gd name="adj" fmla="val 7552"/>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KEY DECISION</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browser → server:  settings (bowl, cutoffs, dials, appliance, notch, poles)</a:t>
            </a:r>
            <a:endParaRPr lang="en-US" sz="1200" dirty="0"/>
          </a:p>
          <a:p>
            <a:pPr marL="0" indent="0">
              <a:lnSpc>
                <a:spcPct val="120000"/>
              </a:lnSpc>
              <a:spcAft>
                <a:spcPts val="600"/>
              </a:spcAft>
              <a:buNone/>
            </a:pPr>
            <a:r>
              <a:rPr lang="en-US" sz="1300" dirty="0">
                <a:solidFill>
                  <a:srgbClr val="7FE0D3"/>
                </a:solidFill>
                <a:latin typeface="Consolas" pitchFamily="34" charset="0"/>
                <a:ea typeface="Consolas" pitchFamily="34" charset="-122"/>
                <a:cs typeface="Consolas" pitchFamily="34" charset="-120"/>
              </a:rPr>
              <a:t>server  → browser: scores, stars, stages, ranks  (never trusted from the client)</a:t>
            </a:r>
            <a:endParaRPr lang="en-US" sz="1200" dirty="0"/>
          </a:p>
          <a:p>
            <a:pPr marL="0" indent="0">
              <a:buNone/>
            </a:pPr>
            <a:r>
              <a:rPr lang="en-US" sz="1200" dirty="0">
                <a:solidFill>
                  <a:srgbClr val="9AA4B2"/>
                </a:solidFill>
                <a:latin typeface="Calibri" pitchFamily="34" charset="0"/>
                <a:ea typeface="Calibri" pitchFamily="34" charset="-122"/>
                <a:cs typeface="Calibri" pitchFamily="34" charset="-120"/>
              </a:rPr>
              <a:t>Also in the game: the Signal Playground (10 labs), seasonal leaderboards, pause, countdown and sound.</a:t>
            </a:r>
            <a:endParaRPr lang="en-US" sz="1200" dirty="0"/>
          </a:p>
        </p:txBody>
      </p:sp>
      <p:sp>
        <p:nvSpPr>
          <p:cNvPr id="15" name="!!footer"/>
          <p:cNvSpPr txBox="1"/>
          <p:nvPr/>
        </p:nvSpPr>
        <p:spPr>
          <a:xfrm>
            <a:off x="812800" y="6248400"/>
            <a:ext cx="5715000" cy="215900"/>
          </a:xfrm>
          <a:prstGeom prst="rect">
            <a:avLst/>
          </a:prstGeom>
          <a:noFill/>
          <a:ln/>
        </p:spPr>
        <p:txBody>
          <a:bodyPr wrap="square" lIns="0" tIns="0" rIns="0" bIns="0" rtlCol="0" anchor="ctr"/>
          <a:lstStyle/>
          <a:p>
            <a:pPr marL="0" indent="0">
              <a:buNone/>
            </a:pPr>
            <a:r>
              <a:rPr lang="en-US" sz="1200" dirty="0">
                <a:solidFill>
                  <a:srgbClr val="5B6270"/>
                </a:solidFill>
                <a:latin typeface="Calibri" pitchFamily="34" charset="0"/>
                <a:ea typeface="Calibri" pitchFamily="34" charset="-122"/>
                <a:cs typeface="Calibri" pitchFamily="34" charset="-120"/>
              </a:rPr>
              <a:t>WaveKitchen · Cooking with Signals</a:t>
            </a:r>
            <a:endParaRPr lang="en-US" sz="1200" dirty="0"/>
          </a:p>
        </p:txBody>
      </p:sp>
      <p:sp>
        <p:nvSpPr>
          <p:cNvPr id="16" name="!!page"/>
          <p:cNvSpPr txBox="1"/>
          <p:nvPr/>
        </p:nvSpPr>
        <p:spPr>
          <a:xfrm>
            <a:off x="9474200" y="6248400"/>
            <a:ext cx="1905000" cy="215900"/>
          </a:xfrm>
          <a:prstGeom prst="rect">
            <a:avLst/>
          </a:prstGeom>
          <a:noFill/>
          <a:ln/>
        </p:spPr>
        <p:txBody>
          <a:bodyPr wrap="square" lIns="0" tIns="0" rIns="0" bIns="0" rtlCol="0" anchor="ctr"/>
          <a:lstStyle/>
          <a:p>
            <a:pPr marL="0" indent="0" algn="r">
              <a:buNone/>
            </a:pPr>
            <a:r>
              <a:rPr lang="en-US" sz="1200" dirty="0">
                <a:solidFill>
                  <a:srgbClr val="5B6270"/>
                </a:solidFill>
                <a:latin typeface="Calibri" pitchFamily="34" charset="0"/>
                <a:ea typeface="Calibri" pitchFamily="34" charset="-122"/>
                <a:cs typeface="Calibri" pitchFamily="34" charset="-120"/>
              </a:rPr>
              <a:t>8 / 10</a:t>
            </a:r>
            <a:endParaRPr lang="en-US" sz="1200" dirty="0"/>
          </a:p>
        </p:txBody>
      </p:sp>
      <p:sp>
        <p:nvSpPr>
          <p:cNvPr id="17" name="!!track"/>
          <p:cNvSpPr/>
          <p:nvPr/>
        </p:nvSpPr>
        <p:spPr>
          <a:xfrm>
            <a:off x="0" y="6807200"/>
            <a:ext cx="12192000" cy="50800"/>
          </a:xfrm>
          <a:prstGeom prst="rect">
            <a:avLst/>
          </a:prstGeom>
          <a:solidFill>
            <a:srgbClr val="E2DACB"/>
          </a:solidFill>
          <a:ln/>
        </p:spPr>
      </p:sp>
      <p:sp>
        <p:nvSpPr>
          <p:cNvPr id="18" name="!!progress"/>
          <p:cNvSpPr/>
          <p:nvPr/>
        </p:nvSpPr>
        <p:spPr>
          <a:xfrm>
            <a:off x="0" y="6807200"/>
            <a:ext cx="9753600" cy="50800"/>
          </a:xfrm>
          <a:prstGeom prst="rect">
            <a:avLst/>
          </a:prstGeom>
          <a:solidFill>
            <a:srgbClr val="E8792B"/>
          </a:solidFill>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450" decel="100000" fill="hold"/>
                                        <p:tgtEl>
                                          <p:spTgt spid="4"/>
                                        </p:tgtEl>
                                        <p:attrNameLst>
                                          <p:attrName>ppt_y</p:attrName>
                                        </p:attrNameLst>
                                      </p:cBhvr>
                                      <p:tavLst>
                                        <p:tav tm="0">
                                          <p:val>
                                            <p:strVal val="#ppt_y+1"/>
                                          </p:val>
                                        </p:tav>
                                        <p:tav tm="100000">
                                          <p:val>
                                            <p:strVal val="#ppt_y-.03"/>
                                          </p:val>
                                        </p:tav>
                                      </p:tavLst>
                                    </p:anim>
                                    <p:anim calcmode="lin" valueType="num">
                                      <p:cBhvr>
                                        <p:cTn id="10" dur="50" accel="100000" fill="hold">
                                          <p:stCondLst>
                                            <p:cond delay="450"/>
                                          </p:stCondLst>
                                        </p:cTn>
                                        <p:tgtEl>
                                          <p:spTgt spid="4"/>
                                        </p:tgtEl>
                                        <p:attrNameLst>
                                          <p:attrName>ppt_y</p:attrName>
                                        </p:attrNameLst>
                                      </p:cBhvr>
                                      <p:tavLst>
                                        <p:tav tm="0">
                                          <p:val>
                                            <p:strVal val="#ppt_y-.03"/>
                                          </p:val>
                                        </p:tav>
                                        <p:tav tm="100000">
                                          <p:val>
                                            <p:strVal val="#ppt_y"/>
                                          </p:val>
                                        </p:tav>
                                      </p:tavLst>
                                    </p:anim>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50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00"/>
                                        <p:tgtEl>
                                          <p:spTgt spid="6"/>
                                        </p:tgtEl>
                                      </p:cBhvr>
                                    </p:animEffect>
                                  </p:childTnLst>
                                </p:cTn>
                              </p:par>
                            </p:childTnLst>
                          </p:cTn>
                        </p:par>
                        <p:par>
                          <p:cTn id="18" fill="hold">
                            <p:stCondLst>
                              <p:cond delay="1000"/>
                            </p:stCondLst>
                            <p:childTnLst>
                              <p:par>
                                <p:cTn id="19" presetID="37" presetClass="entr" presetSubtype="0"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anim calcmode="lin" valueType="num">
                                      <p:cBhvr>
                                        <p:cTn id="22" dur="500" fill="hold"/>
                                        <p:tgtEl>
                                          <p:spTgt spid="8"/>
                                        </p:tgtEl>
                                        <p:attrNameLst>
                                          <p:attrName>ppt_x</p:attrName>
                                        </p:attrNameLst>
                                      </p:cBhvr>
                                      <p:tavLst>
                                        <p:tav tm="0">
                                          <p:val>
                                            <p:strVal val="#ppt_x"/>
                                          </p:val>
                                        </p:tav>
                                        <p:tav tm="100000">
                                          <p:val>
                                            <p:strVal val="#ppt_x"/>
                                          </p:val>
                                        </p:tav>
                                      </p:tavLst>
                                    </p:anim>
                                    <p:anim calcmode="lin" valueType="num">
                                      <p:cBhvr>
                                        <p:cTn id="23" dur="450" decel="100000" fill="hold"/>
                                        <p:tgtEl>
                                          <p:spTgt spid="8"/>
                                        </p:tgtEl>
                                        <p:attrNameLst>
                                          <p:attrName>ppt_y</p:attrName>
                                        </p:attrNameLst>
                                      </p:cBhvr>
                                      <p:tavLst>
                                        <p:tav tm="0">
                                          <p:val>
                                            <p:strVal val="#ppt_y+1"/>
                                          </p:val>
                                        </p:tav>
                                        <p:tav tm="100000">
                                          <p:val>
                                            <p:strVal val="#ppt_y-.03"/>
                                          </p:val>
                                        </p:tav>
                                      </p:tavLst>
                                    </p:anim>
                                    <p:anim calcmode="lin" valueType="num">
                                      <p:cBhvr>
                                        <p:cTn id="24" dur="50" accel="100000" fill="hold">
                                          <p:stCondLst>
                                            <p:cond delay="450"/>
                                          </p:stCondLst>
                                        </p:cTn>
                                        <p:tgtEl>
                                          <p:spTgt spid="8"/>
                                        </p:tgtEl>
                                        <p:attrNameLst>
                                          <p:attrName>ppt_y</p:attrName>
                                        </p:attrNameLst>
                                      </p:cBhvr>
                                      <p:tavLst>
                                        <p:tav tm="0">
                                          <p:val>
                                            <p:strVal val="#ppt_y-.03"/>
                                          </p:val>
                                        </p:tav>
                                        <p:tav tm="100000">
                                          <p:val>
                                            <p:strVal val="#ppt_y"/>
                                          </p:val>
                                        </p:tav>
                                      </p:tavLst>
                                    </p:anim>
                                  </p:childTnLst>
                                </p:cTn>
                              </p:par>
                            </p:childTnLst>
                          </p:cTn>
                        </p:par>
                        <p:par>
                          <p:cTn id="25" fill="hold">
                            <p:stCondLst>
                              <p:cond delay="1500"/>
                            </p:stCondLst>
                            <p:childTnLst>
                              <p:par>
                                <p:cTn id="26" presetID="22" presetClass="entr" presetSubtype="8" fill="hold"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500"/>
                                        <p:tgtEl>
                                          <p:spTgt spid="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childTnLst>
                                </p:cTn>
                              </p:par>
                            </p:childTnLst>
                          </p:cTn>
                        </p:par>
                        <p:par>
                          <p:cTn id="32" fill="hold">
                            <p:stCondLst>
                              <p:cond delay="2000"/>
                            </p:stCondLst>
                            <p:childTnLst>
                              <p:par>
                                <p:cTn id="33" presetID="37" presetClass="entr" presetSubtype="0"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anim calcmode="lin" valueType="num">
                                      <p:cBhvr>
                                        <p:cTn id="36" dur="500" fill="hold"/>
                                        <p:tgtEl>
                                          <p:spTgt spid="12"/>
                                        </p:tgtEl>
                                        <p:attrNameLst>
                                          <p:attrName>ppt_x</p:attrName>
                                        </p:attrNameLst>
                                      </p:cBhvr>
                                      <p:tavLst>
                                        <p:tav tm="0">
                                          <p:val>
                                            <p:strVal val="#ppt_x"/>
                                          </p:val>
                                        </p:tav>
                                        <p:tav tm="100000">
                                          <p:val>
                                            <p:strVal val="#ppt_x"/>
                                          </p:val>
                                        </p:tav>
                                      </p:tavLst>
                                    </p:anim>
                                    <p:anim calcmode="lin" valueType="num">
                                      <p:cBhvr>
                                        <p:cTn id="37" dur="450" decel="100000" fill="hold"/>
                                        <p:tgtEl>
                                          <p:spTgt spid="12"/>
                                        </p:tgtEl>
                                        <p:attrNameLst>
                                          <p:attrName>ppt_y</p:attrName>
                                        </p:attrNameLst>
                                      </p:cBhvr>
                                      <p:tavLst>
                                        <p:tav tm="0">
                                          <p:val>
                                            <p:strVal val="#ppt_y+1"/>
                                          </p:val>
                                        </p:tav>
                                        <p:tav tm="100000">
                                          <p:val>
                                            <p:strVal val="#ppt_y-.03"/>
                                          </p:val>
                                        </p:tav>
                                      </p:tavLst>
                                    </p:anim>
                                    <p:anim calcmode="lin" valueType="num">
                                      <p:cBhvr>
                                        <p:cTn id="38"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childTnLst>
                          </p:cTn>
                        </p:par>
                        <p:par>
                          <p:cTn id="39" fill="hold">
                            <p:stCondLst>
                              <p:cond delay="2500"/>
                            </p:stCondLst>
                            <p:childTnLst>
                              <p:par>
                                <p:cTn id="40" presetID="37" presetClass="entr" presetSubtype="0" fill="hold" grpId="0" nodeType="after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600"/>
                                        <p:tgtEl>
                                          <p:spTgt spid="14"/>
                                        </p:tgtEl>
                                      </p:cBhvr>
                                    </p:animEffect>
                                    <p:anim calcmode="lin" valueType="num">
                                      <p:cBhvr>
                                        <p:cTn id="43" dur="600" fill="hold"/>
                                        <p:tgtEl>
                                          <p:spTgt spid="14"/>
                                        </p:tgtEl>
                                        <p:attrNameLst>
                                          <p:attrName>ppt_x</p:attrName>
                                        </p:attrNameLst>
                                      </p:cBhvr>
                                      <p:tavLst>
                                        <p:tav tm="0">
                                          <p:val>
                                            <p:strVal val="#ppt_x"/>
                                          </p:val>
                                        </p:tav>
                                        <p:tav tm="100000">
                                          <p:val>
                                            <p:strVal val="#ppt_x"/>
                                          </p:val>
                                        </p:tav>
                                      </p:tavLst>
                                    </p:anim>
                                    <p:anim calcmode="lin" valueType="num">
                                      <p:cBhvr>
                                        <p:cTn id="44" dur="540" decel="100000" fill="hold"/>
                                        <p:tgtEl>
                                          <p:spTgt spid="14"/>
                                        </p:tgtEl>
                                        <p:attrNameLst>
                                          <p:attrName>ppt_y</p:attrName>
                                        </p:attrNameLst>
                                      </p:cBhvr>
                                      <p:tavLst>
                                        <p:tav tm="0">
                                          <p:val>
                                            <p:strVal val="#ppt_y+1"/>
                                          </p:val>
                                        </p:tav>
                                        <p:tav tm="100000">
                                          <p:val>
                                            <p:strVal val="#ppt_y-.03"/>
                                          </p:val>
                                        </p:tav>
                                      </p:tavLst>
                                    </p:anim>
                                    <p:anim calcmode="lin" valueType="num">
                                      <p:cBhvr>
                                        <p:cTn id="45" dur="60" accel="100000" fill="hold">
                                          <p:stCondLst>
                                            <p:cond delay="540"/>
                                          </p:stCondLst>
                                        </p:cTn>
                                        <p:tgtEl>
                                          <p:spTgt spid="14"/>
                                        </p:tgtEl>
                                        <p:attrNameLst>
                                          <p:attrName>ppt_y</p:attrName>
                                        </p:attrNameLst>
                                      </p:cBhvr>
                                      <p:tavLst>
                                        <p:tav tm="0">
                                          <p:val>
                                            <p:strVal val="#ppt_y-.03"/>
                                          </p:val>
                                        </p:tav>
                                        <p:tav tm="100000">
                                          <p:val>
                                            <p:strVal val="#ppt_y"/>
                                          </p:val>
                                        </p:tav>
                                      </p:tavLst>
                                    </p:anim>
                                  </p:childTnLst>
                                </p:cTn>
                              </p:par>
                            </p:childTnLst>
                          </p:cTn>
                        </p:par>
                        <p:par>
                          <p:cTn id="46" fill="hold">
                            <p:stCondLst>
                              <p:cond delay="3100"/>
                            </p:stCondLst>
                            <p:childTnLst>
                              <p:par>
                                <p:cTn id="47" presetID="10" presetClass="entr" presetSubtype="0" fill="hold" nodeType="after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fade">
                                      <p:cBhvr>
                                        <p:cTn id="49" dur="200"/>
                                        <p:tgtEl>
                                          <p:spTgt spid="7"/>
                                        </p:tgtEl>
                                      </p:cBhvr>
                                    </p:animEffect>
                                  </p:childTnLst>
                                </p:cTn>
                              </p:par>
                            </p:childTnLst>
                          </p:cTn>
                        </p:par>
                        <p:par>
                          <p:cTn id="50" fill="hold">
                            <p:stCondLst>
                              <p:cond delay="3300"/>
                            </p:stCondLst>
                            <p:childTnLst>
                              <p:par>
                                <p:cTn id="51" presetID="63" presetClass="path" presetSubtype="0" repeatCount="3000" fill="hold" nodeType="afterEffect">
                                  <p:stCondLst>
                                    <p:cond delay="0"/>
                                  </p:stCondLst>
                                  <p:childTnLst>
                                    <p:animMotion origin="layout" path="M 0 0 L 0.0974 0 E" pathEditMode="relative" ptsTypes="">
                                      <p:cBhvr>
                                        <p:cTn id="52" dur="1000" fill="hold"/>
                                        <p:tgtEl>
                                          <p:spTgt spid="7"/>
                                        </p:tgtEl>
                                        <p:attrNameLst>
                                          <p:attrName>ppt_x</p:attrName>
                                          <p:attrName>ppt_y</p:attrName>
                                        </p:attrNameLst>
                                      </p:cBhvr>
                                    </p:animMotion>
                                  </p:childTnLst>
                                </p:cTn>
                              </p:par>
                              <p:par>
                                <p:cTn id="53" presetID="10" presetClass="entr" presetSubtype="0" fill="hold" nodeType="withEffect">
                                  <p:stCondLst>
                                    <p:cond delay="50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200"/>
                                        <p:tgtEl>
                                          <p:spTgt spid="11"/>
                                        </p:tgtEl>
                                      </p:cBhvr>
                                    </p:animEffect>
                                  </p:childTnLst>
                                </p:cTn>
                              </p:par>
                              <p:par>
                                <p:cTn id="56" presetID="63" presetClass="path" presetSubtype="0" repeatCount="3000" fill="hold" nodeType="withEffect">
                                  <p:stCondLst>
                                    <p:cond delay="500"/>
                                  </p:stCondLst>
                                  <p:childTnLst>
                                    <p:animMotion origin="layout" path="M 0 0 L 0.0974 0 E" pathEditMode="relative" ptsTypes="">
                                      <p:cBhvr>
                                        <p:cTn id="57" dur="1000" fill="hold"/>
                                        <p:tgtEl>
                                          <p:spTgt spid="11"/>
                                        </p:tgtEl>
                                        <p:attrNameLst>
                                          <p:attrName>ppt_x</p:attrName>
                                          <p:attrName>ppt_y</p:attrName>
                                        </p:attrNameLst>
                                      </p:cBhvr>
                                    </p:animMotion>
                                  </p:childTnLst>
                                </p:cTn>
                              </p:par>
                              <p:par>
                                <p:cTn id="58" presetID="10" presetClass="entr" presetSubtype="0" fill="hold" nodeType="withEffect">
                                  <p:stCondLst>
                                    <p:cond delay="100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200"/>
                                        <p:tgtEl>
                                          <p:spTgt spid="13"/>
                                        </p:tgtEl>
                                      </p:cBhvr>
                                    </p:animEffect>
                                  </p:childTnLst>
                                </p:cTn>
                              </p:par>
                              <p:par>
                                <p:cTn id="61" presetID="63" presetClass="path" presetSubtype="0" repeatCount="3000" fill="hold" nodeType="withEffect">
                                  <p:stCondLst>
                                    <p:cond delay="1000"/>
                                  </p:stCondLst>
                                  <p:childTnLst>
                                    <p:animMotion origin="layout" path="M 0 0 L -0.0964 0 E" pathEditMode="relative" ptsTypes="">
                                      <p:cBhvr>
                                        <p:cTn id="62" dur="1000" fill="hold"/>
                                        <p:tgtEl>
                                          <p:spTgt spid="1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P spid="12"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eyebrow"/>
          <p:cNvSpPr txBox="1"/>
          <p:nvPr/>
        </p:nvSpPr>
        <p:spPr>
          <a:xfrm>
            <a:off x="812800" y="774700"/>
            <a:ext cx="8890000" cy="254000"/>
          </a:xfrm>
          <a:prstGeom prst="rect">
            <a:avLst/>
          </a:prstGeom>
          <a:noFill/>
          <a:ln/>
        </p:spPr>
        <p:txBody>
          <a:bodyPr wrap="square" lIns="0" tIns="0" rIns="0" bIns="0" rtlCol="0" anchor="ctr"/>
          <a:lstStyle/>
          <a:p>
            <a:pPr marL="0" indent="0">
              <a:buNone/>
            </a:pPr>
            <a:r>
              <a:rPr lang="en-US" sz="1200" b="1" kern="0" spc="300" dirty="0">
                <a:solidFill>
                  <a:srgbClr val="A84A14"/>
                </a:solidFill>
                <a:latin typeface="Calibri" pitchFamily="34" charset="0"/>
                <a:ea typeface="Calibri" pitchFamily="34" charset="-122"/>
                <a:cs typeface="Calibri" pitchFamily="34" charset="-120"/>
              </a:rPr>
              <a:t>IMPLEMENTATION</a:t>
            </a:r>
            <a:endParaRPr lang="en-US" sz="1200" dirty="0"/>
          </a:p>
        </p:txBody>
      </p:sp>
      <p:sp>
        <p:nvSpPr>
          <p:cNvPr id="3" name="!!title"/>
          <p:cNvSpPr txBox="1"/>
          <p:nvPr/>
        </p:nvSpPr>
        <p:spPr>
          <a:xfrm>
            <a:off x="812800" y="1054100"/>
            <a:ext cx="10566400" cy="558800"/>
          </a:xfrm>
          <a:prstGeom prst="rect">
            <a:avLst/>
          </a:prstGeom>
          <a:noFill/>
          <a:ln/>
        </p:spPr>
        <p:txBody>
          <a:bodyPr wrap="square" lIns="0" tIns="0" rIns="0" bIns="0" rtlCol="0" anchor="ctr"/>
          <a:lstStyle/>
          <a:p>
            <a:pPr marL="0" indent="0">
              <a:buNone/>
            </a:pPr>
            <a:r>
              <a:rPr lang="en-US" sz="3200" b="1" dirty="0">
                <a:solidFill>
                  <a:srgbClr val="14171C"/>
                </a:solidFill>
                <a:latin typeface="Arial" pitchFamily="34" charset="0"/>
                <a:ea typeface="Arial" pitchFamily="34" charset="-122"/>
                <a:cs typeface="Arial" pitchFamily="34" charset="-120"/>
              </a:rPr>
              <a:t>How a dish becomes a score</a:t>
            </a:r>
            <a:endParaRPr lang="en-US" sz="3200" dirty="0"/>
          </a:p>
        </p:txBody>
      </p:sp>
      <p:pic>
        <p:nvPicPr>
          <p:cNvPr id="4" name="s9-star1" descr="star"/>
          <p:cNvPicPr>
            <a:picLocks noChangeAspect="1"/>
          </p:cNvPicPr>
          <p:nvPr/>
        </p:nvPicPr>
        <p:blipFill>
          <a:blip r:embed="rId4"/>
          <a:stretch>
            <a:fillRect/>
          </a:stretch>
        </p:blipFill>
        <p:spPr>
          <a:xfrm>
            <a:off x="9525000" y="1117600"/>
            <a:ext cx="304800" cy="304800"/>
          </a:xfrm>
          <a:prstGeom prst="rect">
            <a:avLst/>
          </a:prstGeom>
        </p:spPr>
      </p:pic>
      <p:pic>
        <p:nvPicPr>
          <p:cNvPr id="5" name="s9-star2" descr="star"/>
          <p:cNvPicPr>
            <a:picLocks noChangeAspect="1"/>
          </p:cNvPicPr>
          <p:nvPr/>
        </p:nvPicPr>
        <p:blipFill>
          <a:blip r:embed="rId4"/>
          <a:stretch>
            <a:fillRect/>
          </a:stretch>
        </p:blipFill>
        <p:spPr>
          <a:xfrm>
            <a:off x="9906000" y="1117600"/>
            <a:ext cx="304800" cy="304800"/>
          </a:xfrm>
          <a:prstGeom prst="rect">
            <a:avLst/>
          </a:prstGeom>
        </p:spPr>
      </p:pic>
      <p:pic>
        <p:nvPicPr>
          <p:cNvPr id="6" name="s9-star3" descr="star"/>
          <p:cNvPicPr>
            <a:picLocks noChangeAspect="1"/>
          </p:cNvPicPr>
          <p:nvPr/>
        </p:nvPicPr>
        <p:blipFill>
          <a:blip r:embed="rId4"/>
          <a:stretch>
            <a:fillRect/>
          </a:stretch>
        </p:blipFill>
        <p:spPr>
          <a:xfrm>
            <a:off x="10287000" y="1117600"/>
            <a:ext cx="304800" cy="304800"/>
          </a:xfrm>
          <a:prstGeom prst="rect">
            <a:avLst/>
          </a:prstGeom>
        </p:spPr>
      </p:pic>
      <p:pic>
        <p:nvPicPr>
          <p:cNvPr id="7" name="s9-star4" descr="star"/>
          <p:cNvPicPr>
            <a:picLocks noChangeAspect="1"/>
          </p:cNvPicPr>
          <p:nvPr/>
        </p:nvPicPr>
        <p:blipFill>
          <a:blip r:embed="rId4"/>
          <a:stretch>
            <a:fillRect/>
          </a:stretch>
        </p:blipFill>
        <p:spPr>
          <a:xfrm>
            <a:off x="10668000" y="1117600"/>
            <a:ext cx="304800" cy="304800"/>
          </a:xfrm>
          <a:prstGeom prst="rect">
            <a:avLst/>
          </a:prstGeom>
        </p:spPr>
      </p:pic>
      <p:pic>
        <p:nvPicPr>
          <p:cNvPr id="8" name="s9-star5" descr="star"/>
          <p:cNvPicPr>
            <a:picLocks noChangeAspect="1"/>
          </p:cNvPicPr>
          <p:nvPr/>
        </p:nvPicPr>
        <p:blipFill>
          <a:blip r:embed="rId4"/>
          <a:stretch>
            <a:fillRect/>
          </a:stretch>
        </p:blipFill>
        <p:spPr>
          <a:xfrm>
            <a:off x="11049000" y="1117600"/>
            <a:ext cx="304800" cy="304800"/>
          </a:xfrm>
          <a:prstGeom prst="rect">
            <a:avLst/>
          </a:prstGeom>
        </p:spPr>
      </p:pic>
      <p:sp>
        <p:nvSpPr>
          <p:cNvPr id="9" name="s9-p1"/>
          <p:cNvSpPr txBox="1"/>
          <p:nvPr/>
        </p:nvSpPr>
        <p:spPr>
          <a:xfrm>
            <a:off x="812800" y="1879600"/>
            <a:ext cx="5181600" cy="1948180"/>
          </a:xfrm>
          <a:prstGeom prst="roundRect">
            <a:avLst>
              <a:gd name="adj" fmla="val 5632"/>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DISH MATCH (SERVER)</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SNR  = 10·log₁₀(Σt² / Σ(t − p)²)</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corr = max over ℓ of (t ⋆ p)[ℓ] / (‖t‖·‖p‖)</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spec = cos∠(T_dB, P_dB), 40 dB window</a:t>
            </a:r>
            <a:endParaRPr lang="en-US" sz="1200" dirty="0"/>
          </a:p>
          <a:p>
            <a:pPr marL="0" indent="0">
              <a:lnSpc>
                <a:spcPct val="120000"/>
              </a:lnSpc>
              <a:spcAft>
                <a:spcPts val="600"/>
              </a:spcAft>
              <a:buNone/>
            </a:pPr>
            <a:r>
              <a:rPr lang="en-US" sz="1300" dirty="0">
                <a:solidFill>
                  <a:srgbClr val="7FE0D3"/>
                </a:solidFill>
                <a:latin typeface="Consolas" pitchFamily="34" charset="0"/>
                <a:ea typeface="Consolas" pitchFamily="34" charset="-122"/>
                <a:cs typeface="Consolas" pitchFamily="34" charset="-120"/>
              </a:rPr>
              <a:t>m = 40%·S + 35%·C + 25%·N</a:t>
            </a:r>
            <a:endParaRPr lang="en-US" sz="1200" dirty="0"/>
          </a:p>
          <a:p>
            <a:pPr marL="0" indent="0">
              <a:buNone/>
            </a:pPr>
            <a:r>
              <a:rPr lang="en-US" sz="1200" dirty="0">
                <a:solidFill>
                  <a:srgbClr val="9AA4B2"/>
                </a:solidFill>
                <a:latin typeface="Calibri" pitchFamily="34" charset="0"/>
                <a:ea typeface="Calibri" pitchFamily="34" charset="-122"/>
                <a:cs typeface="Calibri" pitchFamily="34" charset="-120"/>
              </a:rPr>
              <a:t>S = (spec − 0.6)/0.38,  N = (SNR + 5)/30, each clipped to 0–1</a:t>
            </a:r>
            <a:endParaRPr lang="en-US" sz="1200" dirty="0"/>
          </a:p>
        </p:txBody>
      </p:sp>
      <p:sp>
        <p:nvSpPr>
          <p:cNvPr id="10" name="s9-p2"/>
          <p:cNvSpPr txBox="1"/>
          <p:nvPr/>
        </p:nvSpPr>
        <p:spPr>
          <a:xfrm>
            <a:off x="6197600" y="1879600"/>
            <a:ext cx="5181600" cy="1700530"/>
          </a:xfrm>
          <a:prstGeom prst="roundRect">
            <a:avLst>
              <a:gd name="adj" fmla="val 6453"/>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FINAL SCORE</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raw   = m·(0.72 + 0.28·prep/100)</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score = 100·(raw/100)^(1/tol)</a:t>
            </a:r>
            <a:endParaRPr lang="en-US" sz="1200" dirty="0"/>
          </a:p>
          <a:p>
            <a:pPr marL="0" indent="0">
              <a:lnSpc>
                <a:spcPct val="120000"/>
              </a:lnSpc>
              <a:spcAft>
                <a:spcPts val="600"/>
              </a:spcAft>
              <a:buNone/>
            </a:pPr>
            <a:r>
              <a:rPr lang="en-US" sz="1300" dirty="0">
                <a:solidFill>
                  <a:srgbClr val="7FE0D3"/>
                </a:solidFill>
                <a:latin typeface="Consolas" pitchFamily="34" charset="0"/>
                <a:ea typeface="Consolas" pitchFamily="34" charset="-122"/>
                <a:cs typeface="Consolas" pitchFamily="34" charset="-120"/>
              </a:rPr>
              <a:t>stars at 92 / 80 / 66 / 50 / 32</a:t>
            </a:r>
            <a:endParaRPr lang="en-US" sz="1200" dirty="0"/>
          </a:p>
          <a:p>
            <a:pPr marL="0" indent="0">
              <a:buNone/>
            </a:pPr>
            <a:r>
              <a:rPr lang="en-US" sz="1200" dirty="0">
                <a:solidFill>
                  <a:srgbClr val="9AA4B2"/>
                </a:solidFill>
                <a:latin typeface="Calibri" pitchFamily="34" charset="0"/>
                <a:ea typeface="Calibri" pitchFamily="34" charset="-122"/>
                <a:cs typeface="Calibri" pitchFamily="34" charset="-120"/>
              </a:rPr>
              <a:t>Washing scales the dish, so it cannot carry a ruined one.</a:t>
            </a:r>
            <a:endParaRPr lang="en-US" sz="1200" dirty="0"/>
          </a:p>
        </p:txBody>
      </p:sp>
      <p:sp>
        <p:nvSpPr>
          <p:cNvPr id="11" name="s9-p3"/>
          <p:cNvSpPr txBox="1"/>
          <p:nvPr/>
        </p:nvSpPr>
        <p:spPr>
          <a:xfrm>
            <a:off x="812800" y="3980180"/>
            <a:ext cx="5181600" cy="1700530"/>
          </a:xfrm>
          <a:prstGeom prst="roundRect">
            <a:avLst>
              <a:gd name="adj" fmla="val 6453"/>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OVERALL SCORE</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total = round(10·score·d)</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      + round(min(2·s_left, 300)·d)</a:t>
            </a:r>
            <a:endParaRPr lang="en-US" sz="1200" dirty="0"/>
          </a:p>
          <a:p>
            <a:pPr marL="0" indent="0">
              <a:lnSpc>
                <a:spcPct val="120000"/>
              </a:lnSpc>
              <a:spcAft>
                <a:spcPts val="600"/>
              </a:spcAft>
              <a:buNone/>
            </a:pPr>
            <a:r>
              <a:rPr lang="en-US" sz="1300" dirty="0">
                <a:solidFill>
                  <a:srgbClr val="7FE0D3"/>
                </a:solidFill>
                <a:latin typeface="Consolas" pitchFamily="34" charset="0"/>
                <a:ea typeface="Consolas" pitchFamily="34" charset="-122"/>
                <a:cs typeface="Consolas" pitchFamily="34" charset="-120"/>
              </a:rPr>
              <a:t>d = 0.8 · 1.0 · 1.25 · 1.5</a:t>
            </a:r>
            <a:endParaRPr lang="en-US" sz="1200" dirty="0"/>
          </a:p>
          <a:p>
            <a:pPr marL="0" indent="0">
              <a:buNone/>
            </a:pPr>
            <a:r>
              <a:rPr lang="en-US" sz="1200" dirty="0">
                <a:solidFill>
                  <a:srgbClr val="9AA4B2"/>
                </a:solidFill>
                <a:latin typeface="Calibri" pitchFamily="34" charset="0"/>
                <a:ea typeface="Calibri" pitchFamily="34" charset="-122"/>
                <a:cs typeface="Calibri" pitchFamily="34" charset="-120"/>
              </a:rPr>
              <a:t>Easy → MasterChef; the leaderboard ranks this number.</a:t>
            </a:r>
            <a:endParaRPr lang="en-US" sz="1200" dirty="0"/>
          </a:p>
        </p:txBody>
      </p:sp>
      <p:sp>
        <p:nvSpPr>
          <p:cNvPr id="12" name="s9-p4"/>
          <p:cNvSpPr txBox="1"/>
          <p:nvPr/>
        </p:nvSpPr>
        <p:spPr>
          <a:xfrm>
            <a:off x="6197600" y="3980180"/>
            <a:ext cx="5181600" cy="1410970"/>
          </a:xfrm>
          <a:prstGeom prst="roundRect">
            <a:avLst>
              <a:gd name="adj" fmla="val 7777"/>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LIVE MATCH (IN EVERY LAB)</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r = Σ(x−μx)(y−μy) / √(Σ(x−μx)²·Σ(y−μy)²)</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NRMSE = 1 − RMSE / (max y − min y)</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live = 50·max(0, r) + 50·NRMSE</a:t>
            </a:r>
            <a:endParaRPr lang="en-US" sz="1200" dirty="0"/>
          </a:p>
        </p:txBody>
      </p:sp>
      <p:sp>
        <p:nvSpPr>
          <p:cNvPr id="13" name="!!footer"/>
          <p:cNvSpPr txBox="1"/>
          <p:nvPr/>
        </p:nvSpPr>
        <p:spPr>
          <a:xfrm>
            <a:off x="812800" y="6248400"/>
            <a:ext cx="5715000" cy="215900"/>
          </a:xfrm>
          <a:prstGeom prst="rect">
            <a:avLst/>
          </a:prstGeom>
          <a:noFill/>
          <a:ln/>
        </p:spPr>
        <p:txBody>
          <a:bodyPr wrap="square" lIns="0" tIns="0" rIns="0" bIns="0" rtlCol="0" anchor="ctr"/>
          <a:lstStyle/>
          <a:p>
            <a:pPr marL="0" indent="0">
              <a:buNone/>
            </a:pPr>
            <a:r>
              <a:rPr lang="en-US" sz="1200" dirty="0">
                <a:solidFill>
                  <a:srgbClr val="5B6270"/>
                </a:solidFill>
                <a:latin typeface="Calibri" pitchFamily="34" charset="0"/>
                <a:ea typeface="Calibri" pitchFamily="34" charset="-122"/>
                <a:cs typeface="Calibri" pitchFamily="34" charset="-120"/>
              </a:rPr>
              <a:t>WaveKitchen · Cooking with Signals</a:t>
            </a:r>
            <a:endParaRPr lang="en-US" sz="1200" dirty="0"/>
          </a:p>
        </p:txBody>
      </p:sp>
      <p:sp>
        <p:nvSpPr>
          <p:cNvPr id="14" name="!!page"/>
          <p:cNvSpPr txBox="1"/>
          <p:nvPr/>
        </p:nvSpPr>
        <p:spPr>
          <a:xfrm>
            <a:off x="9474200" y="6248400"/>
            <a:ext cx="1905000" cy="215900"/>
          </a:xfrm>
          <a:prstGeom prst="rect">
            <a:avLst/>
          </a:prstGeom>
          <a:noFill/>
          <a:ln/>
        </p:spPr>
        <p:txBody>
          <a:bodyPr wrap="square" lIns="0" tIns="0" rIns="0" bIns="0" rtlCol="0" anchor="ctr"/>
          <a:lstStyle/>
          <a:p>
            <a:pPr marL="0" indent="0" algn="r">
              <a:buNone/>
            </a:pPr>
            <a:r>
              <a:rPr lang="en-US" sz="1200" dirty="0">
                <a:solidFill>
                  <a:srgbClr val="5B6270"/>
                </a:solidFill>
                <a:latin typeface="Calibri" pitchFamily="34" charset="0"/>
                <a:ea typeface="Calibri" pitchFamily="34" charset="-122"/>
                <a:cs typeface="Calibri" pitchFamily="34" charset="-120"/>
              </a:rPr>
              <a:t>9 / 10</a:t>
            </a:r>
            <a:endParaRPr lang="en-US" sz="1200" dirty="0"/>
          </a:p>
        </p:txBody>
      </p:sp>
      <p:sp>
        <p:nvSpPr>
          <p:cNvPr id="15" name="!!track"/>
          <p:cNvSpPr/>
          <p:nvPr/>
        </p:nvSpPr>
        <p:spPr>
          <a:xfrm>
            <a:off x="0" y="6807200"/>
            <a:ext cx="12192000" cy="50800"/>
          </a:xfrm>
          <a:prstGeom prst="rect">
            <a:avLst/>
          </a:prstGeom>
          <a:solidFill>
            <a:srgbClr val="E2DACB"/>
          </a:solidFill>
          <a:ln/>
        </p:spPr>
      </p:sp>
      <p:sp>
        <p:nvSpPr>
          <p:cNvPr id="16" name="!!progress"/>
          <p:cNvSpPr/>
          <p:nvPr/>
        </p:nvSpPr>
        <p:spPr>
          <a:xfrm>
            <a:off x="0" y="6807200"/>
            <a:ext cx="10972800" cy="50800"/>
          </a:xfrm>
          <a:prstGeom prst="rect">
            <a:avLst/>
          </a:prstGeom>
          <a:solidFill>
            <a:srgbClr val="E8792B"/>
          </a:solidFill>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160">
                                          <p:stCondLst>
                                            <p:cond delay="0"/>
                                          </p:stCondLst>
                                        </p:cTn>
                                        <p:tgtEl>
                                          <p:spTgt spid="4"/>
                                        </p:tgtEl>
                                      </p:cBhvr>
                                    </p:animEffect>
                                    <p:anim calcmode="lin" valueType="num">
                                      <p:cBhvr>
                                        <p:cTn id="8" dur="501"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183"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183" tmFilter="0, 0; 0.125,0.2665; 0.25,0.4; 0.375,0.465; 0.5,0.5;  0.625,0.535; 0.75,0.6; 0.875,0.7335; 1,1">
                                          <p:stCondLst>
                                            <p:cond delay="183"/>
                                          </p:stCondLst>
                                        </p:cTn>
                                        <p:tgtEl>
                                          <p:spTgt spid="4"/>
                                        </p:tgtEl>
                                        <p:attrNameLst>
                                          <p:attrName>ppt_y</p:attrName>
                                        </p:attrNameLst>
                                      </p:cBhvr>
                                      <p:tavLst>
                                        <p:tav tm="0" fmla="#ppt_y-sin(pi*$)/9">
                                          <p:val>
                                            <p:fltVal val="0"/>
                                          </p:val>
                                        </p:tav>
                                        <p:tav tm="100000">
                                          <p:val>
                                            <p:fltVal val="1"/>
                                          </p:val>
                                        </p:tav>
                                      </p:tavLst>
                                    </p:anim>
                                    <p:anim calcmode="lin" valueType="num">
                                      <p:cBhvr>
                                        <p:cTn id="11" dur="91" tmFilter="0, 0; 0.125,0.2665; 0.25,0.4; 0.375,0.465; 0.5,0.5;  0.625,0.535; 0.75,0.6; 0.875,0.7335; 1,1">
                                          <p:stCondLst>
                                            <p:cond delay="364"/>
                                          </p:stCondLst>
                                        </p:cTn>
                                        <p:tgtEl>
                                          <p:spTgt spid="4"/>
                                        </p:tgtEl>
                                        <p:attrNameLst>
                                          <p:attrName>ppt_y</p:attrName>
                                        </p:attrNameLst>
                                      </p:cBhvr>
                                      <p:tavLst>
                                        <p:tav tm="0" fmla="#ppt_y-sin(pi*$)/27">
                                          <p:val>
                                            <p:fltVal val="0"/>
                                          </p:val>
                                        </p:tav>
                                        <p:tav tm="100000">
                                          <p:val>
                                            <p:fltVal val="1"/>
                                          </p:val>
                                        </p:tav>
                                      </p:tavLst>
                                    </p:anim>
                                    <p:anim calcmode="lin" valueType="num">
                                      <p:cBhvr>
                                        <p:cTn id="12" dur="45" tmFilter="0, 0; 0.125,0.2665; 0.25,0.4; 0.375,0.465; 0.5,0.5;  0.625,0.535; 0.75,0.6; 0.875,0.7335; 1,1">
                                          <p:stCondLst>
                                            <p:cond delay="455"/>
                                          </p:stCondLst>
                                        </p:cTn>
                                        <p:tgtEl>
                                          <p:spTgt spid="4"/>
                                        </p:tgtEl>
                                        <p:attrNameLst>
                                          <p:attrName>ppt_y</p:attrName>
                                        </p:attrNameLst>
                                      </p:cBhvr>
                                      <p:tavLst>
                                        <p:tav tm="0" fmla="#ppt_y-sin(pi*$)/81">
                                          <p:val>
                                            <p:fltVal val="0"/>
                                          </p:val>
                                        </p:tav>
                                        <p:tav tm="100000">
                                          <p:val>
                                            <p:fltVal val="1"/>
                                          </p:val>
                                        </p:tav>
                                      </p:tavLst>
                                    </p:anim>
                                    <p:animScale>
                                      <p:cBhvr>
                                        <p:cTn id="13" dur="7">
                                          <p:stCondLst>
                                            <p:cond delay="179"/>
                                          </p:stCondLst>
                                        </p:cTn>
                                        <p:tgtEl>
                                          <p:spTgt spid="4"/>
                                        </p:tgtEl>
                                      </p:cBhvr>
                                      <p:to x="100000" y="60000"/>
                                    </p:animScale>
                                    <p:animScale>
                                      <p:cBhvr>
                                        <p:cTn id="14" dur="46" decel="50000">
                                          <p:stCondLst>
                                            <p:cond delay="186"/>
                                          </p:stCondLst>
                                        </p:cTn>
                                        <p:tgtEl>
                                          <p:spTgt spid="4"/>
                                        </p:tgtEl>
                                      </p:cBhvr>
                                      <p:to x="100000" y="100000"/>
                                    </p:animScale>
                                    <p:animScale>
                                      <p:cBhvr>
                                        <p:cTn id="15" dur="7">
                                          <p:stCondLst>
                                            <p:cond delay="361"/>
                                          </p:stCondLst>
                                        </p:cTn>
                                        <p:tgtEl>
                                          <p:spTgt spid="4"/>
                                        </p:tgtEl>
                                      </p:cBhvr>
                                      <p:to x="100000" y="80000"/>
                                    </p:animScale>
                                    <p:animScale>
                                      <p:cBhvr>
                                        <p:cTn id="16" dur="46" decel="50000">
                                          <p:stCondLst>
                                            <p:cond delay="368"/>
                                          </p:stCondLst>
                                        </p:cTn>
                                        <p:tgtEl>
                                          <p:spTgt spid="4"/>
                                        </p:tgtEl>
                                      </p:cBhvr>
                                      <p:to x="100000" y="100000"/>
                                    </p:animScale>
                                    <p:animScale>
                                      <p:cBhvr>
                                        <p:cTn id="17" dur="7">
                                          <p:stCondLst>
                                            <p:cond delay="452"/>
                                          </p:stCondLst>
                                        </p:cTn>
                                        <p:tgtEl>
                                          <p:spTgt spid="4"/>
                                        </p:tgtEl>
                                      </p:cBhvr>
                                      <p:to x="100000" y="90000"/>
                                    </p:animScale>
                                    <p:animScale>
                                      <p:cBhvr>
                                        <p:cTn id="18" dur="46" decel="50000">
                                          <p:stCondLst>
                                            <p:cond delay="459"/>
                                          </p:stCondLst>
                                        </p:cTn>
                                        <p:tgtEl>
                                          <p:spTgt spid="4"/>
                                        </p:tgtEl>
                                      </p:cBhvr>
                                      <p:to x="100000" y="100000"/>
                                    </p:animScale>
                                    <p:animScale>
                                      <p:cBhvr>
                                        <p:cTn id="19" dur="7">
                                          <p:stCondLst>
                                            <p:cond delay="497"/>
                                          </p:stCondLst>
                                        </p:cTn>
                                        <p:tgtEl>
                                          <p:spTgt spid="4"/>
                                        </p:tgtEl>
                                      </p:cBhvr>
                                      <p:to x="100000" y="95000"/>
                                    </p:animScale>
                                    <p:animScale>
                                      <p:cBhvr>
                                        <p:cTn id="20" dur="46" decel="50000">
                                          <p:stCondLst>
                                            <p:cond delay="504"/>
                                          </p:stCondLst>
                                        </p:cTn>
                                        <p:tgtEl>
                                          <p:spTgt spid="4"/>
                                        </p:tgtEl>
                                      </p:cBhvr>
                                      <p:to x="100000" y="100000"/>
                                    </p:animScale>
                                  </p:childTnLst>
                                </p:cTn>
                              </p:par>
                            </p:childTnLst>
                          </p:cTn>
                        </p:par>
                        <p:par>
                          <p:cTn id="21" fill="hold">
                            <p:stCondLst>
                              <p:cond delay="550"/>
                            </p:stCondLst>
                            <p:childTnLst>
                              <p:par>
                                <p:cTn id="22" presetID="26" presetClass="entr" presetSubtype="0"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down)">
                                      <p:cBhvr>
                                        <p:cTn id="24" dur="160">
                                          <p:stCondLst>
                                            <p:cond delay="0"/>
                                          </p:stCondLst>
                                        </p:cTn>
                                        <p:tgtEl>
                                          <p:spTgt spid="5"/>
                                        </p:tgtEl>
                                      </p:cBhvr>
                                    </p:animEffect>
                                    <p:anim calcmode="lin" valueType="num">
                                      <p:cBhvr>
                                        <p:cTn id="25" dur="501"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26" dur="183"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27" dur="183" tmFilter="0, 0; 0.125,0.2665; 0.25,0.4; 0.375,0.465; 0.5,0.5;  0.625,0.535; 0.75,0.6; 0.875,0.7335; 1,1">
                                          <p:stCondLst>
                                            <p:cond delay="183"/>
                                          </p:stCondLst>
                                        </p:cTn>
                                        <p:tgtEl>
                                          <p:spTgt spid="5"/>
                                        </p:tgtEl>
                                        <p:attrNameLst>
                                          <p:attrName>ppt_y</p:attrName>
                                        </p:attrNameLst>
                                      </p:cBhvr>
                                      <p:tavLst>
                                        <p:tav tm="0" fmla="#ppt_y-sin(pi*$)/9">
                                          <p:val>
                                            <p:fltVal val="0"/>
                                          </p:val>
                                        </p:tav>
                                        <p:tav tm="100000">
                                          <p:val>
                                            <p:fltVal val="1"/>
                                          </p:val>
                                        </p:tav>
                                      </p:tavLst>
                                    </p:anim>
                                    <p:anim calcmode="lin" valueType="num">
                                      <p:cBhvr>
                                        <p:cTn id="28" dur="91" tmFilter="0, 0; 0.125,0.2665; 0.25,0.4; 0.375,0.465; 0.5,0.5;  0.625,0.535; 0.75,0.6; 0.875,0.7335; 1,1">
                                          <p:stCondLst>
                                            <p:cond delay="364"/>
                                          </p:stCondLst>
                                        </p:cTn>
                                        <p:tgtEl>
                                          <p:spTgt spid="5"/>
                                        </p:tgtEl>
                                        <p:attrNameLst>
                                          <p:attrName>ppt_y</p:attrName>
                                        </p:attrNameLst>
                                      </p:cBhvr>
                                      <p:tavLst>
                                        <p:tav tm="0" fmla="#ppt_y-sin(pi*$)/27">
                                          <p:val>
                                            <p:fltVal val="0"/>
                                          </p:val>
                                        </p:tav>
                                        <p:tav tm="100000">
                                          <p:val>
                                            <p:fltVal val="1"/>
                                          </p:val>
                                        </p:tav>
                                      </p:tavLst>
                                    </p:anim>
                                    <p:anim calcmode="lin" valueType="num">
                                      <p:cBhvr>
                                        <p:cTn id="29" dur="45" tmFilter="0, 0; 0.125,0.2665; 0.25,0.4; 0.375,0.465; 0.5,0.5;  0.625,0.535; 0.75,0.6; 0.875,0.7335; 1,1">
                                          <p:stCondLst>
                                            <p:cond delay="455"/>
                                          </p:stCondLst>
                                        </p:cTn>
                                        <p:tgtEl>
                                          <p:spTgt spid="5"/>
                                        </p:tgtEl>
                                        <p:attrNameLst>
                                          <p:attrName>ppt_y</p:attrName>
                                        </p:attrNameLst>
                                      </p:cBhvr>
                                      <p:tavLst>
                                        <p:tav tm="0" fmla="#ppt_y-sin(pi*$)/81">
                                          <p:val>
                                            <p:fltVal val="0"/>
                                          </p:val>
                                        </p:tav>
                                        <p:tav tm="100000">
                                          <p:val>
                                            <p:fltVal val="1"/>
                                          </p:val>
                                        </p:tav>
                                      </p:tavLst>
                                    </p:anim>
                                    <p:animScale>
                                      <p:cBhvr>
                                        <p:cTn id="30" dur="7">
                                          <p:stCondLst>
                                            <p:cond delay="179"/>
                                          </p:stCondLst>
                                        </p:cTn>
                                        <p:tgtEl>
                                          <p:spTgt spid="5"/>
                                        </p:tgtEl>
                                      </p:cBhvr>
                                      <p:to x="100000" y="60000"/>
                                    </p:animScale>
                                    <p:animScale>
                                      <p:cBhvr>
                                        <p:cTn id="31" dur="46" decel="50000">
                                          <p:stCondLst>
                                            <p:cond delay="186"/>
                                          </p:stCondLst>
                                        </p:cTn>
                                        <p:tgtEl>
                                          <p:spTgt spid="5"/>
                                        </p:tgtEl>
                                      </p:cBhvr>
                                      <p:to x="100000" y="100000"/>
                                    </p:animScale>
                                    <p:animScale>
                                      <p:cBhvr>
                                        <p:cTn id="32" dur="7">
                                          <p:stCondLst>
                                            <p:cond delay="361"/>
                                          </p:stCondLst>
                                        </p:cTn>
                                        <p:tgtEl>
                                          <p:spTgt spid="5"/>
                                        </p:tgtEl>
                                      </p:cBhvr>
                                      <p:to x="100000" y="80000"/>
                                    </p:animScale>
                                    <p:animScale>
                                      <p:cBhvr>
                                        <p:cTn id="33" dur="46" decel="50000">
                                          <p:stCondLst>
                                            <p:cond delay="368"/>
                                          </p:stCondLst>
                                        </p:cTn>
                                        <p:tgtEl>
                                          <p:spTgt spid="5"/>
                                        </p:tgtEl>
                                      </p:cBhvr>
                                      <p:to x="100000" y="100000"/>
                                    </p:animScale>
                                    <p:animScale>
                                      <p:cBhvr>
                                        <p:cTn id="34" dur="7">
                                          <p:stCondLst>
                                            <p:cond delay="452"/>
                                          </p:stCondLst>
                                        </p:cTn>
                                        <p:tgtEl>
                                          <p:spTgt spid="5"/>
                                        </p:tgtEl>
                                      </p:cBhvr>
                                      <p:to x="100000" y="90000"/>
                                    </p:animScale>
                                    <p:animScale>
                                      <p:cBhvr>
                                        <p:cTn id="35" dur="46" decel="50000">
                                          <p:stCondLst>
                                            <p:cond delay="459"/>
                                          </p:stCondLst>
                                        </p:cTn>
                                        <p:tgtEl>
                                          <p:spTgt spid="5"/>
                                        </p:tgtEl>
                                      </p:cBhvr>
                                      <p:to x="100000" y="100000"/>
                                    </p:animScale>
                                    <p:animScale>
                                      <p:cBhvr>
                                        <p:cTn id="36" dur="7">
                                          <p:stCondLst>
                                            <p:cond delay="497"/>
                                          </p:stCondLst>
                                        </p:cTn>
                                        <p:tgtEl>
                                          <p:spTgt spid="5"/>
                                        </p:tgtEl>
                                      </p:cBhvr>
                                      <p:to x="100000" y="95000"/>
                                    </p:animScale>
                                    <p:animScale>
                                      <p:cBhvr>
                                        <p:cTn id="37" dur="46" decel="50000">
                                          <p:stCondLst>
                                            <p:cond delay="504"/>
                                          </p:stCondLst>
                                        </p:cTn>
                                        <p:tgtEl>
                                          <p:spTgt spid="5"/>
                                        </p:tgtEl>
                                      </p:cBhvr>
                                      <p:to x="100000" y="100000"/>
                                    </p:animScale>
                                  </p:childTnLst>
                                </p:cTn>
                              </p:par>
                            </p:childTnLst>
                          </p:cTn>
                        </p:par>
                        <p:par>
                          <p:cTn id="38" fill="hold">
                            <p:stCondLst>
                              <p:cond delay="1100"/>
                            </p:stCondLst>
                            <p:childTnLst>
                              <p:par>
                                <p:cTn id="39" presetID="26" presetClass="entr" presetSubtype="0" fill="hold" nodeType="after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wipe(down)">
                                      <p:cBhvr>
                                        <p:cTn id="41" dur="160">
                                          <p:stCondLst>
                                            <p:cond delay="0"/>
                                          </p:stCondLst>
                                        </p:cTn>
                                        <p:tgtEl>
                                          <p:spTgt spid="6"/>
                                        </p:tgtEl>
                                      </p:cBhvr>
                                    </p:animEffect>
                                    <p:anim calcmode="lin" valueType="num">
                                      <p:cBhvr>
                                        <p:cTn id="42" dur="501"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43" dur="183"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44" dur="183" tmFilter="0, 0; 0.125,0.2665; 0.25,0.4; 0.375,0.465; 0.5,0.5;  0.625,0.535; 0.75,0.6; 0.875,0.7335; 1,1">
                                          <p:stCondLst>
                                            <p:cond delay="183"/>
                                          </p:stCondLst>
                                        </p:cTn>
                                        <p:tgtEl>
                                          <p:spTgt spid="6"/>
                                        </p:tgtEl>
                                        <p:attrNameLst>
                                          <p:attrName>ppt_y</p:attrName>
                                        </p:attrNameLst>
                                      </p:cBhvr>
                                      <p:tavLst>
                                        <p:tav tm="0" fmla="#ppt_y-sin(pi*$)/9">
                                          <p:val>
                                            <p:fltVal val="0"/>
                                          </p:val>
                                        </p:tav>
                                        <p:tav tm="100000">
                                          <p:val>
                                            <p:fltVal val="1"/>
                                          </p:val>
                                        </p:tav>
                                      </p:tavLst>
                                    </p:anim>
                                    <p:anim calcmode="lin" valueType="num">
                                      <p:cBhvr>
                                        <p:cTn id="45" dur="91" tmFilter="0, 0; 0.125,0.2665; 0.25,0.4; 0.375,0.465; 0.5,0.5;  0.625,0.535; 0.75,0.6; 0.875,0.7335; 1,1">
                                          <p:stCondLst>
                                            <p:cond delay="364"/>
                                          </p:stCondLst>
                                        </p:cTn>
                                        <p:tgtEl>
                                          <p:spTgt spid="6"/>
                                        </p:tgtEl>
                                        <p:attrNameLst>
                                          <p:attrName>ppt_y</p:attrName>
                                        </p:attrNameLst>
                                      </p:cBhvr>
                                      <p:tavLst>
                                        <p:tav tm="0" fmla="#ppt_y-sin(pi*$)/27">
                                          <p:val>
                                            <p:fltVal val="0"/>
                                          </p:val>
                                        </p:tav>
                                        <p:tav tm="100000">
                                          <p:val>
                                            <p:fltVal val="1"/>
                                          </p:val>
                                        </p:tav>
                                      </p:tavLst>
                                    </p:anim>
                                    <p:anim calcmode="lin" valueType="num">
                                      <p:cBhvr>
                                        <p:cTn id="46" dur="45" tmFilter="0, 0; 0.125,0.2665; 0.25,0.4; 0.375,0.465; 0.5,0.5;  0.625,0.535; 0.75,0.6; 0.875,0.7335; 1,1">
                                          <p:stCondLst>
                                            <p:cond delay="455"/>
                                          </p:stCondLst>
                                        </p:cTn>
                                        <p:tgtEl>
                                          <p:spTgt spid="6"/>
                                        </p:tgtEl>
                                        <p:attrNameLst>
                                          <p:attrName>ppt_y</p:attrName>
                                        </p:attrNameLst>
                                      </p:cBhvr>
                                      <p:tavLst>
                                        <p:tav tm="0" fmla="#ppt_y-sin(pi*$)/81">
                                          <p:val>
                                            <p:fltVal val="0"/>
                                          </p:val>
                                        </p:tav>
                                        <p:tav tm="100000">
                                          <p:val>
                                            <p:fltVal val="1"/>
                                          </p:val>
                                        </p:tav>
                                      </p:tavLst>
                                    </p:anim>
                                    <p:animScale>
                                      <p:cBhvr>
                                        <p:cTn id="47" dur="7">
                                          <p:stCondLst>
                                            <p:cond delay="179"/>
                                          </p:stCondLst>
                                        </p:cTn>
                                        <p:tgtEl>
                                          <p:spTgt spid="6"/>
                                        </p:tgtEl>
                                      </p:cBhvr>
                                      <p:to x="100000" y="60000"/>
                                    </p:animScale>
                                    <p:animScale>
                                      <p:cBhvr>
                                        <p:cTn id="48" dur="46" decel="50000">
                                          <p:stCondLst>
                                            <p:cond delay="186"/>
                                          </p:stCondLst>
                                        </p:cTn>
                                        <p:tgtEl>
                                          <p:spTgt spid="6"/>
                                        </p:tgtEl>
                                      </p:cBhvr>
                                      <p:to x="100000" y="100000"/>
                                    </p:animScale>
                                    <p:animScale>
                                      <p:cBhvr>
                                        <p:cTn id="49" dur="7">
                                          <p:stCondLst>
                                            <p:cond delay="361"/>
                                          </p:stCondLst>
                                        </p:cTn>
                                        <p:tgtEl>
                                          <p:spTgt spid="6"/>
                                        </p:tgtEl>
                                      </p:cBhvr>
                                      <p:to x="100000" y="80000"/>
                                    </p:animScale>
                                    <p:animScale>
                                      <p:cBhvr>
                                        <p:cTn id="50" dur="46" decel="50000">
                                          <p:stCondLst>
                                            <p:cond delay="368"/>
                                          </p:stCondLst>
                                        </p:cTn>
                                        <p:tgtEl>
                                          <p:spTgt spid="6"/>
                                        </p:tgtEl>
                                      </p:cBhvr>
                                      <p:to x="100000" y="100000"/>
                                    </p:animScale>
                                    <p:animScale>
                                      <p:cBhvr>
                                        <p:cTn id="51" dur="7">
                                          <p:stCondLst>
                                            <p:cond delay="452"/>
                                          </p:stCondLst>
                                        </p:cTn>
                                        <p:tgtEl>
                                          <p:spTgt spid="6"/>
                                        </p:tgtEl>
                                      </p:cBhvr>
                                      <p:to x="100000" y="90000"/>
                                    </p:animScale>
                                    <p:animScale>
                                      <p:cBhvr>
                                        <p:cTn id="52" dur="46" decel="50000">
                                          <p:stCondLst>
                                            <p:cond delay="459"/>
                                          </p:stCondLst>
                                        </p:cTn>
                                        <p:tgtEl>
                                          <p:spTgt spid="6"/>
                                        </p:tgtEl>
                                      </p:cBhvr>
                                      <p:to x="100000" y="100000"/>
                                    </p:animScale>
                                    <p:animScale>
                                      <p:cBhvr>
                                        <p:cTn id="53" dur="7">
                                          <p:stCondLst>
                                            <p:cond delay="497"/>
                                          </p:stCondLst>
                                        </p:cTn>
                                        <p:tgtEl>
                                          <p:spTgt spid="6"/>
                                        </p:tgtEl>
                                      </p:cBhvr>
                                      <p:to x="100000" y="95000"/>
                                    </p:animScale>
                                    <p:animScale>
                                      <p:cBhvr>
                                        <p:cTn id="54" dur="46" decel="50000">
                                          <p:stCondLst>
                                            <p:cond delay="504"/>
                                          </p:stCondLst>
                                        </p:cTn>
                                        <p:tgtEl>
                                          <p:spTgt spid="6"/>
                                        </p:tgtEl>
                                      </p:cBhvr>
                                      <p:to x="100000" y="100000"/>
                                    </p:animScale>
                                  </p:childTnLst>
                                </p:cTn>
                              </p:par>
                            </p:childTnLst>
                          </p:cTn>
                        </p:par>
                        <p:par>
                          <p:cTn id="55" fill="hold">
                            <p:stCondLst>
                              <p:cond delay="1650"/>
                            </p:stCondLst>
                            <p:childTnLst>
                              <p:par>
                                <p:cTn id="56" presetID="26" presetClass="entr" presetSubtype="0" fill="hold" nodeType="afterEffect">
                                  <p:stCondLst>
                                    <p:cond delay="0"/>
                                  </p:stCondLst>
                                  <p:childTnLst>
                                    <p:set>
                                      <p:cBhvr>
                                        <p:cTn id="57" dur="1" fill="hold">
                                          <p:stCondLst>
                                            <p:cond delay="0"/>
                                          </p:stCondLst>
                                        </p:cTn>
                                        <p:tgtEl>
                                          <p:spTgt spid="7"/>
                                        </p:tgtEl>
                                        <p:attrNameLst>
                                          <p:attrName>style.visibility</p:attrName>
                                        </p:attrNameLst>
                                      </p:cBhvr>
                                      <p:to>
                                        <p:strVal val="visible"/>
                                      </p:to>
                                    </p:set>
                                    <p:animEffect transition="in" filter="wipe(down)">
                                      <p:cBhvr>
                                        <p:cTn id="58" dur="160">
                                          <p:stCondLst>
                                            <p:cond delay="0"/>
                                          </p:stCondLst>
                                        </p:cTn>
                                        <p:tgtEl>
                                          <p:spTgt spid="7"/>
                                        </p:tgtEl>
                                      </p:cBhvr>
                                    </p:animEffect>
                                    <p:anim calcmode="lin" valueType="num">
                                      <p:cBhvr>
                                        <p:cTn id="59" dur="501"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60" dur="183"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61" dur="183" tmFilter="0, 0; 0.125,0.2665; 0.25,0.4; 0.375,0.465; 0.5,0.5;  0.625,0.535; 0.75,0.6; 0.875,0.7335; 1,1">
                                          <p:stCondLst>
                                            <p:cond delay="183"/>
                                          </p:stCondLst>
                                        </p:cTn>
                                        <p:tgtEl>
                                          <p:spTgt spid="7"/>
                                        </p:tgtEl>
                                        <p:attrNameLst>
                                          <p:attrName>ppt_y</p:attrName>
                                        </p:attrNameLst>
                                      </p:cBhvr>
                                      <p:tavLst>
                                        <p:tav tm="0" fmla="#ppt_y-sin(pi*$)/9">
                                          <p:val>
                                            <p:fltVal val="0"/>
                                          </p:val>
                                        </p:tav>
                                        <p:tav tm="100000">
                                          <p:val>
                                            <p:fltVal val="1"/>
                                          </p:val>
                                        </p:tav>
                                      </p:tavLst>
                                    </p:anim>
                                    <p:anim calcmode="lin" valueType="num">
                                      <p:cBhvr>
                                        <p:cTn id="62" dur="91" tmFilter="0, 0; 0.125,0.2665; 0.25,0.4; 0.375,0.465; 0.5,0.5;  0.625,0.535; 0.75,0.6; 0.875,0.7335; 1,1">
                                          <p:stCondLst>
                                            <p:cond delay="364"/>
                                          </p:stCondLst>
                                        </p:cTn>
                                        <p:tgtEl>
                                          <p:spTgt spid="7"/>
                                        </p:tgtEl>
                                        <p:attrNameLst>
                                          <p:attrName>ppt_y</p:attrName>
                                        </p:attrNameLst>
                                      </p:cBhvr>
                                      <p:tavLst>
                                        <p:tav tm="0" fmla="#ppt_y-sin(pi*$)/27">
                                          <p:val>
                                            <p:fltVal val="0"/>
                                          </p:val>
                                        </p:tav>
                                        <p:tav tm="100000">
                                          <p:val>
                                            <p:fltVal val="1"/>
                                          </p:val>
                                        </p:tav>
                                      </p:tavLst>
                                    </p:anim>
                                    <p:anim calcmode="lin" valueType="num">
                                      <p:cBhvr>
                                        <p:cTn id="63" dur="45" tmFilter="0, 0; 0.125,0.2665; 0.25,0.4; 0.375,0.465; 0.5,0.5;  0.625,0.535; 0.75,0.6; 0.875,0.7335; 1,1">
                                          <p:stCondLst>
                                            <p:cond delay="455"/>
                                          </p:stCondLst>
                                        </p:cTn>
                                        <p:tgtEl>
                                          <p:spTgt spid="7"/>
                                        </p:tgtEl>
                                        <p:attrNameLst>
                                          <p:attrName>ppt_y</p:attrName>
                                        </p:attrNameLst>
                                      </p:cBhvr>
                                      <p:tavLst>
                                        <p:tav tm="0" fmla="#ppt_y-sin(pi*$)/81">
                                          <p:val>
                                            <p:fltVal val="0"/>
                                          </p:val>
                                        </p:tav>
                                        <p:tav tm="100000">
                                          <p:val>
                                            <p:fltVal val="1"/>
                                          </p:val>
                                        </p:tav>
                                      </p:tavLst>
                                    </p:anim>
                                    <p:animScale>
                                      <p:cBhvr>
                                        <p:cTn id="64" dur="7">
                                          <p:stCondLst>
                                            <p:cond delay="179"/>
                                          </p:stCondLst>
                                        </p:cTn>
                                        <p:tgtEl>
                                          <p:spTgt spid="7"/>
                                        </p:tgtEl>
                                      </p:cBhvr>
                                      <p:to x="100000" y="60000"/>
                                    </p:animScale>
                                    <p:animScale>
                                      <p:cBhvr>
                                        <p:cTn id="65" dur="46" decel="50000">
                                          <p:stCondLst>
                                            <p:cond delay="186"/>
                                          </p:stCondLst>
                                        </p:cTn>
                                        <p:tgtEl>
                                          <p:spTgt spid="7"/>
                                        </p:tgtEl>
                                      </p:cBhvr>
                                      <p:to x="100000" y="100000"/>
                                    </p:animScale>
                                    <p:animScale>
                                      <p:cBhvr>
                                        <p:cTn id="66" dur="7">
                                          <p:stCondLst>
                                            <p:cond delay="361"/>
                                          </p:stCondLst>
                                        </p:cTn>
                                        <p:tgtEl>
                                          <p:spTgt spid="7"/>
                                        </p:tgtEl>
                                      </p:cBhvr>
                                      <p:to x="100000" y="80000"/>
                                    </p:animScale>
                                    <p:animScale>
                                      <p:cBhvr>
                                        <p:cTn id="67" dur="46" decel="50000">
                                          <p:stCondLst>
                                            <p:cond delay="368"/>
                                          </p:stCondLst>
                                        </p:cTn>
                                        <p:tgtEl>
                                          <p:spTgt spid="7"/>
                                        </p:tgtEl>
                                      </p:cBhvr>
                                      <p:to x="100000" y="100000"/>
                                    </p:animScale>
                                    <p:animScale>
                                      <p:cBhvr>
                                        <p:cTn id="68" dur="7">
                                          <p:stCondLst>
                                            <p:cond delay="452"/>
                                          </p:stCondLst>
                                        </p:cTn>
                                        <p:tgtEl>
                                          <p:spTgt spid="7"/>
                                        </p:tgtEl>
                                      </p:cBhvr>
                                      <p:to x="100000" y="90000"/>
                                    </p:animScale>
                                    <p:animScale>
                                      <p:cBhvr>
                                        <p:cTn id="69" dur="46" decel="50000">
                                          <p:stCondLst>
                                            <p:cond delay="459"/>
                                          </p:stCondLst>
                                        </p:cTn>
                                        <p:tgtEl>
                                          <p:spTgt spid="7"/>
                                        </p:tgtEl>
                                      </p:cBhvr>
                                      <p:to x="100000" y="100000"/>
                                    </p:animScale>
                                    <p:animScale>
                                      <p:cBhvr>
                                        <p:cTn id="70" dur="7">
                                          <p:stCondLst>
                                            <p:cond delay="497"/>
                                          </p:stCondLst>
                                        </p:cTn>
                                        <p:tgtEl>
                                          <p:spTgt spid="7"/>
                                        </p:tgtEl>
                                      </p:cBhvr>
                                      <p:to x="100000" y="95000"/>
                                    </p:animScale>
                                    <p:animScale>
                                      <p:cBhvr>
                                        <p:cTn id="71" dur="46" decel="50000">
                                          <p:stCondLst>
                                            <p:cond delay="504"/>
                                          </p:stCondLst>
                                        </p:cTn>
                                        <p:tgtEl>
                                          <p:spTgt spid="7"/>
                                        </p:tgtEl>
                                      </p:cBhvr>
                                      <p:to x="100000" y="100000"/>
                                    </p:animScale>
                                  </p:childTnLst>
                                </p:cTn>
                              </p:par>
                            </p:childTnLst>
                          </p:cTn>
                        </p:par>
                        <p:par>
                          <p:cTn id="72" fill="hold">
                            <p:stCondLst>
                              <p:cond delay="2200"/>
                            </p:stCondLst>
                            <p:childTnLst>
                              <p:par>
                                <p:cTn id="73" presetID="26" presetClass="entr" presetSubtype="0" fill="hold" nodeType="afterEffect">
                                  <p:stCondLst>
                                    <p:cond delay="0"/>
                                  </p:stCondLst>
                                  <p:childTnLst>
                                    <p:set>
                                      <p:cBhvr>
                                        <p:cTn id="74" dur="1" fill="hold">
                                          <p:stCondLst>
                                            <p:cond delay="0"/>
                                          </p:stCondLst>
                                        </p:cTn>
                                        <p:tgtEl>
                                          <p:spTgt spid="8"/>
                                        </p:tgtEl>
                                        <p:attrNameLst>
                                          <p:attrName>style.visibility</p:attrName>
                                        </p:attrNameLst>
                                      </p:cBhvr>
                                      <p:to>
                                        <p:strVal val="visible"/>
                                      </p:to>
                                    </p:set>
                                    <p:animEffect transition="in" filter="wipe(down)">
                                      <p:cBhvr>
                                        <p:cTn id="75" dur="160">
                                          <p:stCondLst>
                                            <p:cond delay="0"/>
                                          </p:stCondLst>
                                        </p:cTn>
                                        <p:tgtEl>
                                          <p:spTgt spid="8"/>
                                        </p:tgtEl>
                                      </p:cBhvr>
                                    </p:animEffect>
                                    <p:anim calcmode="lin" valueType="num">
                                      <p:cBhvr>
                                        <p:cTn id="76" dur="501"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77" dur="183"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78" dur="183" tmFilter="0, 0; 0.125,0.2665; 0.25,0.4; 0.375,0.465; 0.5,0.5;  0.625,0.535; 0.75,0.6; 0.875,0.7335; 1,1">
                                          <p:stCondLst>
                                            <p:cond delay="183"/>
                                          </p:stCondLst>
                                        </p:cTn>
                                        <p:tgtEl>
                                          <p:spTgt spid="8"/>
                                        </p:tgtEl>
                                        <p:attrNameLst>
                                          <p:attrName>ppt_y</p:attrName>
                                        </p:attrNameLst>
                                      </p:cBhvr>
                                      <p:tavLst>
                                        <p:tav tm="0" fmla="#ppt_y-sin(pi*$)/9">
                                          <p:val>
                                            <p:fltVal val="0"/>
                                          </p:val>
                                        </p:tav>
                                        <p:tav tm="100000">
                                          <p:val>
                                            <p:fltVal val="1"/>
                                          </p:val>
                                        </p:tav>
                                      </p:tavLst>
                                    </p:anim>
                                    <p:anim calcmode="lin" valueType="num">
                                      <p:cBhvr>
                                        <p:cTn id="79" dur="91" tmFilter="0, 0; 0.125,0.2665; 0.25,0.4; 0.375,0.465; 0.5,0.5;  0.625,0.535; 0.75,0.6; 0.875,0.7335; 1,1">
                                          <p:stCondLst>
                                            <p:cond delay="364"/>
                                          </p:stCondLst>
                                        </p:cTn>
                                        <p:tgtEl>
                                          <p:spTgt spid="8"/>
                                        </p:tgtEl>
                                        <p:attrNameLst>
                                          <p:attrName>ppt_y</p:attrName>
                                        </p:attrNameLst>
                                      </p:cBhvr>
                                      <p:tavLst>
                                        <p:tav tm="0" fmla="#ppt_y-sin(pi*$)/27">
                                          <p:val>
                                            <p:fltVal val="0"/>
                                          </p:val>
                                        </p:tav>
                                        <p:tav tm="100000">
                                          <p:val>
                                            <p:fltVal val="1"/>
                                          </p:val>
                                        </p:tav>
                                      </p:tavLst>
                                    </p:anim>
                                    <p:anim calcmode="lin" valueType="num">
                                      <p:cBhvr>
                                        <p:cTn id="80" dur="45" tmFilter="0, 0; 0.125,0.2665; 0.25,0.4; 0.375,0.465; 0.5,0.5;  0.625,0.535; 0.75,0.6; 0.875,0.7335; 1,1">
                                          <p:stCondLst>
                                            <p:cond delay="455"/>
                                          </p:stCondLst>
                                        </p:cTn>
                                        <p:tgtEl>
                                          <p:spTgt spid="8"/>
                                        </p:tgtEl>
                                        <p:attrNameLst>
                                          <p:attrName>ppt_y</p:attrName>
                                        </p:attrNameLst>
                                      </p:cBhvr>
                                      <p:tavLst>
                                        <p:tav tm="0" fmla="#ppt_y-sin(pi*$)/81">
                                          <p:val>
                                            <p:fltVal val="0"/>
                                          </p:val>
                                        </p:tav>
                                        <p:tav tm="100000">
                                          <p:val>
                                            <p:fltVal val="1"/>
                                          </p:val>
                                        </p:tav>
                                      </p:tavLst>
                                    </p:anim>
                                    <p:animScale>
                                      <p:cBhvr>
                                        <p:cTn id="81" dur="7">
                                          <p:stCondLst>
                                            <p:cond delay="179"/>
                                          </p:stCondLst>
                                        </p:cTn>
                                        <p:tgtEl>
                                          <p:spTgt spid="8"/>
                                        </p:tgtEl>
                                      </p:cBhvr>
                                      <p:to x="100000" y="60000"/>
                                    </p:animScale>
                                    <p:animScale>
                                      <p:cBhvr>
                                        <p:cTn id="82" dur="46" decel="50000">
                                          <p:stCondLst>
                                            <p:cond delay="186"/>
                                          </p:stCondLst>
                                        </p:cTn>
                                        <p:tgtEl>
                                          <p:spTgt spid="8"/>
                                        </p:tgtEl>
                                      </p:cBhvr>
                                      <p:to x="100000" y="100000"/>
                                    </p:animScale>
                                    <p:animScale>
                                      <p:cBhvr>
                                        <p:cTn id="83" dur="7">
                                          <p:stCondLst>
                                            <p:cond delay="361"/>
                                          </p:stCondLst>
                                        </p:cTn>
                                        <p:tgtEl>
                                          <p:spTgt spid="8"/>
                                        </p:tgtEl>
                                      </p:cBhvr>
                                      <p:to x="100000" y="80000"/>
                                    </p:animScale>
                                    <p:animScale>
                                      <p:cBhvr>
                                        <p:cTn id="84" dur="46" decel="50000">
                                          <p:stCondLst>
                                            <p:cond delay="368"/>
                                          </p:stCondLst>
                                        </p:cTn>
                                        <p:tgtEl>
                                          <p:spTgt spid="8"/>
                                        </p:tgtEl>
                                      </p:cBhvr>
                                      <p:to x="100000" y="100000"/>
                                    </p:animScale>
                                    <p:animScale>
                                      <p:cBhvr>
                                        <p:cTn id="85" dur="7">
                                          <p:stCondLst>
                                            <p:cond delay="452"/>
                                          </p:stCondLst>
                                        </p:cTn>
                                        <p:tgtEl>
                                          <p:spTgt spid="8"/>
                                        </p:tgtEl>
                                      </p:cBhvr>
                                      <p:to x="100000" y="90000"/>
                                    </p:animScale>
                                    <p:animScale>
                                      <p:cBhvr>
                                        <p:cTn id="86" dur="46" decel="50000">
                                          <p:stCondLst>
                                            <p:cond delay="459"/>
                                          </p:stCondLst>
                                        </p:cTn>
                                        <p:tgtEl>
                                          <p:spTgt spid="8"/>
                                        </p:tgtEl>
                                      </p:cBhvr>
                                      <p:to x="100000" y="100000"/>
                                    </p:animScale>
                                    <p:animScale>
                                      <p:cBhvr>
                                        <p:cTn id="87" dur="7">
                                          <p:stCondLst>
                                            <p:cond delay="497"/>
                                          </p:stCondLst>
                                        </p:cTn>
                                        <p:tgtEl>
                                          <p:spTgt spid="8"/>
                                        </p:tgtEl>
                                      </p:cBhvr>
                                      <p:to x="100000" y="95000"/>
                                    </p:animScale>
                                    <p:animScale>
                                      <p:cBhvr>
                                        <p:cTn id="88" dur="46" decel="50000">
                                          <p:stCondLst>
                                            <p:cond delay="504"/>
                                          </p:stCondLst>
                                        </p:cTn>
                                        <p:tgtEl>
                                          <p:spTgt spid="8"/>
                                        </p:tgtEl>
                                      </p:cBhvr>
                                      <p:to x="100000" y="100000"/>
                                    </p:animScale>
                                  </p:childTnLst>
                                </p:cTn>
                              </p:par>
                            </p:childTnLst>
                          </p:cTn>
                        </p:par>
                        <p:par>
                          <p:cTn id="89" fill="hold">
                            <p:stCondLst>
                              <p:cond delay="2750"/>
                            </p:stCondLst>
                            <p:childTnLst>
                              <p:par>
                                <p:cTn id="90" presetID="37" presetClass="entr" presetSubtype="0" fill="hold" grpId="0" nodeType="afterEffect">
                                  <p:stCondLst>
                                    <p:cond delay="0"/>
                                  </p:stCondLst>
                                  <p:childTnLst>
                                    <p:set>
                                      <p:cBhvr>
                                        <p:cTn id="91" dur="1" fill="hold">
                                          <p:stCondLst>
                                            <p:cond delay="0"/>
                                          </p:stCondLst>
                                        </p:cTn>
                                        <p:tgtEl>
                                          <p:spTgt spid="9"/>
                                        </p:tgtEl>
                                        <p:attrNameLst>
                                          <p:attrName>style.visibility</p:attrName>
                                        </p:attrNameLst>
                                      </p:cBhvr>
                                      <p:to>
                                        <p:strVal val="visible"/>
                                      </p:to>
                                    </p:set>
                                    <p:animEffect transition="in" filter="fade">
                                      <p:cBhvr>
                                        <p:cTn id="92" dur="500"/>
                                        <p:tgtEl>
                                          <p:spTgt spid="9"/>
                                        </p:tgtEl>
                                      </p:cBhvr>
                                    </p:animEffect>
                                    <p:anim calcmode="lin" valueType="num">
                                      <p:cBhvr>
                                        <p:cTn id="93" dur="500" fill="hold"/>
                                        <p:tgtEl>
                                          <p:spTgt spid="9"/>
                                        </p:tgtEl>
                                        <p:attrNameLst>
                                          <p:attrName>ppt_x</p:attrName>
                                        </p:attrNameLst>
                                      </p:cBhvr>
                                      <p:tavLst>
                                        <p:tav tm="0">
                                          <p:val>
                                            <p:strVal val="#ppt_x"/>
                                          </p:val>
                                        </p:tav>
                                        <p:tav tm="100000">
                                          <p:val>
                                            <p:strVal val="#ppt_x"/>
                                          </p:val>
                                        </p:tav>
                                      </p:tavLst>
                                    </p:anim>
                                    <p:anim calcmode="lin" valueType="num">
                                      <p:cBhvr>
                                        <p:cTn id="94" dur="450" decel="100000" fill="hold"/>
                                        <p:tgtEl>
                                          <p:spTgt spid="9"/>
                                        </p:tgtEl>
                                        <p:attrNameLst>
                                          <p:attrName>ppt_y</p:attrName>
                                        </p:attrNameLst>
                                      </p:cBhvr>
                                      <p:tavLst>
                                        <p:tav tm="0">
                                          <p:val>
                                            <p:strVal val="#ppt_y+1"/>
                                          </p:val>
                                        </p:tav>
                                        <p:tav tm="100000">
                                          <p:val>
                                            <p:strVal val="#ppt_y-.03"/>
                                          </p:val>
                                        </p:tav>
                                      </p:tavLst>
                                    </p:anim>
                                    <p:anim calcmode="lin" valueType="num">
                                      <p:cBhvr>
                                        <p:cTn id="95" dur="50" accel="100000" fill="hold">
                                          <p:stCondLst>
                                            <p:cond delay="450"/>
                                          </p:stCondLst>
                                        </p:cTn>
                                        <p:tgtEl>
                                          <p:spTgt spid="9"/>
                                        </p:tgtEl>
                                        <p:attrNameLst>
                                          <p:attrName>ppt_y</p:attrName>
                                        </p:attrNameLst>
                                      </p:cBhvr>
                                      <p:tavLst>
                                        <p:tav tm="0">
                                          <p:val>
                                            <p:strVal val="#ppt_y-.03"/>
                                          </p:val>
                                        </p:tav>
                                        <p:tav tm="100000">
                                          <p:val>
                                            <p:strVal val="#ppt_y"/>
                                          </p:val>
                                        </p:tav>
                                      </p:tavLst>
                                    </p:anim>
                                  </p:childTnLst>
                                </p:cTn>
                              </p:par>
                            </p:childTnLst>
                          </p:cTn>
                        </p:par>
                        <p:par>
                          <p:cTn id="96" fill="hold">
                            <p:stCondLst>
                              <p:cond delay="3250"/>
                            </p:stCondLst>
                            <p:childTnLst>
                              <p:par>
                                <p:cTn id="97" presetID="37" presetClass="entr" presetSubtype="0" fill="hold" grpId="0" nodeType="afterEffect">
                                  <p:stCondLst>
                                    <p:cond delay="0"/>
                                  </p:stCondLst>
                                  <p:childTnLst>
                                    <p:set>
                                      <p:cBhvr>
                                        <p:cTn id="98" dur="1" fill="hold">
                                          <p:stCondLst>
                                            <p:cond delay="0"/>
                                          </p:stCondLst>
                                        </p:cTn>
                                        <p:tgtEl>
                                          <p:spTgt spid="10"/>
                                        </p:tgtEl>
                                        <p:attrNameLst>
                                          <p:attrName>style.visibility</p:attrName>
                                        </p:attrNameLst>
                                      </p:cBhvr>
                                      <p:to>
                                        <p:strVal val="visible"/>
                                      </p:to>
                                    </p:set>
                                    <p:animEffect transition="in" filter="fade">
                                      <p:cBhvr>
                                        <p:cTn id="99" dur="500"/>
                                        <p:tgtEl>
                                          <p:spTgt spid="10"/>
                                        </p:tgtEl>
                                      </p:cBhvr>
                                    </p:animEffect>
                                    <p:anim calcmode="lin" valueType="num">
                                      <p:cBhvr>
                                        <p:cTn id="100" dur="500" fill="hold"/>
                                        <p:tgtEl>
                                          <p:spTgt spid="10"/>
                                        </p:tgtEl>
                                        <p:attrNameLst>
                                          <p:attrName>ppt_x</p:attrName>
                                        </p:attrNameLst>
                                      </p:cBhvr>
                                      <p:tavLst>
                                        <p:tav tm="0">
                                          <p:val>
                                            <p:strVal val="#ppt_x"/>
                                          </p:val>
                                        </p:tav>
                                        <p:tav tm="100000">
                                          <p:val>
                                            <p:strVal val="#ppt_x"/>
                                          </p:val>
                                        </p:tav>
                                      </p:tavLst>
                                    </p:anim>
                                    <p:anim calcmode="lin" valueType="num">
                                      <p:cBhvr>
                                        <p:cTn id="101" dur="450" decel="100000" fill="hold"/>
                                        <p:tgtEl>
                                          <p:spTgt spid="10"/>
                                        </p:tgtEl>
                                        <p:attrNameLst>
                                          <p:attrName>ppt_y</p:attrName>
                                        </p:attrNameLst>
                                      </p:cBhvr>
                                      <p:tavLst>
                                        <p:tav tm="0">
                                          <p:val>
                                            <p:strVal val="#ppt_y+1"/>
                                          </p:val>
                                        </p:tav>
                                        <p:tav tm="100000">
                                          <p:val>
                                            <p:strVal val="#ppt_y-.03"/>
                                          </p:val>
                                        </p:tav>
                                      </p:tavLst>
                                    </p:anim>
                                    <p:anim calcmode="lin" valueType="num">
                                      <p:cBhvr>
                                        <p:cTn id="102" dur="50" accel="100000" fill="hold">
                                          <p:stCondLst>
                                            <p:cond delay="450"/>
                                          </p:stCondLst>
                                        </p:cTn>
                                        <p:tgtEl>
                                          <p:spTgt spid="10"/>
                                        </p:tgtEl>
                                        <p:attrNameLst>
                                          <p:attrName>ppt_y</p:attrName>
                                        </p:attrNameLst>
                                      </p:cBhvr>
                                      <p:tavLst>
                                        <p:tav tm="0">
                                          <p:val>
                                            <p:strVal val="#ppt_y-.03"/>
                                          </p:val>
                                        </p:tav>
                                        <p:tav tm="100000">
                                          <p:val>
                                            <p:strVal val="#ppt_y"/>
                                          </p:val>
                                        </p:tav>
                                      </p:tavLst>
                                    </p:anim>
                                  </p:childTnLst>
                                </p:cTn>
                              </p:par>
                            </p:childTnLst>
                          </p:cTn>
                        </p:par>
                        <p:par>
                          <p:cTn id="103" fill="hold">
                            <p:stCondLst>
                              <p:cond delay="3750"/>
                            </p:stCondLst>
                            <p:childTnLst>
                              <p:par>
                                <p:cTn id="104" presetID="37" presetClass="entr" presetSubtype="0" fill="hold" grpId="0" nodeType="afterEffect">
                                  <p:stCondLst>
                                    <p:cond delay="0"/>
                                  </p:stCondLst>
                                  <p:childTnLst>
                                    <p:set>
                                      <p:cBhvr>
                                        <p:cTn id="105" dur="1" fill="hold">
                                          <p:stCondLst>
                                            <p:cond delay="0"/>
                                          </p:stCondLst>
                                        </p:cTn>
                                        <p:tgtEl>
                                          <p:spTgt spid="11"/>
                                        </p:tgtEl>
                                        <p:attrNameLst>
                                          <p:attrName>style.visibility</p:attrName>
                                        </p:attrNameLst>
                                      </p:cBhvr>
                                      <p:to>
                                        <p:strVal val="visible"/>
                                      </p:to>
                                    </p:set>
                                    <p:animEffect transition="in" filter="fade">
                                      <p:cBhvr>
                                        <p:cTn id="106" dur="500"/>
                                        <p:tgtEl>
                                          <p:spTgt spid="11"/>
                                        </p:tgtEl>
                                      </p:cBhvr>
                                    </p:animEffect>
                                    <p:anim calcmode="lin" valueType="num">
                                      <p:cBhvr>
                                        <p:cTn id="107" dur="500" fill="hold"/>
                                        <p:tgtEl>
                                          <p:spTgt spid="11"/>
                                        </p:tgtEl>
                                        <p:attrNameLst>
                                          <p:attrName>ppt_x</p:attrName>
                                        </p:attrNameLst>
                                      </p:cBhvr>
                                      <p:tavLst>
                                        <p:tav tm="0">
                                          <p:val>
                                            <p:strVal val="#ppt_x"/>
                                          </p:val>
                                        </p:tav>
                                        <p:tav tm="100000">
                                          <p:val>
                                            <p:strVal val="#ppt_x"/>
                                          </p:val>
                                        </p:tav>
                                      </p:tavLst>
                                    </p:anim>
                                    <p:anim calcmode="lin" valueType="num">
                                      <p:cBhvr>
                                        <p:cTn id="108" dur="450" decel="100000" fill="hold"/>
                                        <p:tgtEl>
                                          <p:spTgt spid="11"/>
                                        </p:tgtEl>
                                        <p:attrNameLst>
                                          <p:attrName>ppt_y</p:attrName>
                                        </p:attrNameLst>
                                      </p:cBhvr>
                                      <p:tavLst>
                                        <p:tav tm="0">
                                          <p:val>
                                            <p:strVal val="#ppt_y+1"/>
                                          </p:val>
                                        </p:tav>
                                        <p:tav tm="100000">
                                          <p:val>
                                            <p:strVal val="#ppt_y-.03"/>
                                          </p:val>
                                        </p:tav>
                                      </p:tavLst>
                                    </p:anim>
                                    <p:anim calcmode="lin" valueType="num">
                                      <p:cBhvr>
                                        <p:cTn id="109" dur="50" accel="100000" fill="hold">
                                          <p:stCondLst>
                                            <p:cond delay="450"/>
                                          </p:stCondLst>
                                        </p:cTn>
                                        <p:tgtEl>
                                          <p:spTgt spid="11"/>
                                        </p:tgtEl>
                                        <p:attrNameLst>
                                          <p:attrName>ppt_y</p:attrName>
                                        </p:attrNameLst>
                                      </p:cBhvr>
                                      <p:tavLst>
                                        <p:tav tm="0">
                                          <p:val>
                                            <p:strVal val="#ppt_y-.03"/>
                                          </p:val>
                                        </p:tav>
                                        <p:tav tm="100000">
                                          <p:val>
                                            <p:strVal val="#ppt_y"/>
                                          </p:val>
                                        </p:tav>
                                      </p:tavLst>
                                    </p:anim>
                                  </p:childTnLst>
                                </p:cTn>
                              </p:par>
                            </p:childTnLst>
                          </p:cTn>
                        </p:par>
                        <p:par>
                          <p:cTn id="110" fill="hold">
                            <p:stCondLst>
                              <p:cond delay="4250"/>
                            </p:stCondLst>
                            <p:childTnLst>
                              <p:par>
                                <p:cTn id="111" presetID="37" presetClass="entr" presetSubtype="0" fill="hold" grpId="0" nodeType="afterEffect">
                                  <p:stCondLst>
                                    <p:cond delay="0"/>
                                  </p:stCondLst>
                                  <p:childTnLst>
                                    <p:set>
                                      <p:cBhvr>
                                        <p:cTn id="112" dur="1" fill="hold">
                                          <p:stCondLst>
                                            <p:cond delay="0"/>
                                          </p:stCondLst>
                                        </p:cTn>
                                        <p:tgtEl>
                                          <p:spTgt spid="12"/>
                                        </p:tgtEl>
                                        <p:attrNameLst>
                                          <p:attrName>style.visibility</p:attrName>
                                        </p:attrNameLst>
                                      </p:cBhvr>
                                      <p:to>
                                        <p:strVal val="visible"/>
                                      </p:to>
                                    </p:set>
                                    <p:animEffect transition="in" filter="fade">
                                      <p:cBhvr>
                                        <p:cTn id="113" dur="500"/>
                                        <p:tgtEl>
                                          <p:spTgt spid="12"/>
                                        </p:tgtEl>
                                      </p:cBhvr>
                                    </p:animEffect>
                                    <p:anim calcmode="lin" valueType="num">
                                      <p:cBhvr>
                                        <p:cTn id="114" dur="500" fill="hold"/>
                                        <p:tgtEl>
                                          <p:spTgt spid="12"/>
                                        </p:tgtEl>
                                        <p:attrNameLst>
                                          <p:attrName>ppt_x</p:attrName>
                                        </p:attrNameLst>
                                      </p:cBhvr>
                                      <p:tavLst>
                                        <p:tav tm="0">
                                          <p:val>
                                            <p:strVal val="#ppt_x"/>
                                          </p:val>
                                        </p:tav>
                                        <p:tav tm="100000">
                                          <p:val>
                                            <p:strVal val="#ppt_x"/>
                                          </p:val>
                                        </p:tav>
                                      </p:tavLst>
                                    </p:anim>
                                    <p:anim calcmode="lin" valueType="num">
                                      <p:cBhvr>
                                        <p:cTn id="115" dur="450" decel="100000" fill="hold"/>
                                        <p:tgtEl>
                                          <p:spTgt spid="12"/>
                                        </p:tgtEl>
                                        <p:attrNameLst>
                                          <p:attrName>ppt_y</p:attrName>
                                        </p:attrNameLst>
                                      </p:cBhvr>
                                      <p:tavLst>
                                        <p:tav tm="0">
                                          <p:val>
                                            <p:strVal val="#ppt_y+1"/>
                                          </p:val>
                                        </p:tav>
                                        <p:tav tm="100000">
                                          <p:val>
                                            <p:strVal val="#ppt_y-.03"/>
                                          </p:val>
                                        </p:tav>
                                      </p:tavLst>
                                    </p:anim>
                                    <p:anim calcmode="lin" valueType="num">
                                      <p:cBhvr>
                                        <p:cTn id="116"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eyebrow"/>
          <p:cNvSpPr txBox="1"/>
          <p:nvPr/>
        </p:nvSpPr>
        <p:spPr>
          <a:xfrm>
            <a:off x="812800" y="774700"/>
            <a:ext cx="8890000" cy="254000"/>
          </a:xfrm>
          <a:prstGeom prst="rect">
            <a:avLst/>
          </a:prstGeom>
          <a:noFill/>
          <a:ln/>
        </p:spPr>
        <p:txBody>
          <a:bodyPr wrap="square" lIns="0" tIns="0" rIns="0" bIns="0" rtlCol="0" anchor="ctr"/>
          <a:lstStyle/>
          <a:p>
            <a:pPr marL="0" indent="0">
              <a:buNone/>
            </a:pPr>
            <a:r>
              <a:rPr lang="en-US" sz="1200" b="1" kern="0" spc="300" dirty="0">
                <a:solidFill>
                  <a:srgbClr val="E8792B"/>
                </a:solidFill>
                <a:latin typeface="Calibri" pitchFamily="34" charset="0"/>
                <a:ea typeface="Calibri" pitchFamily="34" charset="-122"/>
                <a:cs typeface="Calibri" pitchFamily="34" charset="-120"/>
              </a:rPr>
              <a:t>RESULTS</a:t>
            </a:r>
            <a:endParaRPr lang="en-US" sz="1200" dirty="0"/>
          </a:p>
        </p:txBody>
      </p:sp>
      <p:sp>
        <p:nvSpPr>
          <p:cNvPr id="3" name="!!title"/>
          <p:cNvSpPr txBox="1"/>
          <p:nvPr/>
        </p:nvSpPr>
        <p:spPr>
          <a:xfrm>
            <a:off x="812800" y="1054100"/>
            <a:ext cx="10566400" cy="558800"/>
          </a:xfrm>
          <a:prstGeom prst="rect">
            <a:avLst/>
          </a:prstGeom>
          <a:noFill/>
          <a:ln/>
        </p:spPr>
        <p:txBody>
          <a:bodyPr wrap="square" lIns="0" tIns="0" rIns="0" bIns="0" rtlCol="0" anchor="ctr"/>
          <a:lstStyle/>
          <a:p>
            <a:pPr marL="0" indent="0">
              <a:buNone/>
            </a:pPr>
            <a:r>
              <a:rPr lang="en-US" sz="3200" b="1" dirty="0">
                <a:solidFill>
                  <a:srgbClr val="F6F1E7"/>
                </a:solidFill>
                <a:latin typeface="Arial" pitchFamily="34" charset="0"/>
                <a:ea typeface="Arial" pitchFamily="34" charset="-122"/>
                <a:cs typeface="Arial" pitchFamily="34" charset="-120"/>
              </a:rPr>
              <a:t>Precision pays, mistakes cost</a:t>
            </a:r>
            <a:endParaRPr lang="en-US" sz="3200" dirty="0"/>
          </a:p>
        </p:txBody>
      </p:sp>
      <p:sp>
        <p:nvSpPr>
          <p:cNvPr id="4" name="s10-stat1"/>
          <p:cNvSpPr txBox="1"/>
          <p:nvPr/>
        </p:nvSpPr>
        <p:spPr>
          <a:xfrm>
            <a:off x="812800" y="1879600"/>
            <a:ext cx="2527300" cy="1397000"/>
          </a:xfrm>
          <a:prstGeom prst="roundRect">
            <a:avLst>
              <a:gd name="adj" fmla="val 7855"/>
            </a:avLst>
          </a:prstGeom>
          <a:solidFill>
            <a:srgbClr val="171D25"/>
          </a:solidFill>
          <a:ln w="9525">
            <a:solidFill>
              <a:srgbClr val="2B333E"/>
            </a:solidFill>
          </a:ln>
        </p:spPr>
        <p:txBody>
          <a:bodyPr wrap="square" lIns="177800" tIns="177800" rIns="177800" bIns="177800" rtlCol="0" anchor="t"/>
          <a:lstStyle/>
          <a:p>
            <a:pPr marL="0" indent="0">
              <a:spcAft>
                <a:spcPts val="600"/>
              </a:spcAft>
              <a:buNone/>
            </a:pPr>
            <a:r>
              <a:rPr lang="en-US" sz="3200" b="1" dirty="0">
                <a:solidFill>
                  <a:srgbClr val="7FE0D3"/>
                </a:solidFill>
                <a:latin typeface="Arial" pitchFamily="34" charset="0"/>
                <a:ea typeface="Arial" pitchFamily="34" charset="-122"/>
                <a:cs typeface="Arial" pitchFamily="34" charset="-120"/>
              </a:rPr>
              <a:t>100%</a:t>
            </a:r>
            <a:endParaRPr lang="en-US" sz="3200" dirty="0"/>
          </a:p>
          <a:p>
            <a:pPr marL="0" indent="0">
              <a:buNone/>
            </a:pPr>
            <a:r>
              <a:rPr lang="en-US" sz="1300" dirty="0">
                <a:solidFill>
                  <a:srgbClr val="C9CED6"/>
                </a:solidFill>
                <a:latin typeface="Calibri" pitchFamily="34" charset="0"/>
                <a:ea typeface="Calibri" pitchFamily="34" charset="-122"/>
                <a:cs typeface="Calibri" pitchFamily="34" charset="-120"/>
              </a:rPr>
              <a:t>perfect cooking matches the reference, all 5 recipes</a:t>
            </a:r>
            <a:endParaRPr lang="en-US" sz="3200" dirty="0"/>
          </a:p>
        </p:txBody>
      </p:sp>
      <p:sp>
        <p:nvSpPr>
          <p:cNvPr id="5" name="s10-stat2"/>
          <p:cNvSpPr txBox="1"/>
          <p:nvPr/>
        </p:nvSpPr>
        <p:spPr>
          <a:xfrm>
            <a:off x="3492500" y="1879600"/>
            <a:ext cx="2527300" cy="1397000"/>
          </a:xfrm>
          <a:prstGeom prst="roundRect">
            <a:avLst>
              <a:gd name="adj" fmla="val 7855"/>
            </a:avLst>
          </a:prstGeom>
          <a:solidFill>
            <a:srgbClr val="171D25"/>
          </a:solidFill>
          <a:ln w="9525">
            <a:solidFill>
              <a:srgbClr val="2B333E"/>
            </a:solidFill>
          </a:ln>
        </p:spPr>
        <p:txBody>
          <a:bodyPr wrap="square" lIns="177800" tIns="177800" rIns="177800" bIns="177800" rtlCol="0" anchor="t"/>
          <a:lstStyle/>
          <a:p>
            <a:pPr marL="0" indent="0">
              <a:spcAft>
                <a:spcPts val="600"/>
              </a:spcAft>
              <a:buNone/>
            </a:pPr>
            <a:r>
              <a:rPr lang="en-US" sz="3200" b="1" dirty="0">
                <a:solidFill>
                  <a:srgbClr val="7FE0D3"/>
                </a:solidFill>
                <a:latin typeface="Arial" pitchFamily="34" charset="0"/>
                <a:ea typeface="Arial" pitchFamily="34" charset="-122"/>
                <a:cs typeface="Arial" pitchFamily="34" charset="-120"/>
              </a:rPr>
              <a:t>99–100%</a:t>
            </a:r>
            <a:endParaRPr lang="en-US" sz="3200" dirty="0"/>
          </a:p>
          <a:p>
            <a:pPr marL="0" indent="0">
              <a:buNone/>
            </a:pPr>
            <a:r>
              <a:rPr lang="en-US" sz="1300" dirty="0">
                <a:solidFill>
                  <a:srgbClr val="C9CED6"/>
                </a:solidFill>
                <a:latin typeface="Calibri" pitchFamily="34" charset="0"/>
                <a:ea typeface="Calibri" pitchFamily="34" charset="-122"/>
                <a:cs typeface="Calibri" pitchFamily="34" charset="-120"/>
              </a:rPr>
              <a:t>the served dish after a perfect oven and cart</a:t>
            </a:r>
            <a:endParaRPr lang="en-US" sz="3200" dirty="0"/>
          </a:p>
        </p:txBody>
      </p:sp>
      <p:sp>
        <p:nvSpPr>
          <p:cNvPr id="6" name="s10-stat3"/>
          <p:cNvSpPr txBox="1"/>
          <p:nvPr/>
        </p:nvSpPr>
        <p:spPr>
          <a:xfrm>
            <a:off x="6172200" y="1879600"/>
            <a:ext cx="2527300" cy="1397000"/>
          </a:xfrm>
          <a:prstGeom prst="roundRect">
            <a:avLst>
              <a:gd name="adj" fmla="val 7855"/>
            </a:avLst>
          </a:prstGeom>
          <a:solidFill>
            <a:srgbClr val="171D25"/>
          </a:solidFill>
          <a:ln w="9525">
            <a:solidFill>
              <a:srgbClr val="2B333E"/>
            </a:solidFill>
          </a:ln>
        </p:spPr>
        <p:txBody>
          <a:bodyPr wrap="square" lIns="177800" tIns="177800" rIns="177800" bIns="177800" rtlCol="0" anchor="t"/>
          <a:lstStyle/>
          <a:p>
            <a:pPr marL="0" indent="0">
              <a:spcAft>
                <a:spcPts val="600"/>
              </a:spcAft>
              <a:buNone/>
            </a:pPr>
            <a:r>
              <a:rPr lang="en-US" sz="3200" b="1" dirty="0">
                <a:solidFill>
                  <a:srgbClr val="7FE0D3"/>
                </a:solidFill>
                <a:latin typeface="Arial" pitchFamily="34" charset="0"/>
                <a:ea typeface="Arial" pitchFamily="34" charset="-122"/>
                <a:cs typeface="Arial" pitchFamily="34" charset="-120"/>
              </a:rPr>
              <a:t>93–98</a:t>
            </a:r>
            <a:endParaRPr lang="en-US" sz="3200" dirty="0"/>
          </a:p>
          <a:p>
            <a:pPr marL="0" indent="0">
              <a:buNone/>
            </a:pPr>
            <a:r>
              <a:rPr lang="en-US" sz="1300" dirty="0">
                <a:solidFill>
                  <a:srgbClr val="C9CED6"/>
                </a:solidFill>
                <a:latin typeface="Calibri" pitchFamily="34" charset="0"/>
                <a:ea typeface="Calibri" pitchFamily="34" charset="-122"/>
                <a:cs typeface="Calibri" pitchFamily="34" charset="-120"/>
              </a:rPr>
              <a:t>server score for a perfect finish</a:t>
            </a:r>
            <a:endParaRPr lang="en-US" sz="3200" dirty="0"/>
          </a:p>
        </p:txBody>
      </p:sp>
      <p:sp>
        <p:nvSpPr>
          <p:cNvPr id="7" name="s10-stat4"/>
          <p:cNvSpPr txBox="1"/>
          <p:nvPr/>
        </p:nvSpPr>
        <p:spPr>
          <a:xfrm>
            <a:off x="8851900" y="1879600"/>
            <a:ext cx="2527300" cy="1397000"/>
          </a:xfrm>
          <a:prstGeom prst="roundRect">
            <a:avLst>
              <a:gd name="adj" fmla="val 7855"/>
            </a:avLst>
          </a:prstGeom>
          <a:solidFill>
            <a:srgbClr val="171D25"/>
          </a:solidFill>
          <a:ln w="9525">
            <a:solidFill>
              <a:srgbClr val="2B333E"/>
            </a:solidFill>
          </a:ln>
        </p:spPr>
        <p:txBody>
          <a:bodyPr wrap="square" lIns="177800" tIns="177800" rIns="177800" bIns="177800" rtlCol="0" anchor="t"/>
          <a:lstStyle/>
          <a:p>
            <a:pPr marL="0" indent="0">
              <a:spcAft>
                <a:spcPts val="600"/>
              </a:spcAft>
              <a:buNone/>
            </a:pPr>
            <a:r>
              <a:rPr lang="en-US" sz="3200" b="1" dirty="0">
                <a:solidFill>
                  <a:srgbClr val="E8792B"/>
                </a:solidFill>
                <a:latin typeface="Arial" pitchFamily="34" charset="0"/>
                <a:ea typeface="Arial" pitchFamily="34" charset="-122"/>
                <a:cs typeface="Arial" pitchFamily="34" charset="-120"/>
              </a:rPr>
              <a:t>17–36</a:t>
            </a:r>
            <a:endParaRPr lang="en-US" sz="3200" dirty="0"/>
          </a:p>
          <a:p>
            <a:pPr marL="0" indent="0">
              <a:buNone/>
            </a:pPr>
            <a:r>
              <a:rPr lang="en-US" sz="1300" dirty="0">
                <a:solidFill>
                  <a:srgbClr val="C9CED6"/>
                </a:solidFill>
                <a:latin typeface="Calibri" pitchFamily="34" charset="0"/>
                <a:ea typeface="Calibri" pitchFamily="34" charset="-122"/>
                <a:cs typeface="Calibri" pitchFamily="34" charset="-120"/>
              </a:rPr>
              <a:t>server score with the notch left off</a:t>
            </a:r>
            <a:endParaRPr lang="en-US" sz="3200" dirty="0"/>
          </a:p>
        </p:txBody>
      </p:sp>
      <p:sp>
        <p:nvSpPr>
          <p:cNvPr id="8" name="s10-tested"/>
          <p:cNvSpPr txBox="1"/>
          <p:nvPr/>
        </p:nvSpPr>
        <p:spPr>
          <a:xfrm>
            <a:off x="812800" y="3733800"/>
            <a:ext cx="5715000" cy="1270000"/>
          </a:xfrm>
          <a:prstGeom prst="roundRect">
            <a:avLst>
              <a:gd name="adj" fmla="val 8640"/>
            </a:avLst>
          </a:prstGeom>
          <a:solidFill>
            <a:srgbClr val="171D25"/>
          </a:solidFill>
          <a:ln w="9525">
            <a:solidFill>
              <a:srgbClr val="2B333E"/>
            </a:solidFill>
          </a:ln>
        </p:spPr>
        <p:txBody>
          <a:bodyPr wrap="square" lIns="203200" tIns="203200" rIns="203200" bIns="203200" rtlCol="0" anchor="t"/>
          <a:lstStyle/>
          <a:p>
            <a:pPr marL="0" indent="0">
              <a:spcAft>
                <a:spcPts val="600"/>
              </a:spcAft>
              <a:buNone/>
            </a:pPr>
            <a:r>
              <a:rPr lang="en-US" sz="1200" b="1" kern="0" spc="200" dirty="0">
                <a:solidFill>
                  <a:srgbClr val="E8792B"/>
                </a:solidFill>
                <a:latin typeface="Calibri" pitchFamily="34" charset="0"/>
                <a:ea typeface="Calibri" pitchFamily="34" charset="-122"/>
                <a:cs typeface="Calibri" pitchFamily="34" charset="-120"/>
              </a:rPr>
              <a:t>TESTED AND LIVE</a:t>
            </a:r>
            <a:endParaRPr lang="en-US" sz="1400" dirty="0"/>
          </a:p>
          <a:p>
            <a:pPr marL="0" indent="0">
              <a:buNone/>
            </a:pPr>
            <a:r>
              <a:rPr lang="en-US" sz="1400" b="1" dirty="0">
                <a:solidFill>
                  <a:srgbClr val="7FE0D3"/>
                </a:solidFill>
                <a:latin typeface="Calibri" pitchFamily="34" charset="0"/>
                <a:ea typeface="Calibri" pitchFamily="34" charset="-122"/>
                <a:cs typeface="Calibri" pitchFamily="34" charset="-120"/>
              </a:rPr>
              <a:t>187</a:t>
            </a:r>
            <a:r>
              <a:rPr lang="en-US" sz="1400" dirty="0">
                <a:solidFill>
                  <a:srgbClr val="E9E4DA"/>
                </a:solidFill>
                <a:latin typeface="Calibri" pitchFamily="34" charset="0"/>
                <a:ea typeface="Calibri" pitchFamily="34" charset="-122"/>
                <a:cs typeface="Calibri" pitchFamily="34" charset="-120"/>
              </a:rPr>
              <a:t> frontend tests  ·  </a:t>
            </a:r>
            <a:r>
              <a:rPr lang="en-US" sz="1400" b="1" dirty="0">
                <a:solidFill>
                  <a:srgbClr val="7FE0D3"/>
                </a:solidFill>
                <a:latin typeface="Calibri" pitchFamily="34" charset="0"/>
                <a:ea typeface="Calibri" pitchFamily="34" charset="-122"/>
                <a:cs typeface="Calibri" pitchFamily="34" charset="-120"/>
              </a:rPr>
              <a:t>108</a:t>
            </a:r>
            <a:r>
              <a:rPr lang="en-US" sz="1400" dirty="0">
                <a:solidFill>
                  <a:srgbClr val="E9E4DA"/>
                </a:solidFill>
                <a:latin typeface="Calibri" pitchFamily="34" charset="0"/>
                <a:ea typeface="Calibri" pitchFamily="34" charset="-122"/>
                <a:cs typeface="Calibri" pitchFamily="34" charset="-120"/>
              </a:rPr>
              <a:t> backend tests  ·  </a:t>
            </a:r>
            <a:r>
              <a:rPr lang="en-US" sz="1400" b="1" dirty="0">
                <a:solidFill>
                  <a:srgbClr val="7FE0D3"/>
                </a:solidFill>
                <a:latin typeface="Calibri" pitchFamily="34" charset="0"/>
                <a:ea typeface="Calibri" pitchFamily="34" charset="-122"/>
                <a:cs typeface="Calibri" pitchFamily="34" charset="-120"/>
              </a:rPr>
              <a:t>0</a:t>
            </a:r>
            <a:r>
              <a:rPr lang="en-US" sz="1400" dirty="0">
                <a:solidFill>
                  <a:srgbClr val="E9E4DA"/>
                </a:solidFill>
                <a:latin typeface="Calibri" pitchFamily="34" charset="0"/>
                <a:ea typeface="Calibri" pitchFamily="34" charset="-122"/>
                <a:cs typeface="Calibri" pitchFamily="34" charset="-120"/>
              </a:rPr>
              <a:t> type or lint errors</a:t>
            </a:r>
            <a:endParaRPr lang="en-US" sz="1400" dirty="0"/>
          </a:p>
          <a:p>
            <a:pPr marL="0" indent="0">
              <a:buNone/>
            </a:pPr>
            <a:r>
              <a:rPr lang="en-US" sz="1400" dirty="0">
                <a:solidFill>
                  <a:srgbClr val="7FE0D3"/>
                </a:solidFill>
                <a:latin typeface="Consolas" pitchFamily="34" charset="0"/>
                <a:ea typeface="Consolas" pitchFamily="34" charset="-122"/>
                <a:cs typeface="Consolas" pitchFamily="34" charset="-120"/>
              </a:rPr>
              <a:t>wavekitchen.vercel.app</a:t>
            </a:r>
            <a:endParaRPr lang="en-US" sz="1400" dirty="0"/>
          </a:p>
        </p:txBody>
      </p:sp>
      <p:sp>
        <p:nvSpPr>
          <p:cNvPr id="9" name="s10-thanks"/>
          <p:cNvSpPr txBox="1"/>
          <p:nvPr/>
        </p:nvSpPr>
        <p:spPr>
          <a:xfrm>
            <a:off x="6731000" y="3733800"/>
            <a:ext cx="4648200" cy="1587500"/>
          </a:xfrm>
          <a:prstGeom prst="roundRect">
            <a:avLst>
              <a:gd name="adj" fmla="val 6912"/>
            </a:avLst>
          </a:prstGeom>
          <a:solidFill>
            <a:srgbClr val="E8792B"/>
          </a:solidFill>
          <a:ln/>
        </p:spPr>
        <p:txBody>
          <a:bodyPr wrap="square" lIns="228600" tIns="228600" rIns="228600" bIns="228600" rtlCol="0" anchor="t"/>
          <a:lstStyle/>
          <a:p>
            <a:pPr marL="0" indent="0">
              <a:spcAft>
                <a:spcPts val="400"/>
              </a:spcAft>
              <a:buNone/>
            </a:pPr>
            <a:r>
              <a:rPr lang="en-US" sz="4000" b="1" dirty="0">
                <a:solidFill>
                  <a:srgbClr val="10141A"/>
                </a:solidFill>
                <a:latin typeface="Arial" pitchFamily="34" charset="0"/>
                <a:ea typeface="Arial" pitchFamily="34" charset="-122"/>
                <a:cs typeface="Arial" pitchFamily="34" charset="-120"/>
              </a:rPr>
              <a:t>Thank you</a:t>
            </a:r>
            <a:endParaRPr lang="en-US" sz="4000" dirty="0"/>
          </a:p>
          <a:p>
            <a:pPr marL="0" indent="0">
              <a:spcAft>
                <a:spcPts val="600"/>
              </a:spcAft>
              <a:buNone/>
            </a:pPr>
            <a:r>
              <a:rPr lang="en-US" sz="1600" dirty="0">
                <a:solidFill>
                  <a:srgbClr val="10141A"/>
                </a:solidFill>
                <a:latin typeface="Calibri" pitchFamily="34" charset="0"/>
                <a:ea typeface="Calibri" pitchFamily="34" charset="-122"/>
                <a:cs typeface="Calibri" pitchFamily="34" charset="-120"/>
              </a:rPr>
              <a:t>Questions are welcome.</a:t>
            </a:r>
            <a:endParaRPr lang="en-US" sz="4000" dirty="0"/>
          </a:p>
          <a:p>
            <a:pPr marL="0" indent="0">
              <a:buNone/>
            </a:pPr>
            <a:r>
              <a:rPr lang="en-US" sz="1300" b="1" dirty="0">
                <a:solidFill>
                  <a:srgbClr val="10141A"/>
                </a:solidFill>
                <a:latin typeface="Calibri" pitchFamily="34" charset="0"/>
                <a:ea typeface="Calibri" pitchFamily="34" charset="-122"/>
                <a:cs typeface="Calibri" pitchFamily="34" charset="-120"/>
              </a:rPr>
              <a:t>Kazi Asef Kabir  ·  Tajrian Shams Sneha</a:t>
            </a:r>
            <a:endParaRPr lang="en-US" sz="4000" dirty="0"/>
          </a:p>
        </p:txBody>
      </p:sp>
      <p:pic>
        <p:nvPicPr>
          <p:cNvPr id="10" name="s10-chef" descr="Chef Fourier"/>
          <p:cNvPicPr>
            <a:picLocks noChangeAspect="1"/>
          </p:cNvPicPr>
          <p:nvPr/>
        </p:nvPicPr>
        <p:blipFill>
          <a:blip r:embed="rId4"/>
          <a:stretch>
            <a:fillRect/>
          </a:stretch>
        </p:blipFill>
        <p:spPr>
          <a:xfrm>
            <a:off x="10033000" y="3479800"/>
            <a:ext cx="1397000" cy="1397000"/>
          </a:xfrm>
          <a:prstGeom prst="rect">
            <a:avLst/>
          </a:prstGeom>
        </p:spPr>
      </p:pic>
      <p:sp>
        <p:nvSpPr>
          <p:cNvPr id="11" name="!!footer"/>
          <p:cNvSpPr txBox="1"/>
          <p:nvPr/>
        </p:nvSpPr>
        <p:spPr>
          <a:xfrm>
            <a:off x="812800" y="6248400"/>
            <a:ext cx="5715000" cy="215900"/>
          </a:xfrm>
          <a:prstGeom prst="rect">
            <a:avLst/>
          </a:prstGeom>
          <a:noFill/>
          <a:ln/>
        </p:spPr>
        <p:txBody>
          <a:bodyPr wrap="square" lIns="0" tIns="0" rIns="0" bIns="0" rtlCol="0" anchor="ctr"/>
          <a:lstStyle/>
          <a:p>
            <a:pPr marL="0" indent="0">
              <a:buNone/>
            </a:pPr>
            <a:r>
              <a:rPr lang="en-US" sz="1200" dirty="0">
                <a:solidFill>
                  <a:srgbClr val="8A93A0"/>
                </a:solidFill>
                <a:latin typeface="Calibri" pitchFamily="34" charset="0"/>
                <a:ea typeface="Calibri" pitchFamily="34" charset="-122"/>
                <a:cs typeface="Calibri" pitchFamily="34" charset="-120"/>
              </a:rPr>
              <a:t>WaveKitchen · Cooking with Signals</a:t>
            </a:r>
            <a:endParaRPr lang="en-US" sz="1200" dirty="0"/>
          </a:p>
        </p:txBody>
      </p:sp>
      <p:sp>
        <p:nvSpPr>
          <p:cNvPr id="12" name="!!page"/>
          <p:cNvSpPr txBox="1"/>
          <p:nvPr/>
        </p:nvSpPr>
        <p:spPr>
          <a:xfrm>
            <a:off x="9474200" y="6248400"/>
            <a:ext cx="1905000" cy="215900"/>
          </a:xfrm>
          <a:prstGeom prst="rect">
            <a:avLst/>
          </a:prstGeom>
          <a:noFill/>
          <a:ln/>
        </p:spPr>
        <p:txBody>
          <a:bodyPr wrap="square" lIns="0" tIns="0" rIns="0" bIns="0" rtlCol="0" anchor="ctr"/>
          <a:lstStyle/>
          <a:p>
            <a:pPr marL="0" indent="0" algn="r">
              <a:buNone/>
            </a:pPr>
            <a:r>
              <a:rPr lang="en-US" sz="1200" dirty="0">
                <a:solidFill>
                  <a:srgbClr val="8A93A0"/>
                </a:solidFill>
                <a:latin typeface="Calibri" pitchFamily="34" charset="0"/>
                <a:ea typeface="Calibri" pitchFamily="34" charset="-122"/>
                <a:cs typeface="Calibri" pitchFamily="34" charset="-120"/>
              </a:rPr>
              <a:t>10 / 10</a:t>
            </a:r>
            <a:endParaRPr lang="en-US" sz="1200" dirty="0"/>
          </a:p>
        </p:txBody>
      </p:sp>
      <p:sp>
        <p:nvSpPr>
          <p:cNvPr id="13" name="!!track"/>
          <p:cNvSpPr/>
          <p:nvPr/>
        </p:nvSpPr>
        <p:spPr>
          <a:xfrm>
            <a:off x="0" y="6807200"/>
            <a:ext cx="12192000" cy="50800"/>
          </a:xfrm>
          <a:prstGeom prst="rect">
            <a:avLst/>
          </a:prstGeom>
          <a:solidFill>
            <a:srgbClr val="1E252E"/>
          </a:solidFill>
          <a:ln/>
        </p:spPr>
      </p:sp>
      <p:sp>
        <p:nvSpPr>
          <p:cNvPr id="14" name="!!progress"/>
          <p:cNvSpPr/>
          <p:nvPr/>
        </p:nvSpPr>
        <p:spPr>
          <a:xfrm>
            <a:off x="0" y="6807200"/>
            <a:ext cx="12192000" cy="50800"/>
          </a:xfrm>
          <a:prstGeom prst="rect">
            <a:avLst/>
          </a:prstGeom>
          <a:solidFill>
            <a:srgbClr val="E8792B"/>
          </a:solidFill>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anim calcmode="lin" valueType="num">
                                      <p:cBhvr>
                                        <p:cTn id="8" dur="400" fill="hold"/>
                                        <p:tgtEl>
                                          <p:spTgt spid="4"/>
                                        </p:tgtEl>
                                        <p:attrNameLst>
                                          <p:attrName>ppt_x</p:attrName>
                                        </p:attrNameLst>
                                      </p:cBhvr>
                                      <p:tavLst>
                                        <p:tav tm="0">
                                          <p:val>
                                            <p:strVal val="#ppt_x"/>
                                          </p:val>
                                        </p:tav>
                                        <p:tav tm="100000">
                                          <p:val>
                                            <p:strVal val="#ppt_x"/>
                                          </p:val>
                                        </p:tav>
                                      </p:tavLst>
                                    </p:anim>
                                    <p:anim calcmode="lin" valueType="num">
                                      <p:cBhvr>
                                        <p:cTn id="9" dur="360" decel="100000" fill="hold"/>
                                        <p:tgtEl>
                                          <p:spTgt spid="4"/>
                                        </p:tgtEl>
                                        <p:attrNameLst>
                                          <p:attrName>ppt_y</p:attrName>
                                        </p:attrNameLst>
                                      </p:cBhvr>
                                      <p:tavLst>
                                        <p:tav tm="0">
                                          <p:val>
                                            <p:strVal val="#ppt_y+1"/>
                                          </p:val>
                                        </p:tav>
                                        <p:tav tm="100000">
                                          <p:val>
                                            <p:strVal val="#ppt_y-.03"/>
                                          </p:val>
                                        </p:tav>
                                      </p:tavLst>
                                    </p:anim>
                                    <p:anim calcmode="lin" valueType="num">
                                      <p:cBhvr>
                                        <p:cTn id="10" dur="40" accel="100000" fill="hold">
                                          <p:stCondLst>
                                            <p:cond delay="360"/>
                                          </p:stCondLst>
                                        </p:cTn>
                                        <p:tgtEl>
                                          <p:spTgt spid="4"/>
                                        </p:tgtEl>
                                        <p:attrNameLst>
                                          <p:attrName>ppt_y</p:attrName>
                                        </p:attrNameLst>
                                      </p:cBhvr>
                                      <p:tavLst>
                                        <p:tav tm="0">
                                          <p:val>
                                            <p:strVal val="#ppt_y-.03"/>
                                          </p:val>
                                        </p:tav>
                                        <p:tav tm="100000">
                                          <p:val>
                                            <p:strVal val="#ppt_y"/>
                                          </p:val>
                                        </p:tav>
                                      </p:tavLst>
                                    </p:anim>
                                  </p:childTnLst>
                                </p:cTn>
                              </p:par>
                            </p:childTnLst>
                          </p:cTn>
                        </p:par>
                        <p:par>
                          <p:cTn id="11" fill="hold">
                            <p:stCondLst>
                              <p:cond delay="400"/>
                            </p:stCondLst>
                            <p:childTnLst>
                              <p:par>
                                <p:cTn id="12" presetID="37"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00"/>
                                        <p:tgtEl>
                                          <p:spTgt spid="5"/>
                                        </p:tgtEl>
                                      </p:cBhvr>
                                    </p:animEffect>
                                    <p:anim calcmode="lin" valueType="num">
                                      <p:cBhvr>
                                        <p:cTn id="15" dur="400" fill="hold"/>
                                        <p:tgtEl>
                                          <p:spTgt spid="5"/>
                                        </p:tgtEl>
                                        <p:attrNameLst>
                                          <p:attrName>ppt_x</p:attrName>
                                        </p:attrNameLst>
                                      </p:cBhvr>
                                      <p:tavLst>
                                        <p:tav tm="0">
                                          <p:val>
                                            <p:strVal val="#ppt_x"/>
                                          </p:val>
                                        </p:tav>
                                        <p:tav tm="100000">
                                          <p:val>
                                            <p:strVal val="#ppt_x"/>
                                          </p:val>
                                        </p:tav>
                                      </p:tavLst>
                                    </p:anim>
                                    <p:anim calcmode="lin" valueType="num">
                                      <p:cBhvr>
                                        <p:cTn id="16" dur="360" decel="100000" fill="hold"/>
                                        <p:tgtEl>
                                          <p:spTgt spid="5"/>
                                        </p:tgtEl>
                                        <p:attrNameLst>
                                          <p:attrName>ppt_y</p:attrName>
                                        </p:attrNameLst>
                                      </p:cBhvr>
                                      <p:tavLst>
                                        <p:tav tm="0">
                                          <p:val>
                                            <p:strVal val="#ppt_y+1"/>
                                          </p:val>
                                        </p:tav>
                                        <p:tav tm="100000">
                                          <p:val>
                                            <p:strVal val="#ppt_y-.03"/>
                                          </p:val>
                                        </p:tav>
                                      </p:tavLst>
                                    </p:anim>
                                    <p:anim calcmode="lin" valueType="num">
                                      <p:cBhvr>
                                        <p:cTn id="17" dur="40" accel="100000" fill="hold">
                                          <p:stCondLst>
                                            <p:cond delay="360"/>
                                          </p:stCondLst>
                                        </p:cTn>
                                        <p:tgtEl>
                                          <p:spTgt spid="5"/>
                                        </p:tgtEl>
                                        <p:attrNameLst>
                                          <p:attrName>ppt_y</p:attrName>
                                        </p:attrNameLst>
                                      </p:cBhvr>
                                      <p:tavLst>
                                        <p:tav tm="0">
                                          <p:val>
                                            <p:strVal val="#ppt_y-.03"/>
                                          </p:val>
                                        </p:tav>
                                        <p:tav tm="100000">
                                          <p:val>
                                            <p:strVal val="#ppt_y"/>
                                          </p:val>
                                        </p:tav>
                                      </p:tavLst>
                                    </p:anim>
                                  </p:childTnLst>
                                </p:cTn>
                              </p:par>
                            </p:childTnLst>
                          </p:cTn>
                        </p:par>
                        <p:par>
                          <p:cTn id="18" fill="hold">
                            <p:stCondLst>
                              <p:cond delay="800"/>
                            </p:stCondLst>
                            <p:childTnLst>
                              <p:par>
                                <p:cTn id="19" presetID="37" presetClass="entr" presetSubtype="0"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400"/>
                                        <p:tgtEl>
                                          <p:spTgt spid="6"/>
                                        </p:tgtEl>
                                      </p:cBhvr>
                                    </p:animEffect>
                                    <p:anim calcmode="lin" valueType="num">
                                      <p:cBhvr>
                                        <p:cTn id="22" dur="400" fill="hold"/>
                                        <p:tgtEl>
                                          <p:spTgt spid="6"/>
                                        </p:tgtEl>
                                        <p:attrNameLst>
                                          <p:attrName>ppt_x</p:attrName>
                                        </p:attrNameLst>
                                      </p:cBhvr>
                                      <p:tavLst>
                                        <p:tav tm="0">
                                          <p:val>
                                            <p:strVal val="#ppt_x"/>
                                          </p:val>
                                        </p:tav>
                                        <p:tav tm="100000">
                                          <p:val>
                                            <p:strVal val="#ppt_x"/>
                                          </p:val>
                                        </p:tav>
                                      </p:tavLst>
                                    </p:anim>
                                    <p:anim calcmode="lin" valueType="num">
                                      <p:cBhvr>
                                        <p:cTn id="23" dur="360" decel="100000" fill="hold"/>
                                        <p:tgtEl>
                                          <p:spTgt spid="6"/>
                                        </p:tgtEl>
                                        <p:attrNameLst>
                                          <p:attrName>ppt_y</p:attrName>
                                        </p:attrNameLst>
                                      </p:cBhvr>
                                      <p:tavLst>
                                        <p:tav tm="0">
                                          <p:val>
                                            <p:strVal val="#ppt_y+1"/>
                                          </p:val>
                                        </p:tav>
                                        <p:tav tm="100000">
                                          <p:val>
                                            <p:strVal val="#ppt_y-.03"/>
                                          </p:val>
                                        </p:tav>
                                      </p:tavLst>
                                    </p:anim>
                                    <p:anim calcmode="lin" valueType="num">
                                      <p:cBhvr>
                                        <p:cTn id="24" dur="40" accel="100000" fill="hold">
                                          <p:stCondLst>
                                            <p:cond delay="360"/>
                                          </p:stCondLst>
                                        </p:cTn>
                                        <p:tgtEl>
                                          <p:spTgt spid="6"/>
                                        </p:tgtEl>
                                        <p:attrNameLst>
                                          <p:attrName>ppt_y</p:attrName>
                                        </p:attrNameLst>
                                      </p:cBhvr>
                                      <p:tavLst>
                                        <p:tav tm="0">
                                          <p:val>
                                            <p:strVal val="#ppt_y-.03"/>
                                          </p:val>
                                        </p:tav>
                                        <p:tav tm="100000">
                                          <p:val>
                                            <p:strVal val="#ppt_y"/>
                                          </p:val>
                                        </p:tav>
                                      </p:tavLst>
                                    </p:anim>
                                  </p:childTnLst>
                                </p:cTn>
                              </p:par>
                            </p:childTnLst>
                          </p:cTn>
                        </p:par>
                        <p:par>
                          <p:cTn id="25" fill="hold">
                            <p:stCondLst>
                              <p:cond delay="1200"/>
                            </p:stCondLst>
                            <p:childTnLst>
                              <p:par>
                                <p:cTn id="26" presetID="37" presetClass="entr" presetSubtype="0" fill="hold" grpId="0"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400"/>
                                        <p:tgtEl>
                                          <p:spTgt spid="7"/>
                                        </p:tgtEl>
                                      </p:cBhvr>
                                    </p:animEffect>
                                    <p:anim calcmode="lin" valueType="num">
                                      <p:cBhvr>
                                        <p:cTn id="29" dur="400" fill="hold"/>
                                        <p:tgtEl>
                                          <p:spTgt spid="7"/>
                                        </p:tgtEl>
                                        <p:attrNameLst>
                                          <p:attrName>ppt_x</p:attrName>
                                        </p:attrNameLst>
                                      </p:cBhvr>
                                      <p:tavLst>
                                        <p:tav tm="0">
                                          <p:val>
                                            <p:strVal val="#ppt_x"/>
                                          </p:val>
                                        </p:tav>
                                        <p:tav tm="100000">
                                          <p:val>
                                            <p:strVal val="#ppt_x"/>
                                          </p:val>
                                        </p:tav>
                                      </p:tavLst>
                                    </p:anim>
                                    <p:anim calcmode="lin" valueType="num">
                                      <p:cBhvr>
                                        <p:cTn id="30" dur="360" decel="100000" fill="hold"/>
                                        <p:tgtEl>
                                          <p:spTgt spid="7"/>
                                        </p:tgtEl>
                                        <p:attrNameLst>
                                          <p:attrName>ppt_y</p:attrName>
                                        </p:attrNameLst>
                                      </p:cBhvr>
                                      <p:tavLst>
                                        <p:tav tm="0">
                                          <p:val>
                                            <p:strVal val="#ppt_y+1"/>
                                          </p:val>
                                        </p:tav>
                                        <p:tav tm="100000">
                                          <p:val>
                                            <p:strVal val="#ppt_y-.03"/>
                                          </p:val>
                                        </p:tav>
                                      </p:tavLst>
                                    </p:anim>
                                    <p:anim calcmode="lin" valueType="num">
                                      <p:cBhvr>
                                        <p:cTn id="31" dur="40" accel="100000" fill="hold">
                                          <p:stCondLst>
                                            <p:cond delay="360"/>
                                          </p:stCondLst>
                                        </p:cTn>
                                        <p:tgtEl>
                                          <p:spTgt spid="7"/>
                                        </p:tgtEl>
                                        <p:attrNameLst>
                                          <p:attrName>ppt_y</p:attrName>
                                        </p:attrNameLst>
                                      </p:cBhvr>
                                      <p:tavLst>
                                        <p:tav tm="0">
                                          <p:val>
                                            <p:strVal val="#ppt_y-.03"/>
                                          </p:val>
                                        </p:tav>
                                        <p:tav tm="100000">
                                          <p:val>
                                            <p:strVal val="#ppt_y"/>
                                          </p:val>
                                        </p:tav>
                                      </p:tavLst>
                                    </p:anim>
                                  </p:childTnLst>
                                </p:cTn>
                              </p:par>
                            </p:childTnLst>
                          </p:cTn>
                        </p:par>
                        <p:par>
                          <p:cTn id="32" fill="hold">
                            <p:stCondLst>
                              <p:cond delay="1600"/>
                            </p:stCondLst>
                            <p:childTnLst>
                              <p:par>
                                <p:cTn id="33" presetID="37" presetClass="entr" presetSubtype="0" fill="hold" grpId="0"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p:tgtEl>
                                          <p:spTgt spid="8"/>
                                        </p:tgtEl>
                                      </p:cBhvr>
                                    </p:animEffec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450" decel="100000" fill="hold"/>
                                        <p:tgtEl>
                                          <p:spTgt spid="8"/>
                                        </p:tgtEl>
                                        <p:attrNameLst>
                                          <p:attrName>ppt_y</p:attrName>
                                        </p:attrNameLst>
                                      </p:cBhvr>
                                      <p:tavLst>
                                        <p:tav tm="0">
                                          <p:val>
                                            <p:strVal val="#ppt_y+1"/>
                                          </p:val>
                                        </p:tav>
                                        <p:tav tm="100000">
                                          <p:val>
                                            <p:strVal val="#ppt_y-.03"/>
                                          </p:val>
                                        </p:tav>
                                      </p:tavLst>
                                    </p:anim>
                                    <p:anim calcmode="lin" valueType="num">
                                      <p:cBhvr>
                                        <p:cTn id="38" dur="50" accel="100000" fill="hold">
                                          <p:stCondLst>
                                            <p:cond delay="450"/>
                                          </p:stCondLst>
                                        </p:cTn>
                                        <p:tgtEl>
                                          <p:spTgt spid="8"/>
                                        </p:tgtEl>
                                        <p:attrNameLst>
                                          <p:attrName>ppt_y</p:attrName>
                                        </p:attrNameLst>
                                      </p:cBhvr>
                                      <p:tavLst>
                                        <p:tav tm="0">
                                          <p:val>
                                            <p:strVal val="#ppt_y-.03"/>
                                          </p:val>
                                        </p:tav>
                                        <p:tav tm="100000">
                                          <p:val>
                                            <p:strVal val="#ppt_y"/>
                                          </p:val>
                                        </p:tav>
                                      </p:tavLst>
                                    </p:anim>
                                  </p:childTnLst>
                                </p:cTn>
                              </p:par>
                            </p:childTnLst>
                          </p:cTn>
                        </p:par>
                        <p:par>
                          <p:cTn id="39" fill="hold">
                            <p:stCondLst>
                              <p:cond delay="2100"/>
                            </p:stCondLst>
                            <p:childTnLst>
                              <p:par>
                                <p:cTn id="40" presetID="23" presetClass="entr" presetSubtype="16" fill="hold" grpId="0" nodeType="afterEffect">
                                  <p:stCondLst>
                                    <p:cond delay="0"/>
                                  </p:stCondLst>
                                  <p:childTnLst>
                                    <p:set>
                                      <p:cBhvr>
                                        <p:cTn id="41" dur="1" fill="hold">
                                          <p:stCondLst>
                                            <p:cond delay="0"/>
                                          </p:stCondLst>
                                        </p:cTn>
                                        <p:tgtEl>
                                          <p:spTgt spid="9"/>
                                        </p:tgtEl>
                                        <p:attrNameLst>
                                          <p:attrName>style.visibility</p:attrName>
                                        </p:attrNameLst>
                                      </p:cBhvr>
                                      <p:to>
                                        <p:strVal val="visible"/>
                                      </p:to>
                                    </p:set>
                                    <p:anim calcmode="lin" valueType="num">
                                      <p:cBhvr>
                                        <p:cTn id="42" dur="600" fill="hold"/>
                                        <p:tgtEl>
                                          <p:spTgt spid="9"/>
                                        </p:tgtEl>
                                        <p:attrNameLst>
                                          <p:attrName>ppt_w</p:attrName>
                                        </p:attrNameLst>
                                      </p:cBhvr>
                                      <p:tavLst>
                                        <p:tav tm="0">
                                          <p:val>
                                            <p:fltVal val="0"/>
                                          </p:val>
                                        </p:tav>
                                        <p:tav tm="100000">
                                          <p:val>
                                            <p:strVal val="#ppt_w"/>
                                          </p:val>
                                        </p:tav>
                                      </p:tavLst>
                                    </p:anim>
                                    <p:anim calcmode="lin" valueType="num">
                                      <p:cBhvr>
                                        <p:cTn id="43" dur="600" fill="hold"/>
                                        <p:tgtEl>
                                          <p:spTgt spid="9"/>
                                        </p:tgtEl>
                                        <p:attrNameLst>
                                          <p:attrName>ppt_h</p:attrName>
                                        </p:attrNameLst>
                                      </p:cBhvr>
                                      <p:tavLst>
                                        <p:tav tm="0">
                                          <p:val>
                                            <p:fltVal val="0"/>
                                          </p:val>
                                        </p:tav>
                                        <p:tav tm="100000">
                                          <p:val>
                                            <p:strVal val="#ppt_h"/>
                                          </p:val>
                                        </p:tav>
                                      </p:tavLst>
                                    </p:anim>
                                  </p:childTnLst>
                                </p:cTn>
                              </p:par>
                              <p:par>
                                <p:cTn id="44" presetID="26" presetClass="entr" presetSubtype="0" fill="hold" nodeType="withEffect">
                                  <p:stCondLst>
                                    <p:cond delay="200"/>
                                  </p:stCondLst>
                                  <p:childTnLst>
                                    <p:set>
                                      <p:cBhvr>
                                        <p:cTn id="45" dur="1" fill="hold">
                                          <p:stCondLst>
                                            <p:cond delay="0"/>
                                          </p:stCondLst>
                                        </p:cTn>
                                        <p:tgtEl>
                                          <p:spTgt spid="10"/>
                                        </p:tgtEl>
                                        <p:attrNameLst>
                                          <p:attrName>style.visibility</p:attrName>
                                        </p:attrNameLst>
                                      </p:cBhvr>
                                      <p:to>
                                        <p:strVal val="visible"/>
                                      </p:to>
                                    </p:set>
                                    <p:animEffect transition="in" filter="wipe(down)">
                                      <p:cBhvr>
                                        <p:cTn id="46" dur="348">
                                          <p:stCondLst>
                                            <p:cond delay="0"/>
                                          </p:stCondLst>
                                        </p:cTn>
                                        <p:tgtEl>
                                          <p:spTgt spid="10"/>
                                        </p:tgtEl>
                                      </p:cBhvr>
                                    </p:animEffect>
                                    <p:anim calcmode="lin" valueType="num">
                                      <p:cBhvr>
                                        <p:cTn id="47" dur="1093"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48" dur="398"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49" dur="398" tmFilter="0, 0; 0.125,0.2665; 0.25,0.4; 0.375,0.465; 0.5,0.5;  0.625,0.535; 0.75,0.6; 0.875,0.7335; 1,1">
                                          <p:stCondLst>
                                            <p:cond delay="398"/>
                                          </p:stCondLst>
                                        </p:cTn>
                                        <p:tgtEl>
                                          <p:spTgt spid="10"/>
                                        </p:tgtEl>
                                        <p:attrNameLst>
                                          <p:attrName>ppt_y</p:attrName>
                                        </p:attrNameLst>
                                      </p:cBhvr>
                                      <p:tavLst>
                                        <p:tav tm="0" fmla="#ppt_y-sin(pi*$)/9">
                                          <p:val>
                                            <p:fltVal val="0"/>
                                          </p:val>
                                        </p:tav>
                                        <p:tav tm="100000">
                                          <p:val>
                                            <p:fltVal val="1"/>
                                          </p:val>
                                        </p:tav>
                                      </p:tavLst>
                                    </p:anim>
                                    <p:anim calcmode="lin" valueType="num">
                                      <p:cBhvr>
                                        <p:cTn id="50" dur="199" tmFilter="0, 0; 0.125,0.2665; 0.25,0.4; 0.375,0.465; 0.5,0.5;  0.625,0.535; 0.75,0.6; 0.875,0.7335; 1,1">
                                          <p:stCondLst>
                                            <p:cond delay="794"/>
                                          </p:stCondLst>
                                        </p:cTn>
                                        <p:tgtEl>
                                          <p:spTgt spid="10"/>
                                        </p:tgtEl>
                                        <p:attrNameLst>
                                          <p:attrName>ppt_y</p:attrName>
                                        </p:attrNameLst>
                                      </p:cBhvr>
                                      <p:tavLst>
                                        <p:tav tm="0" fmla="#ppt_y-sin(pi*$)/27">
                                          <p:val>
                                            <p:fltVal val="0"/>
                                          </p:val>
                                        </p:tav>
                                        <p:tav tm="100000">
                                          <p:val>
                                            <p:fltVal val="1"/>
                                          </p:val>
                                        </p:tav>
                                      </p:tavLst>
                                    </p:anim>
                                    <p:anim calcmode="lin" valueType="num">
                                      <p:cBhvr>
                                        <p:cTn id="51" dur="98" tmFilter="0, 0; 0.125,0.2665; 0.25,0.4; 0.375,0.465; 0.5,0.5;  0.625,0.535; 0.75,0.6; 0.875,0.7335; 1,1">
                                          <p:stCondLst>
                                            <p:cond delay="994"/>
                                          </p:stCondLst>
                                        </p:cTn>
                                        <p:tgtEl>
                                          <p:spTgt spid="10"/>
                                        </p:tgtEl>
                                        <p:attrNameLst>
                                          <p:attrName>ppt_y</p:attrName>
                                        </p:attrNameLst>
                                      </p:cBhvr>
                                      <p:tavLst>
                                        <p:tav tm="0" fmla="#ppt_y-sin(pi*$)/81">
                                          <p:val>
                                            <p:fltVal val="0"/>
                                          </p:val>
                                        </p:tav>
                                        <p:tav tm="100000">
                                          <p:val>
                                            <p:fltVal val="1"/>
                                          </p:val>
                                        </p:tav>
                                      </p:tavLst>
                                    </p:anim>
                                    <p:animScale>
                                      <p:cBhvr>
                                        <p:cTn id="52" dur="16">
                                          <p:stCondLst>
                                            <p:cond delay="390"/>
                                          </p:stCondLst>
                                        </p:cTn>
                                        <p:tgtEl>
                                          <p:spTgt spid="10"/>
                                        </p:tgtEl>
                                      </p:cBhvr>
                                      <p:to x="100000" y="60000"/>
                                    </p:animScale>
                                    <p:animScale>
                                      <p:cBhvr>
                                        <p:cTn id="53" dur="100" decel="50000">
                                          <p:stCondLst>
                                            <p:cond delay="406"/>
                                          </p:stCondLst>
                                        </p:cTn>
                                        <p:tgtEl>
                                          <p:spTgt spid="10"/>
                                        </p:tgtEl>
                                      </p:cBhvr>
                                      <p:to x="100000" y="100000"/>
                                    </p:animScale>
                                    <p:animScale>
                                      <p:cBhvr>
                                        <p:cTn id="54" dur="16">
                                          <p:stCondLst>
                                            <p:cond delay="787"/>
                                          </p:stCondLst>
                                        </p:cTn>
                                        <p:tgtEl>
                                          <p:spTgt spid="10"/>
                                        </p:tgtEl>
                                      </p:cBhvr>
                                      <p:to x="100000" y="80000"/>
                                    </p:animScale>
                                    <p:animScale>
                                      <p:cBhvr>
                                        <p:cTn id="55" dur="100" decel="50000">
                                          <p:stCondLst>
                                            <p:cond delay="803"/>
                                          </p:stCondLst>
                                        </p:cTn>
                                        <p:tgtEl>
                                          <p:spTgt spid="10"/>
                                        </p:tgtEl>
                                      </p:cBhvr>
                                      <p:to x="100000" y="100000"/>
                                    </p:animScale>
                                    <p:animScale>
                                      <p:cBhvr>
                                        <p:cTn id="56" dur="16">
                                          <p:stCondLst>
                                            <p:cond delay="985"/>
                                          </p:stCondLst>
                                        </p:cTn>
                                        <p:tgtEl>
                                          <p:spTgt spid="10"/>
                                        </p:tgtEl>
                                      </p:cBhvr>
                                      <p:to x="100000" y="90000"/>
                                    </p:animScale>
                                    <p:animScale>
                                      <p:cBhvr>
                                        <p:cTn id="57" dur="100" decel="50000">
                                          <p:stCondLst>
                                            <p:cond delay="1001"/>
                                          </p:stCondLst>
                                        </p:cTn>
                                        <p:tgtEl>
                                          <p:spTgt spid="10"/>
                                        </p:tgtEl>
                                      </p:cBhvr>
                                      <p:to x="100000" y="100000"/>
                                    </p:animScale>
                                    <p:animScale>
                                      <p:cBhvr>
                                        <p:cTn id="58" dur="16">
                                          <p:stCondLst>
                                            <p:cond delay="1085"/>
                                          </p:stCondLst>
                                        </p:cTn>
                                        <p:tgtEl>
                                          <p:spTgt spid="10"/>
                                        </p:tgtEl>
                                      </p:cBhvr>
                                      <p:to x="100000" y="95000"/>
                                    </p:animScale>
                                    <p:animScale>
                                      <p:cBhvr>
                                        <p:cTn id="59" dur="100" decel="50000">
                                          <p:stCondLst>
                                            <p:cond delay="1100"/>
                                          </p:stCondLst>
                                        </p:cTn>
                                        <p:tgtEl>
                                          <p:spTgt spid="10"/>
                                        </p:tgtEl>
                                      </p:cBhvr>
                                      <p:to x="100000" y="100000"/>
                                    </p:animScale>
                                  </p:childTnLst>
                                </p:cTn>
                              </p:par>
                            </p:childTnLst>
                          </p:cTn>
                        </p:par>
                        <p:par>
                          <p:cTn id="60" fill="hold">
                            <p:stCondLst>
                              <p:cond delay="3500"/>
                            </p:stCondLst>
                            <p:childTnLst>
                              <p:par>
                                <p:cTn id="61" presetID="32" presetClass="emph" presetSubtype="0" fill="hold" nodeType="afterEffect">
                                  <p:stCondLst>
                                    <p:cond delay="0"/>
                                  </p:stCondLst>
                                  <p:childTnLst>
                                    <p:animRot by="120000">
                                      <p:cBhvr>
                                        <p:cTn id="62" dur="100" fill="hold">
                                          <p:stCondLst>
                                            <p:cond delay="0"/>
                                          </p:stCondLst>
                                        </p:cTn>
                                        <p:tgtEl>
                                          <p:spTgt spid="10"/>
                                        </p:tgtEl>
                                        <p:attrNameLst>
                                          <p:attrName>r</p:attrName>
                                        </p:attrNameLst>
                                      </p:cBhvr>
                                    </p:animRot>
                                    <p:animRot by="-240000">
                                      <p:cBhvr>
                                        <p:cTn id="63" dur="200" fill="hold">
                                          <p:stCondLst>
                                            <p:cond delay="200"/>
                                          </p:stCondLst>
                                        </p:cTn>
                                        <p:tgtEl>
                                          <p:spTgt spid="10"/>
                                        </p:tgtEl>
                                        <p:attrNameLst>
                                          <p:attrName>r</p:attrName>
                                        </p:attrNameLst>
                                      </p:cBhvr>
                                    </p:animRot>
                                    <p:animRot by="240000">
                                      <p:cBhvr>
                                        <p:cTn id="64" dur="200" fill="hold">
                                          <p:stCondLst>
                                            <p:cond delay="400"/>
                                          </p:stCondLst>
                                        </p:cTn>
                                        <p:tgtEl>
                                          <p:spTgt spid="10"/>
                                        </p:tgtEl>
                                        <p:attrNameLst>
                                          <p:attrName>r</p:attrName>
                                        </p:attrNameLst>
                                      </p:cBhvr>
                                    </p:animRot>
                                    <p:animRot by="-240000">
                                      <p:cBhvr>
                                        <p:cTn id="65" dur="200" fill="hold">
                                          <p:stCondLst>
                                            <p:cond delay="600"/>
                                          </p:stCondLst>
                                        </p:cTn>
                                        <p:tgtEl>
                                          <p:spTgt spid="10"/>
                                        </p:tgtEl>
                                        <p:attrNameLst>
                                          <p:attrName>r</p:attrName>
                                        </p:attrNameLst>
                                      </p:cBhvr>
                                    </p:animRot>
                                    <p:animRot by="120000">
                                      <p:cBhvr>
                                        <p:cTn id="66" dur="200" fill="hold">
                                          <p:stCondLst>
                                            <p:cond delay="800"/>
                                          </p:stCondLst>
                                        </p:cTn>
                                        <p:tgtEl>
                                          <p:spTgt spid="1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2676</Words>
  <Application>Microsoft Office PowerPoint</Application>
  <PresentationFormat>Widescreen</PresentationFormat>
  <Paragraphs>245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WaveKitchen: Cooking with Signals</dc:title>
  <dc:subject>PptxGenJS Presentation</dc:subject>
  <dc:creator>Kazi Asef Kabir, Tajrian Shams Sneha</dc:creator>
  <cp:lastModifiedBy>Asef Kabir</cp:lastModifiedBy>
  <cp:revision>2</cp:revision>
  <dcterms:created xsi:type="dcterms:W3CDTF">2026-09-28T17:16:28Z</dcterms:created>
  <dcterms:modified xsi:type="dcterms:W3CDTF">2026-09-28T17:16:39Z</dcterms:modified>
</cp:coreProperties>
</file>